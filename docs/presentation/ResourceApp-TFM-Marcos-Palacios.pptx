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5" r:id="rId22"/>
    <p:sldId id="27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23" d="100"/>
          <a:sy n="123" d="100"/>
        </p:scale>
        <p:origin x="2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5965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Abrir la defensa situando el problema: los textos de interfaz viven dispersos y cambian sin trazabilidad.
2. Presentar ResourceApp como una pieza de coordinación entre producto, localización y desarrollo.
3. Recordar la autoría y el alcance académico del TFM antes de entrar en el contenido funcional.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Conectar el problema con una realidad operativa: backlog rápido, múltiples idiomas y decisiones repartidas.
2. Explicar que el mayor coste no es traducir, sino alinear qué texto es válido y cuándo debe publicarse.
3. Usar esta diapositiva para justificar por qué la jerarquía proyecto-página-versión-recurso es central en la solución.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el alcance como una decisión de producto: primero consistencia y flujo end-to-end, después automatizaciones extra.
2. Diferenciar claramente lo implementado del roadmap para no sobreprometer durante la defensa.
3. Señalar que la estructura P0/P1 facilita explicar prioridades y próximos pasos con criterio técnico.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Usar esta secuencia como mapa mental del resto de la defensa: todo lo que se ve después encaja aquí.
2. Reforzar que la aplicación no solo guarda textos: gestiona contexto, versiones y publicación coherente.
3. Subrayar que exportación sigue en alcance funcional, pero el deck muestra ya cómo encaja en el flujo final.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Definir rápido los dos perfiles operativos: quién administra y quién colabora sobre contenidos.
2. Explicar que la jerarquía no es decorativa: determina permisos, rutas API y granularidad de exportación.
3. Preparar la transición al bloque funcional mostrando que las capturas siguen exactamente este recorrido.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La home introduce el producto sin ruido técnico y sirve como punto de entrada compartido.
2. Destacar que el diseño de la aplicación puede ser expresivo, pero la presentación mantiene una estética académica separada.
3. En la demo, esta pantalla es el comienzo del flujo real que se verá en el bloque funcional.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login social como simplificación de entrada y como decisión de seguridad delegada en Google.
2. Resaltar que el frontend no gestiona credenciales propias: recibe tokens emitidos por la API.
3. La renovación de sesión evita reautenticación constante y soporta un uso continuo de la herramienta.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Mostrar que el proyecto es la unidad de colaboración y también el punto de aislamiento funcional.
2. La gestión de miembros refuerza que la aplicación está pensada para trabajo en equipo, no solo para uso individual.
3. El modelo Owner/Member reduce complejidad, pero ya soporta control de acceso suficiente para el MVP.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Enfatizar que la versión predeterminada es una decisión operativa muy relevante para publicación y exportación futura.
2. La página ordena el contexto funcional y evita mezclar recursos de áreas distintas del producto.
3. Esta estructura sostiene tanto la navegación del frontend como las rutas jerárquicas del backend.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el recurso como unidad reutilizable: clave técnica, descripción y valores por idioma.
2. Resaltar que el proyecto controla qué idiomas están activos y eso determina pendientes y validaciones.
3. La combinación entre clave estable y versiones por idioma prepara muy bien la futura exportación técnica.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que la automatización está acotada: parte de un idioma fuente existente y solo genera los pendientes.
2. La secuencia incluye una llamada backend a OpenAI; el navegador nunca conversa directamente con ese servicio.
3. El guardado atómico evita estados parciales si cambia el contexto del recurso mientras se genera la traducción.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Aclarar explícitamente que aquí se muestra alcance funcional y no una captura de una UI ya construida.
2. La exportación responde a la necesidad de consumo técnico y conecta el trabajo editorial con desarrollo.
3. El ámbito de salida puede adaptarse a proyecto completo o a subconjuntos concretos de la jerarquía.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modelo de dominio como la pieza que conecta reglas funcionales, API y persistencia.
2. Las cardinalidades muestran por qué la aplicación prioriza contexto y trazabilidad frente a listas planas de textos.
3. Destacar que ResourceVersion desacopla la clave del recurso de cada valor localizado por idioma.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La arquitectura separa claramente presentación, reglas de negocio y acceso a datos para facilitar evolución.
2. La integración OpenAI se aloja solo en backend para preservar secretos y controlar validaciones.
3. Esta vista ayuda a enlazar la solución tecnológica con el comportamiento funcional visto en las capturas.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Mostrar que la forma de la API replica la jerarquía funcional y evita accesos ambiguos entre contextos.
2. Las reglas de consistencia viven en backend, no en el navegador, para proteger el dato incluso ante clientes alternativos.
3. La referencia al borrado lógico y a las transacciones demuestra madurez en el tratamiento del ciclo de vida del recurso.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la diferencia entre identidad delegada a Google y autorización propia resuelta por la API.
2. Señalar que el frontend opera con tokens de acceso, pero los secretos y decisiones sensibles permanecen fuera del navegador.
3. La diapositiva prepara bien el paso al despliegue porque enlaza seguridad lógica y seguridad operativa.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Esta diapositiva demuestra que el proyecto no solo implementa funcionalidades, también controla regresiones.
2. Diferenciar la cobertura de integración backend/frontend de la validación estática por lint y build.
3. La referencia a Red-Green-Refactor conecta con la forma de trabajo usada durante el desarrollo del TFM.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que el entorno local replica la colaboración entre servicios sin exigir instalaciones manuales complejas.
2. Los puertos 5173, 5174 y 3306 hacen visible la separación entre frontend, API y base de datos.
3. Esta base local reduce fricción tanto para desarrollo como para demostraciones funcionales controladas.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Separar dos ideas: el pipeline construye imágenes y Azure ejecuta contenedores ya parametrizados.
2. OIDC evita credenciales largas en GitHub y encaja con una práctica actual de seguridad en despliegues cloud.
3. Subrayar que el frontend recibe ciertas variables en build-time, mientras la API recibe secretos de runtime en Container Apps.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1AE4B-44F6-B4B0-BB5B-033ABBB68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C1862-58F5-4E2A-3971-3BCC34566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CD514-623F-306C-AD84-F8F956F19CA8}"/>
              </a:ext>
            </a:extLst>
          </p:cNvPr>
          <p:cNvSpPr>
            <a:spLocks noGrp="1"/>
          </p:cNvSpPr>
          <p:nvPr>
            <p:ph type="body" idx="1"/>
          </p:nvPr>
        </p:nvSpPr>
        <p:spPr/>
        <p:txBody>
          <a:bodyPr/>
          <a:lstStyle/>
          <a:p>
            <a:r>
              <a:rPr lang="en-US" dirty="0"/>
              <a:t>1. Separar dos ideas: el pipeline construye imágenes y Azure ejecuta contenedores ya parametrizados.
2. OIDC evita credenciales largas en GitHub y encaja con una práctica actual de seguridad en despliegues cloud.
3. Subrayar que el frontend recibe ciertas variables en build-time, mientras la API recibe secretos de runtime en Container Apps.</a:t>
            </a:r>
          </a:p>
        </p:txBody>
      </p:sp>
      <p:sp>
        <p:nvSpPr>
          <p:cNvPr id="4" name="Slide Number Placeholder 3">
            <a:extLst>
              <a:ext uri="{FF2B5EF4-FFF2-40B4-BE49-F238E27FC236}">
                <a16:creationId xmlns:a16="http://schemas.microsoft.com/office/drawing/2014/main" id="{759CA660-6F3A-8275-7419-93DF686792F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794727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Cerrar la defensa resaltando primero el valor ya entregado y después la evolución prevista, no al revés.
2. Mencionar OCR y exportación completa como siguientes pasos naturales, ya visibles en el diseño funcional.
3. La evolución futura se apoya en la misma arquitectura, por lo que no exige rehacer el núcleo actual.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61CF0-FDAC-50F5-451D-73A38A147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FA82F-EB5D-C339-B2A0-E1567AA1D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23C52-D8B9-A0B7-6BFC-CD915C9183AE}"/>
              </a:ext>
            </a:extLst>
          </p:cNvPr>
          <p:cNvSpPr>
            <a:spLocks noGrp="1"/>
          </p:cNvSpPr>
          <p:nvPr>
            <p:ph type="body" idx="1"/>
          </p:nvPr>
        </p:nvSpPr>
        <p:spPr/>
        <p:txBody>
          <a:bodyPr/>
          <a:lstStyle/>
          <a:p>
            <a:r>
              <a:rPr lang="en-US" dirty="0"/>
              <a:t>1. Cerrar la defensa resaltando primero el valor ya entregado y después la evolución prevista, no al revés.
2. Mencionar OCR y exportación completa como siguientes pasos naturales, ya visibles en el diseño funcional.
3. La evolución futura se apoya en la misma arquitectura, por lo que no exige rehacer el núcleo actual.</a:t>
            </a:r>
          </a:p>
        </p:txBody>
      </p:sp>
      <p:sp>
        <p:nvSpPr>
          <p:cNvPr id="4" name="Slide Number Placeholder 3">
            <a:extLst>
              <a:ext uri="{FF2B5EF4-FFF2-40B4-BE49-F238E27FC236}">
                <a16:creationId xmlns:a16="http://schemas.microsoft.com/office/drawing/2014/main" id="{FA424A28-DA53-025E-4864-0A680726651F}"/>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331464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obra/superpowers"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ResourceApp</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Gestión centralizada de recursos multilingües para equipos producto y desarrollo</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a:t>
            </a:r>
            <a:endParaRPr lang="en-US" sz="950" dirty="0"/>
          </a:p>
        </p:txBody>
      </p:sp>
      <p:sp>
        <p:nvSpPr>
          <p:cNvPr id="11" name="Text 8"/>
          <p:cNvSpPr/>
          <p:nvPr/>
        </p:nvSpPr>
        <p:spPr>
          <a:xfrm>
            <a:off x="658368" y="1901952"/>
            <a:ext cx="2560320" cy="256032"/>
          </a:xfrm>
          <a:prstGeom prst="rect">
            <a:avLst/>
          </a:prstGeom>
          <a:noFill/>
          <a:ln/>
        </p:spPr>
        <p:txBody>
          <a:bodyPr wrap="square" lIns="0" tIns="0" rIns="0" bIns="0" rtlCol="0" anchor="ctr"/>
          <a:lstStyle/>
          <a:p>
            <a:pPr marL="0" indent="0">
              <a:buNone/>
            </a:pPr>
            <a:r>
              <a:rPr lang="en-US" sz="1800" b="1" dirty="0">
                <a:solidFill>
                  <a:srgbClr val="183B56"/>
                </a:solidFill>
                <a:latin typeface="Arial" pitchFamily="34" charset="0"/>
                <a:ea typeface="Arial" pitchFamily="34" charset="-122"/>
                <a:cs typeface="Arial" pitchFamily="34" charset="-120"/>
              </a:rPr>
              <a:t>Marcos Palacios</a:t>
            </a:r>
            <a:endParaRPr lang="en-US" sz="1800" dirty="0"/>
          </a:p>
        </p:txBody>
      </p:sp>
      <p:sp>
        <p:nvSpPr>
          <p:cNvPr id="12" name="Text 9"/>
          <p:cNvSpPr/>
          <p:nvPr/>
        </p:nvSpPr>
        <p:spPr>
          <a:xfrm>
            <a:off x="658368" y="2212848"/>
            <a:ext cx="2743200" cy="201168"/>
          </a:xfrm>
          <a:prstGeom prst="rect">
            <a:avLst/>
          </a:prstGeom>
          <a:noFill/>
          <a:ln/>
        </p:spPr>
        <p:txBody>
          <a:bodyPr wrap="square" lIns="0" tIns="0" rIns="0" bIns="0" rtlCol="0" anchor="ctr"/>
          <a:lstStyle/>
          <a:p>
            <a:pPr marL="0" indent="0">
              <a:buNone/>
            </a:pPr>
            <a:r>
              <a:rPr lang="en-US" sz="1250" dirty="0">
                <a:solidFill>
                  <a:srgbClr val="5B6B7B"/>
                </a:solidFill>
                <a:latin typeface="Arial" pitchFamily="34" charset="0"/>
                <a:ea typeface="Arial" pitchFamily="34" charset="-122"/>
                <a:cs typeface="Arial" pitchFamily="34" charset="-120"/>
              </a:rPr>
              <a:t>TFM Business School</a:t>
            </a:r>
            <a:endParaRPr lang="en-US" sz="1250" dirty="0"/>
          </a:p>
        </p:txBody>
      </p:sp>
      <p:sp>
        <p:nvSpPr>
          <p:cNvPr id="13" name="Text 10"/>
          <p:cNvSpPr/>
          <p:nvPr/>
        </p:nvSpPr>
        <p:spPr>
          <a:xfrm>
            <a:off x="658368" y="2468880"/>
            <a:ext cx="3017520" cy="18288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Defensa del proyecto · julio 2026</a:t>
            </a:r>
            <a:endParaRPr lang="en-US" sz="1050" dirty="0"/>
          </a:p>
        </p:txBody>
      </p:sp>
      <p:sp>
        <p:nvSpPr>
          <p:cNvPr id="14" name="Shape 11"/>
          <p:cNvSpPr/>
          <p:nvPr/>
        </p:nvSpPr>
        <p:spPr>
          <a:xfrm>
            <a:off x="621792" y="2971800"/>
            <a:ext cx="3108960" cy="932688"/>
          </a:xfrm>
          <a:prstGeom prst="roundRect">
            <a:avLst>
              <a:gd name="adj" fmla="val 7843"/>
            </a:avLst>
          </a:prstGeom>
          <a:solidFill>
            <a:srgbClr val="EEF5FB"/>
          </a:solidFill>
          <a:ln w="12700">
            <a:solidFill>
              <a:srgbClr val="D6DFE8"/>
            </a:solidFill>
            <a:prstDash val="solid"/>
          </a:ln>
        </p:spPr>
        <p:txBody>
          <a:bodyPr/>
          <a:lstStyle/>
          <a:p>
            <a:endParaRPr lang="en-ES"/>
          </a:p>
        </p:txBody>
      </p:sp>
      <p:sp>
        <p:nvSpPr>
          <p:cNvPr id="15" name="Shape 12"/>
          <p:cNvSpPr/>
          <p:nvPr/>
        </p:nvSpPr>
        <p:spPr>
          <a:xfrm>
            <a:off x="621792" y="2971800"/>
            <a:ext cx="91440" cy="932688"/>
          </a:xfrm>
          <a:prstGeom prst="rect">
            <a:avLst/>
          </a:prstGeom>
          <a:solidFill>
            <a:srgbClr val="183B56"/>
          </a:solidFill>
          <a:ln w="12700">
            <a:solidFill>
              <a:srgbClr val="183B56"/>
            </a:solidFill>
            <a:prstDash val="solid"/>
          </a:ln>
        </p:spPr>
        <p:txBody>
          <a:bodyPr/>
          <a:lstStyle/>
          <a:p>
            <a:endParaRPr lang="en-ES"/>
          </a:p>
        </p:txBody>
      </p:sp>
      <p:sp>
        <p:nvSpPr>
          <p:cNvPr id="16" name="Text 13"/>
          <p:cNvSpPr/>
          <p:nvPr/>
        </p:nvSpPr>
        <p:spPr>
          <a:xfrm>
            <a:off x="841248" y="3136392"/>
            <a:ext cx="279806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Propuesta de valor</a:t>
            </a:r>
            <a:endParaRPr lang="en-US" sz="1300" dirty="0"/>
          </a:p>
        </p:txBody>
      </p:sp>
      <p:sp>
        <p:nvSpPr>
          <p:cNvPr id="17" name="Text 14"/>
          <p:cNvSpPr/>
          <p:nvPr/>
        </p:nvSpPr>
        <p:spPr>
          <a:xfrm>
            <a:off x="841248" y="3410712"/>
            <a:ext cx="2798064" cy="402336"/>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Una única fuente de verdad para proyectos, páginas, versiones y traducciones reutilizables.</a:t>
            </a:r>
            <a:endParaRPr lang="en-US" sz="1150" dirty="0"/>
          </a:p>
        </p:txBody>
      </p:sp>
      <p:sp>
        <p:nvSpPr>
          <p:cNvPr id="18" name="Shape 15"/>
          <p:cNvSpPr/>
          <p:nvPr/>
        </p:nvSpPr>
        <p:spPr>
          <a:xfrm>
            <a:off x="621792" y="4041648"/>
            <a:ext cx="3108960" cy="932688"/>
          </a:xfrm>
          <a:prstGeom prst="roundRect">
            <a:avLst>
              <a:gd name="adj" fmla="val 7843"/>
            </a:avLst>
          </a:prstGeom>
          <a:solidFill>
            <a:srgbClr val="EDF8F2"/>
          </a:solidFill>
          <a:ln w="12700">
            <a:solidFill>
              <a:srgbClr val="D6DFE8"/>
            </a:solidFill>
            <a:prstDash val="solid"/>
          </a:ln>
        </p:spPr>
        <p:txBody>
          <a:bodyPr/>
          <a:lstStyle/>
          <a:p>
            <a:endParaRPr lang="en-ES"/>
          </a:p>
        </p:txBody>
      </p:sp>
      <p:sp>
        <p:nvSpPr>
          <p:cNvPr id="19" name="Shape 16"/>
          <p:cNvSpPr/>
          <p:nvPr/>
        </p:nvSpPr>
        <p:spPr>
          <a:xfrm>
            <a:off x="621792" y="4041648"/>
            <a:ext cx="91440" cy="932688"/>
          </a:xfrm>
          <a:prstGeom prst="rect">
            <a:avLst/>
          </a:prstGeom>
          <a:solidFill>
            <a:srgbClr val="2FA36B"/>
          </a:solidFill>
          <a:ln w="12700">
            <a:solidFill>
              <a:srgbClr val="2FA36B"/>
            </a:solidFill>
            <a:prstDash val="solid"/>
          </a:ln>
        </p:spPr>
        <p:txBody>
          <a:bodyPr/>
          <a:lstStyle/>
          <a:p>
            <a:endParaRPr lang="en-ES"/>
          </a:p>
        </p:txBody>
      </p:sp>
      <p:sp>
        <p:nvSpPr>
          <p:cNvPr id="20" name="Text 17"/>
          <p:cNvSpPr/>
          <p:nvPr/>
        </p:nvSpPr>
        <p:spPr>
          <a:xfrm>
            <a:off x="841248" y="4206240"/>
            <a:ext cx="279806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Resultado esperado</a:t>
            </a:r>
            <a:endParaRPr lang="en-US" sz="1300" dirty="0"/>
          </a:p>
        </p:txBody>
      </p:sp>
      <p:sp>
        <p:nvSpPr>
          <p:cNvPr id="21" name="Text 18"/>
          <p:cNvSpPr/>
          <p:nvPr/>
        </p:nvSpPr>
        <p:spPr>
          <a:xfrm>
            <a:off x="841248" y="4480560"/>
            <a:ext cx="2798064" cy="402336"/>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Reducir handoff manual, mantener consistencia y preparar la exportación consumible por desarrollo.</a:t>
            </a:r>
            <a:endParaRPr lang="en-US" sz="1150" dirty="0"/>
          </a:p>
        </p:txBody>
      </p:sp>
      <p:sp>
        <p:nvSpPr>
          <p:cNvPr id="22" name="Shape 19"/>
          <p:cNvSpPr/>
          <p:nvPr/>
        </p:nvSpPr>
        <p:spPr>
          <a:xfrm>
            <a:off x="4160520" y="1737360"/>
            <a:ext cx="7315200" cy="3611880"/>
          </a:xfrm>
          <a:prstGeom prst="roundRect">
            <a:avLst>
              <a:gd name="adj" fmla="val 2025"/>
            </a:avLst>
          </a:prstGeom>
          <a:solidFill>
            <a:srgbClr val="F7F9FC"/>
          </a:solidFill>
          <a:ln w="12700">
            <a:solidFill>
              <a:srgbClr val="D6DFE8"/>
            </a:solidFill>
            <a:prstDash val="solid"/>
          </a:ln>
        </p:spPr>
        <p:txBody>
          <a:bodyPr/>
          <a:lstStyle/>
          <a:p>
            <a:endParaRPr lang="en-ES"/>
          </a:p>
        </p:txBody>
      </p:sp>
      <p:sp>
        <p:nvSpPr>
          <p:cNvPr id="23" name="Text 20"/>
          <p:cNvSpPr/>
          <p:nvPr/>
        </p:nvSpPr>
        <p:spPr>
          <a:xfrm>
            <a:off x="4462272" y="1975104"/>
            <a:ext cx="2377440" cy="182880"/>
          </a:xfrm>
          <a:prstGeom prst="rect">
            <a:avLst/>
          </a:prstGeom>
          <a:noFill/>
          <a:ln/>
        </p:spPr>
        <p:txBody>
          <a:bodyPr wrap="square" lIns="0" tIns="0" rIns="0" bIns="0" rtlCol="0" anchor="ctr"/>
          <a:lstStyle/>
          <a:p>
            <a:pPr marL="0" indent="0">
              <a:buNone/>
            </a:pPr>
            <a:r>
              <a:rPr lang="en-US" sz="1400" b="1" dirty="0">
                <a:solidFill>
                  <a:srgbClr val="183B56"/>
                </a:solidFill>
                <a:latin typeface="Arial" pitchFamily="34" charset="0"/>
                <a:ea typeface="Arial" pitchFamily="34" charset="-122"/>
                <a:cs typeface="Arial" pitchFamily="34" charset="-120"/>
              </a:rPr>
              <a:t>Secuencia de la defensa</a:t>
            </a:r>
            <a:endParaRPr lang="en-US" sz="1400" dirty="0"/>
          </a:p>
        </p:txBody>
      </p:sp>
      <p:sp>
        <p:nvSpPr>
          <p:cNvPr id="24" name="Shape 21"/>
          <p:cNvSpPr/>
          <p:nvPr/>
        </p:nvSpPr>
        <p:spPr>
          <a:xfrm>
            <a:off x="4498848" y="2359152"/>
            <a:ext cx="237744" cy="237744"/>
          </a:xfrm>
          <a:prstGeom prst="ellipse">
            <a:avLst/>
          </a:prstGeom>
          <a:solidFill>
            <a:srgbClr val="183B56"/>
          </a:solidFill>
          <a:ln w="12700">
            <a:solidFill>
              <a:srgbClr val="183B56"/>
            </a:solidFill>
            <a:prstDash val="solid"/>
          </a:ln>
        </p:spPr>
        <p:txBody>
          <a:bodyPr/>
          <a:lstStyle/>
          <a:p>
            <a:endParaRPr lang="en-ES"/>
          </a:p>
        </p:txBody>
      </p:sp>
      <p:sp>
        <p:nvSpPr>
          <p:cNvPr id="25" name="Text 22"/>
          <p:cNvSpPr/>
          <p:nvPr/>
        </p:nvSpPr>
        <p:spPr>
          <a:xfrm>
            <a:off x="4864608" y="2340864"/>
            <a:ext cx="2926080"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Introducción</a:t>
            </a:r>
            <a:endParaRPr lang="en-US" sz="1250" dirty="0"/>
          </a:p>
        </p:txBody>
      </p:sp>
      <p:sp>
        <p:nvSpPr>
          <p:cNvPr id="26" name="Text 23"/>
          <p:cNvSpPr/>
          <p:nvPr/>
        </p:nvSpPr>
        <p:spPr>
          <a:xfrm>
            <a:off x="7406640" y="2350008"/>
            <a:ext cx="3657600"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Problema, objetivos y recorrido de uso.</a:t>
            </a:r>
            <a:endParaRPr lang="en-US" sz="1050" dirty="0"/>
          </a:p>
        </p:txBody>
      </p:sp>
      <p:sp>
        <p:nvSpPr>
          <p:cNvPr id="27" name="Shape 24"/>
          <p:cNvSpPr/>
          <p:nvPr/>
        </p:nvSpPr>
        <p:spPr>
          <a:xfrm>
            <a:off x="4498848" y="3072384"/>
            <a:ext cx="237744" cy="237744"/>
          </a:xfrm>
          <a:prstGeom prst="ellipse">
            <a:avLst/>
          </a:prstGeom>
          <a:solidFill>
            <a:srgbClr val="FF6B57"/>
          </a:solidFill>
          <a:ln w="12700">
            <a:solidFill>
              <a:srgbClr val="FF6B57"/>
            </a:solidFill>
            <a:prstDash val="solid"/>
          </a:ln>
        </p:spPr>
        <p:txBody>
          <a:bodyPr/>
          <a:lstStyle/>
          <a:p>
            <a:endParaRPr lang="en-ES"/>
          </a:p>
        </p:txBody>
      </p:sp>
      <p:sp>
        <p:nvSpPr>
          <p:cNvPr id="28" name="Text 25"/>
          <p:cNvSpPr/>
          <p:nvPr/>
        </p:nvSpPr>
        <p:spPr>
          <a:xfrm>
            <a:off x="4864608" y="3054096"/>
            <a:ext cx="2926080"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Especificación funcional</a:t>
            </a:r>
            <a:endParaRPr lang="en-US" sz="1250" dirty="0"/>
          </a:p>
        </p:txBody>
      </p:sp>
      <p:sp>
        <p:nvSpPr>
          <p:cNvPr id="29" name="Text 26"/>
          <p:cNvSpPr/>
          <p:nvPr/>
        </p:nvSpPr>
        <p:spPr>
          <a:xfrm>
            <a:off x="7406640" y="3063240"/>
            <a:ext cx="3657600"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Capturas reales del flujo de trabajo y alcance funcional.</a:t>
            </a:r>
            <a:endParaRPr lang="en-US" sz="1050" dirty="0"/>
          </a:p>
        </p:txBody>
      </p:sp>
      <p:sp>
        <p:nvSpPr>
          <p:cNvPr id="30" name="Shape 27"/>
          <p:cNvSpPr/>
          <p:nvPr/>
        </p:nvSpPr>
        <p:spPr>
          <a:xfrm>
            <a:off x="4498848" y="3785616"/>
            <a:ext cx="237744" cy="237744"/>
          </a:xfrm>
          <a:prstGeom prst="ellipse">
            <a:avLst/>
          </a:prstGeom>
          <a:solidFill>
            <a:srgbClr val="2FA36B"/>
          </a:solidFill>
          <a:ln w="12700">
            <a:solidFill>
              <a:srgbClr val="2FA36B"/>
            </a:solidFill>
            <a:prstDash val="solid"/>
          </a:ln>
        </p:spPr>
        <p:txBody>
          <a:bodyPr/>
          <a:lstStyle/>
          <a:p>
            <a:endParaRPr lang="en-ES"/>
          </a:p>
        </p:txBody>
      </p:sp>
      <p:sp>
        <p:nvSpPr>
          <p:cNvPr id="31" name="Text 28"/>
          <p:cNvSpPr/>
          <p:nvPr/>
        </p:nvSpPr>
        <p:spPr>
          <a:xfrm>
            <a:off x="4864608" y="3767328"/>
            <a:ext cx="2926080"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Especificación técnica</a:t>
            </a:r>
            <a:endParaRPr lang="en-US" sz="1250" dirty="0"/>
          </a:p>
        </p:txBody>
      </p:sp>
      <p:sp>
        <p:nvSpPr>
          <p:cNvPr id="32" name="Text 29"/>
          <p:cNvSpPr/>
          <p:nvPr/>
        </p:nvSpPr>
        <p:spPr>
          <a:xfrm>
            <a:off x="7406640" y="3776472"/>
            <a:ext cx="3657600"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Modelo de dominio, API, seguridad y calidad.</a:t>
            </a:r>
            <a:endParaRPr lang="en-US" sz="1050" dirty="0"/>
          </a:p>
        </p:txBody>
      </p:sp>
      <p:sp>
        <p:nvSpPr>
          <p:cNvPr id="33" name="Shape 30"/>
          <p:cNvSpPr/>
          <p:nvPr/>
        </p:nvSpPr>
        <p:spPr>
          <a:xfrm>
            <a:off x="4498848" y="4498848"/>
            <a:ext cx="237744" cy="237744"/>
          </a:xfrm>
          <a:prstGeom prst="ellipse">
            <a:avLst/>
          </a:prstGeom>
          <a:solidFill>
            <a:srgbClr val="C58A2B"/>
          </a:solidFill>
          <a:ln w="12700">
            <a:solidFill>
              <a:srgbClr val="C58A2B"/>
            </a:solidFill>
            <a:prstDash val="solid"/>
          </a:ln>
        </p:spPr>
        <p:txBody>
          <a:bodyPr/>
          <a:lstStyle/>
          <a:p>
            <a:endParaRPr lang="en-ES"/>
          </a:p>
        </p:txBody>
      </p:sp>
      <p:sp>
        <p:nvSpPr>
          <p:cNvPr id="34" name="Text 31"/>
          <p:cNvSpPr/>
          <p:nvPr/>
        </p:nvSpPr>
        <p:spPr>
          <a:xfrm>
            <a:off x="4864608" y="4480560"/>
            <a:ext cx="2926080"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Despliegue y entorno productivo</a:t>
            </a:r>
            <a:endParaRPr lang="en-US" sz="1250" dirty="0"/>
          </a:p>
        </p:txBody>
      </p:sp>
      <p:sp>
        <p:nvSpPr>
          <p:cNvPr id="35" name="Text 32"/>
          <p:cNvSpPr/>
          <p:nvPr/>
        </p:nvSpPr>
        <p:spPr>
          <a:xfrm>
            <a:off x="7406640" y="4489704"/>
            <a:ext cx="3657600"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Operación local, CI/CD y evolución prevista.</a:t>
            </a:r>
            <a:endParaRPr lang="en-US" sz="1050" dirty="0"/>
          </a:p>
        </p:txBody>
      </p:sp>
      <p:sp>
        <p:nvSpPr>
          <p:cNvPr id="38" name="Shape 30">
            <a:extLst>
              <a:ext uri="{FF2B5EF4-FFF2-40B4-BE49-F238E27FC236}">
                <a16:creationId xmlns:a16="http://schemas.microsoft.com/office/drawing/2014/main" id="{98B5BB81-4E18-CB43-0853-CA3DB4398772}"/>
              </a:ext>
            </a:extLst>
          </p:cNvPr>
          <p:cNvSpPr/>
          <p:nvPr/>
        </p:nvSpPr>
        <p:spPr>
          <a:xfrm>
            <a:off x="4498848" y="5070348"/>
            <a:ext cx="237744" cy="237744"/>
          </a:xfrm>
          <a:prstGeom prst="ellipse">
            <a:avLst/>
          </a:prstGeom>
          <a:solidFill>
            <a:schemeClr val="accent1"/>
          </a:solidFill>
          <a:ln w="12700">
            <a:solidFill>
              <a:srgbClr val="C58A2B"/>
            </a:solidFill>
            <a:prstDash val="solid"/>
          </a:ln>
        </p:spPr>
        <p:txBody>
          <a:bodyPr/>
          <a:lstStyle/>
          <a:p>
            <a:endParaRPr lang="en-ES"/>
          </a:p>
        </p:txBody>
      </p:sp>
      <p:sp>
        <p:nvSpPr>
          <p:cNvPr id="39" name="Text 31">
            <a:extLst>
              <a:ext uri="{FF2B5EF4-FFF2-40B4-BE49-F238E27FC236}">
                <a16:creationId xmlns:a16="http://schemas.microsoft.com/office/drawing/2014/main" id="{DE8CE834-F399-4F0C-F0CE-00C332C668D9}"/>
              </a:ext>
            </a:extLst>
          </p:cNvPr>
          <p:cNvSpPr/>
          <p:nvPr/>
        </p:nvSpPr>
        <p:spPr>
          <a:xfrm>
            <a:off x="4864608" y="5052060"/>
            <a:ext cx="2926080" cy="182880"/>
          </a:xfrm>
          <a:prstGeom prst="rect">
            <a:avLst/>
          </a:prstGeom>
          <a:noFill/>
          <a:ln/>
        </p:spPr>
        <p:txBody>
          <a:bodyPr wrap="square" lIns="0" tIns="0" rIns="0" bIns="0" rtlCol="0" anchor="ctr"/>
          <a:lstStyle/>
          <a:p>
            <a:pPr marL="0" indent="0">
              <a:buNone/>
            </a:pPr>
            <a:r>
              <a:rPr lang="en-US" sz="1250" b="1" dirty="0" err="1">
                <a:solidFill>
                  <a:srgbClr val="183B56"/>
                </a:solidFill>
                <a:latin typeface="Arial" pitchFamily="34" charset="0"/>
                <a:cs typeface="Arial" pitchFamily="34" charset="-120"/>
              </a:rPr>
              <a:t>Inteligencia</a:t>
            </a:r>
            <a:r>
              <a:rPr lang="en-US" sz="1250" b="1" dirty="0">
                <a:solidFill>
                  <a:srgbClr val="183B56"/>
                </a:solidFill>
                <a:latin typeface="Arial" pitchFamily="34" charset="0"/>
                <a:cs typeface="Arial" pitchFamily="34" charset="-120"/>
              </a:rPr>
              <a:t> Artificial</a:t>
            </a:r>
            <a:endParaRPr lang="en-US" sz="1250" dirty="0"/>
          </a:p>
        </p:txBody>
      </p:sp>
      <p:sp>
        <p:nvSpPr>
          <p:cNvPr id="40" name="Text 32">
            <a:extLst>
              <a:ext uri="{FF2B5EF4-FFF2-40B4-BE49-F238E27FC236}">
                <a16:creationId xmlns:a16="http://schemas.microsoft.com/office/drawing/2014/main" id="{C6517B14-5891-F93D-DBBA-DBDFCE28ECC6}"/>
              </a:ext>
            </a:extLst>
          </p:cNvPr>
          <p:cNvSpPr/>
          <p:nvPr/>
        </p:nvSpPr>
        <p:spPr>
          <a:xfrm>
            <a:off x="7406640" y="5061204"/>
            <a:ext cx="3657600" cy="201168"/>
          </a:xfrm>
          <a:prstGeom prst="rect">
            <a:avLst/>
          </a:prstGeom>
          <a:noFill/>
          <a:ln/>
        </p:spPr>
        <p:txBody>
          <a:bodyPr wrap="square" lIns="0" tIns="0" rIns="0" bIns="0" rtlCol="0" anchor="ctr"/>
          <a:lstStyle/>
          <a:p>
            <a:pPr marL="0" indent="0">
              <a:buNone/>
            </a:pPr>
            <a:r>
              <a:rPr lang="en-US" sz="1050" dirty="0" err="1">
                <a:solidFill>
                  <a:srgbClr val="5B6B7B"/>
                </a:solidFill>
                <a:latin typeface="Arial" pitchFamily="34" charset="0"/>
                <a:ea typeface="Arial" pitchFamily="34" charset="-122"/>
                <a:cs typeface="Arial" pitchFamily="34" charset="-120"/>
              </a:rPr>
              <a:t>Detalle</a:t>
            </a:r>
            <a:r>
              <a:rPr lang="en-US" sz="1050" dirty="0">
                <a:solidFill>
                  <a:srgbClr val="5B6B7B"/>
                </a:solidFill>
                <a:latin typeface="Arial" pitchFamily="34" charset="0"/>
                <a:ea typeface="Arial" pitchFamily="34" charset="-122"/>
                <a:cs typeface="Arial" pitchFamily="34" charset="-120"/>
              </a:rPr>
              <a:t> del </a:t>
            </a:r>
            <a:r>
              <a:rPr lang="en-US" sz="1050" dirty="0" err="1">
                <a:solidFill>
                  <a:srgbClr val="5B6B7B"/>
                </a:solidFill>
                <a:latin typeface="Arial" pitchFamily="34" charset="0"/>
                <a:ea typeface="Arial" pitchFamily="34" charset="-122"/>
                <a:cs typeface="Arial" pitchFamily="34" charset="-120"/>
              </a:rPr>
              <a:t>uso</a:t>
            </a:r>
            <a:r>
              <a:rPr lang="en-US" sz="1050" dirty="0">
                <a:solidFill>
                  <a:srgbClr val="5B6B7B"/>
                </a:solidFill>
                <a:latin typeface="Arial" pitchFamily="34" charset="0"/>
                <a:ea typeface="Arial" pitchFamily="34" charset="-122"/>
                <a:cs typeface="Arial" pitchFamily="34" charset="-120"/>
              </a:rPr>
              <a:t> </a:t>
            </a:r>
            <a:r>
              <a:rPr lang="en-US" sz="1050" dirty="0" err="1">
                <a:solidFill>
                  <a:srgbClr val="5B6B7B"/>
                </a:solidFill>
                <a:latin typeface="Arial" pitchFamily="34" charset="0"/>
                <a:ea typeface="Arial" pitchFamily="34" charset="-122"/>
                <a:cs typeface="Arial" pitchFamily="34" charset="-120"/>
              </a:rPr>
              <a:t>en</a:t>
            </a:r>
            <a:r>
              <a:rPr lang="en-US" sz="1050" dirty="0">
                <a:solidFill>
                  <a:srgbClr val="5B6B7B"/>
                </a:solidFill>
                <a:latin typeface="Arial" pitchFamily="34" charset="0"/>
                <a:ea typeface="Arial" pitchFamily="34" charset="-122"/>
                <a:cs typeface="Arial" pitchFamily="34" charset="-120"/>
              </a:rPr>
              <a:t> </a:t>
            </a:r>
            <a:r>
              <a:rPr lang="en-US" sz="1050" dirty="0" err="1">
                <a:solidFill>
                  <a:srgbClr val="5B6B7B"/>
                </a:solidFill>
                <a:latin typeface="Arial" pitchFamily="34" charset="0"/>
                <a:ea typeface="Arial" pitchFamily="34" charset="-122"/>
                <a:cs typeface="Arial" pitchFamily="34" charset="-120"/>
              </a:rPr>
              <a:t>todo</a:t>
            </a:r>
            <a:r>
              <a:rPr lang="en-US" sz="1050" dirty="0">
                <a:solidFill>
                  <a:srgbClr val="5B6B7B"/>
                </a:solidFill>
                <a:latin typeface="Arial" pitchFamily="34" charset="0"/>
                <a:ea typeface="Arial" pitchFamily="34" charset="-122"/>
                <a:cs typeface="Arial" pitchFamily="34" charset="-120"/>
              </a:rPr>
              <a:t> el </a:t>
            </a:r>
            <a:r>
              <a:rPr lang="en-US" sz="1050" dirty="0" err="1">
                <a:solidFill>
                  <a:srgbClr val="5B6B7B"/>
                </a:solidFill>
                <a:latin typeface="Arial" pitchFamily="34" charset="0"/>
                <a:ea typeface="Arial" pitchFamily="34" charset="-122"/>
                <a:cs typeface="Arial" pitchFamily="34" charset="-120"/>
              </a:rPr>
              <a:t>proyecto</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Problema que resuelve ResourceApp</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Los textos de producto cambian con frecuencia, pero la coordinación entre equipos suele seguir siendo manual.</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2</a:t>
            </a:r>
            <a:endParaRPr lang="en-US" sz="950" dirty="0"/>
          </a:p>
        </p:txBody>
      </p:sp>
      <p:sp>
        <p:nvSpPr>
          <p:cNvPr id="11" name="Shape 8"/>
          <p:cNvSpPr/>
          <p:nvPr/>
        </p:nvSpPr>
        <p:spPr>
          <a:xfrm>
            <a:off x="621792" y="1847088"/>
            <a:ext cx="3547872" cy="1463040"/>
          </a:xfrm>
          <a:prstGeom prst="roundRect">
            <a:avLst>
              <a:gd name="adj" fmla="val 5000"/>
            </a:avLst>
          </a:prstGeom>
          <a:solidFill>
            <a:srgbClr val="FFF1EE"/>
          </a:solidFill>
          <a:ln w="12700">
            <a:solidFill>
              <a:srgbClr val="D6DFE8"/>
            </a:solidFill>
            <a:prstDash val="solid"/>
          </a:ln>
        </p:spPr>
        <p:txBody>
          <a:bodyPr/>
          <a:lstStyle/>
          <a:p>
            <a:endParaRPr lang="en-ES"/>
          </a:p>
        </p:txBody>
      </p:sp>
      <p:sp>
        <p:nvSpPr>
          <p:cNvPr id="12" name="Shape 9"/>
          <p:cNvSpPr/>
          <p:nvPr/>
        </p:nvSpPr>
        <p:spPr>
          <a:xfrm>
            <a:off x="621792" y="1847088"/>
            <a:ext cx="91440" cy="1463040"/>
          </a:xfrm>
          <a:prstGeom prst="rect">
            <a:avLst/>
          </a:prstGeom>
          <a:solidFill>
            <a:srgbClr val="FF6B57"/>
          </a:solidFill>
          <a:ln w="12700">
            <a:solidFill>
              <a:srgbClr val="FF6B57"/>
            </a:solidFill>
            <a:prstDash val="solid"/>
          </a:ln>
        </p:spPr>
        <p:txBody>
          <a:bodyPr/>
          <a:lstStyle/>
          <a:p>
            <a:endParaRPr lang="en-ES"/>
          </a:p>
        </p:txBody>
      </p:sp>
      <p:sp>
        <p:nvSpPr>
          <p:cNvPr id="13" name="Text 10"/>
          <p:cNvSpPr/>
          <p:nvPr/>
        </p:nvSpPr>
        <p:spPr>
          <a:xfrm>
            <a:off x="841248" y="2011680"/>
            <a:ext cx="3236976"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Textos dispersos</a:t>
            </a:r>
            <a:endParaRPr lang="en-US" sz="1300" dirty="0"/>
          </a:p>
        </p:txBody>
      </p:sp>
      <p:sp>
        <p:nvSpPr>
          <p:cNvPr id="14" name="Text 11"/>
          <p:cNvSpPr/>
          <p:nvPr/>
        </p:nvSpPr>
        <p:spPr>
          <a:xfrm>
            <a:off x="841248" y="2286000"/>
            <a:ext cx="3236976" cy="93268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Claves y copies repartidos entre documentos, hojas de cálculo y conversaciones puntuales.</a:t>
            </a:r>
            <a:endParaRPr lang="en-US" sz="1150" dirty="0"/>
          </a:p>
        </p:txBody>
      </p:sp>
      <p:sp>
        <p:nvSpPr>
          <p:cNvPr id="15" name="Shape 12"/>
          <p:cNvSpPr/>
          <p:nvPr/>
        </p:nvSpPr>
        <p:spPr>
          <a:xfrm>
            <a:off x="4315968" y="1847088"/>
            <a:ext cx="3547872" cy="1463040"/>
          </a:xfrm>
          <a:prstGeom prst="roundRect">
            <a:avLst>
              <a:gd name="adj" fmla="val 5000"/>
            </a:avLst>
          </a:prstGeom>
          <a:solidFill>
            <a:srgbClr val="EEF5FB"/>
          </a:solidFill>
          <a:ln w="12700">
            <a:solidFill>
              <a:srgbClr val="D6DFE8"/>
            </a:solidFill>
            <a:prstDash val="solid"/>
          </a:ln>
        </p:spPr>
        <p:txBody>
          <a:bodyPr/>
          <a:lstStyle/>
          <a:p>
            <a:endParaRPr lang="en-ES"/>
          </a:p>
        </p:txBody>
      </p:sp>
      <p:sp>
        <p:nvSpPr>
          <p:cNvPr id="16" name="Shape 13"/>
          <p:cNvSpPr/>
          <p:nvPr/>
        </p:nvSpPr>
        <p:spPr>
          <a:xfrm>
            <a:off x="4315968" y="1847088"/>
            <a:ext cx="91440" cy="1463040"/>
          </a:xfrm>
          <a:prstGeom prst="rect">
            <a:avLst/>
          </a:prstGeom>
          <a:solidFill>
            <a:srgbClr val="183B56"/>
          </a:solidFill>
          <a:ln w="12700">
            <a:solidFill>
              <a:srgbClr val="183B56"/>
            </a:solidFill>
            <a:prstDash val="solid"/>
          </a:ln>
        </p:spPr>
        <p:txBody>
          <a:bodyPr/>
          <a:lstStyle/>
          <a:p>
            <a:endParaRPr lang="en-ES"/>
          </a:p>
        </p:txBody>
      </p:sp>
      <p:sp>
        <p:nvSpPr>
          <p:cNvPr id="17" name="Text 14"/>
          <p:cNvSpPr/>
          <p:nvPr/>
        </p:nvSpPr>
        <p:spPr>
          <a:xfrm>
            <a:off x="4535424" y="2011680"/>
            <a:ext cx="3236976"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Inconsistencias</a:t>
            </a:r>
            <a:endParaRPr lang="en-US" sz="1300" dirty="0"/>
          </a:p>
        </p:txBody>
      </p:sp>
      <p:sp>
        <p:nvSpPr>
          <p:cNvPr id="18" name="Text 15"/>
          <p:cNvSpPr/>
          <p:nvPr/>
        </p:nvSpPr>
        <p:spPr>
          <a:xfrm>
            <a:off x="4535424" y="2286000"/>
            <a:ext cx="3236976" cy="93268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misma intención funcional termina con traducciones distintas según la pantalla o el sprint.</a:t>
            </a:r>
            <a:endParaRPr lang="en-US" sz="1150" dirty="0"/>
          </a:p>
        </p:txBody>
      </p:sp>
      <p:sp>
        <p:nvSpPr>
          <p:cNvPr id="19" name="Shape 16"/>
          <p:cNvSpPr/>
          <p:nvPr/>
        </p:nvSpPr>
        <p:spPr>
          <a:xfrm>
            <a:off x="8010144" y="1847088"/>
            <a:ext cx="3547872" cy="1463040"/>
          </a:xfrm>
          <a:prstGeom prst="roundRect">
            <a:avLst>
              <a:gd name="adj" fmla="val 5000"/>
            </a:avLst>
          </a:prstGeom>
          <a:solidFill>
            <a:srgbClr val="EDF8F2"/>
          </a:solidFill>
          <a:ln w="12700">
            <a:solidFill>
              <a:srgbClr val="D6DFE8"/>
            </a:solidFill>
            <a:prstDash val="solid"/>
          </a:ln>
        </p:spPr>
        <p:txBody>
          <a:bodyPr/>
          <a:lstStyle/>
          <a:p>
            <a:endParaRPr lang="en-ES"/>
          </a:p>
        </p:txBody>
      </p:sp>
      <p:sp>
        <p:nvSpPr>
          <p:cNvPr id="20" name="Shape 17"/>
          <p:cNvSpPr/>
          <p:nvPr/>
        </p:nvSpPr>
        <p:spPr>
          <a:xfrm>
            <a:off x="8010144" y="1847088"/>
            <a:ext cx="91440" cy="1463040"/>
          </a:xfrm>
          <a:prstGeom prst="rect">
            <a:avLst/>
          </a:prstGeom>
          <a:solidFill>
            <a:srgbClr val="2FA36B"/>
          </a:solidFill>
          <a:ln w="12700">
            <a:solidFill>
              <a:srgbClr val="2FA36B"/>
            </a:solidFill>
            <a:prstDash val="solid"/>
          </a:ln>
        </p:spPr>
        <p:txBody>
          <a:bodyPr/>
          <a:lstStyle/>
          <a:p>
            <a:endParaRPr lang="en-ES"/>
          </a:p>
        </p:txBody>
      </p:sp>
      <p:sp>
        <p:nvSpPr>
          <p:cNvPr id="21" name="Text 18"/>
          <p:cNvSpPr/>
          <p:nvPr/>
        </p:nvSpPr>
        <p:spPr>
          <a:xfrm>
            <a:off x="8229600" y="2011680"/>
            <a:ext cx="3236976"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Handoff manual</a:t>
            </a:r>
            <a:endParaRPr lang="en-US" sz="1300" dirty="0"/>
          </a:p>
        </p:txBody>
      </p:sp>
      <p:sp>
        <p:nvSpPr>
          <p:cNvPr id="22" name="Text 19"/>
          <p:cNvSpPr/>
          <p:nvPr/>
        </p:nvSpPr>
        <p:spPr>
          <a:xfrm>
            <a:off x="8229600" y="2286000"/>
            <a:ext cx="3236976" cy="93268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Desarrollo recibe cambios sin contexto de versión, prioridad ni validación de alcance.</a:t>
            </a:r>
            <a:endParaRPr lang="en-US" sz="1150" dirty="0"/>
          </a:p>
        </p:txBody>
      </p:sp>
      <p:sp>
        <p:nvSpPr>
          <p:cNvPr id="23" name="Shape 20"/>
          <p:cNvSpPr/>
          <p:nvPr/>
        </p:nvSpPr>
        <p:spPr>
          <a:xfrm>
            <a:off x="621792" y="3767328"/>
            <a:ext cx="10936224" cy="1353312"/>
          </a:xfrm>
          <a:prstGeom prst="roundRect">
            <a:avLst>
              <a:gd name="adj" fmla="val 5405"/>
            </a:avLst>
          </a:prstGeom>
          <a:solidFill>
            <a:srgbClr val="FFFFFF"/>
          </a:solidFill>
          <a:ln w="12700">
            <a:solidFill>
              <a:srgbClr val="D6DFE8"/>
            </a:solidFill>
            <a:prstDash val="solid"/>
          </a:ln>
        </p:spPr>
        <p:txBody>
          <a:bodyPr/>
          <a:lstStyle/>
          <a:p>
            <a:endParaRPr lang="en-ES"/>
          </a:p>
        </p:txBody>
      </p:sp>
      <p:sp>
        <p:nvSpPr>
          <p:cNvPr id="24" name="Text 21"/>
          <p:cNvSpPr/>
          <p:nvPr/>
        </p:nvSpPr>
        <p:spPr>
          <a:xfrm>
            <a:off x="859536" y="3968496"/>
            <a:ext cx="2286000"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Impacto sobre el equipo</a:t>
            </a:r>
            <a:endParaRPr lang="en-US" sz="1300" dirty="0"/>
          </a:p>
        </p:txBody>
      </p:sp>
      <p:sp>
        <p:nvSpPr>
          <p:cNvPr id="25" name="Shape 22"/>
          <p:cNvSpPr/>
          <p:nvPr/>
        </p:nvSpPr>
        <p:spPr>
          <a:xfrm>
            <a:off x="914400" y="4370832"/>
            <a:ext cx="2148840" cy="457200"/>
          </a:xfrm>
          <a:prstGeom prst="roundRect">
            <a:avLst>
              <a:gd name="adj" fmla="val 16000"/>
            </a:avLst>
          </a:prstGeom>
          <a:solidFill>
            <a:srgbClr val="EEF3F8"/>
          </a:solidFill>
          <a:ln w="12700">
            <a:solidFill>
              <a:srgbClr val="D6DFE8"/>
            </a:solidFill>
            <a:prstDash val="solid"/>
          </a:ln>
        </p:spPr>
        <p:txBody>
          <a:bodyPr/>
          <a:lstStyle/>
          <a:p>
            <a:endParaRPr lang="en-ES"/>
          </a:p>
        </p:txBody>
      </p:sp>
      <p:sp>
        <p:nvSpPr>
          <p:cNvPr id="26" name="Text 23"/>
          <p:cNvSpPr/>
          <p:nvPr/>
        </p:nvSpPr>
        <p:spPr>
          <a:xfrm>
            <a:off x="1024128" y="4526280"/>
            <a:ext cx="1920240" cy="146304"/>
          </a:xfrm>
          <a:prstGeom prst="rect">
            <a:avLst/>
          </a:prstGeom>
          <a:noFill/>
          <a:ln/>
        </p:spPr>
        <p:txBody>
          <a:bodyPr wrap="square" lIns="0" tIns="0" rIns="0" bIns="0" rtlCol="0" anchor="ctr"/>
          <a:lstStyle/>
          <a:p>
            <a:pPr marL="0" indent="0" algn="ctr">
              <a:buNone/>
            </a:pPr>
            <a:r>
              <a:rPr lang="en-US" sz="1020" dirty="0">
                <a:solidFill>
                  <a:srgbClr val="243746"/>
                </a:solidFill>
                <a:latin typeface="Arial" pitchFamily="34" charset="0"/>
                <a:ea typeface="Arial" pitchFamily="34" charset="-122"/>
                <a:cs typeface="Arial" pitchFamily="34" charset="-120"/>
              </a:rPr>
              <a:t>Más tiempo en aclaraciones</a:t>
            </a:r>
            <a:endParaRPr lang="en-US" sz="1020" dirty="0"/>
          </a:p>
        </p:txBody>
      </p:sp>
      <p:sp>
        <p:nvSpPr>
          <p:cNvPr id="27" name="Shape 24"/>
          <p:cNvSpPr/>
          <p:nvPr/>
        </p:nvSpPr>
        <p:spPr>
          <a:xfrm>
            <a:off x="3063240" y="4599432"/>
            <a:ext cx="356616" cy="0"/>
          </a:xfrm>
          <a:prstGeom prst="line">
            <a:avLst/>
          </a:prstGeom>
          <a:noFill/>
          <a:ln w="12700">
            <a:solidFill>
              <a:srgbClr val="D6DFE8"/>
            </a:solidFill>
            <a:prstDash val="solid"/>
            <a:tailEnd type="triangle"/>
          </a:ln>
        </p:spPr>
        <p:txBody>
          <a:bodyPr/>
          <a:lstStyle/>
          <a:p>
            <a:endParaRPr lang="en-ES"/>
          </a:p>
        </p:txBody>
      </p:sp>
      <p:sp>
        <p:nvSpPr>
          <p:cNvPr id="28" name="Shape 25"/>
          <p:cNvSpPr/>
          <p:nvPr/>
        </p:nvSpPr>
        <p:spPr>
          <a:xfrm>
            <a:off x="3566160" y="4370832"/>
            <a:ext cx="2148840" cy="457200"/>
          </a:xfrm>
          <a:prstGeom prst="roundRect">
            <a:avLst>
              <a:gd name="adj" fmla="val 16000"/>
            </a:avLst>
          </a:prstGeom>
          <a:solidFill>
            <a:srgbClr val="EEF3F8"/>
          </a:solidFill>
          <a:ln w="12700">
            <a:solidFill>
              <a:srgbClr val="D6DFE8"/>
            </a:solidFill>
            <a:prstDash val="solid"/>
          </a:ln>
        </p:spPr>
        <p:txBody>
          <a:bodyPr/>
          <a:lstStyle/>
          <a:p>
            <a:endParaRPr lang="en-ES"/>
          </a:p>
        </p:txBody>
      </p:sp>
      <p:sp>
        <p:nvSpPr>
          <p:cNvPr id="29" name="Text 26"/>
          <p:cNvSpPr/>
          <p:nvPr/>
        </p:nvSpPr>
        <p:spPr>
          <a:xfrm>
            <a:off x="3675888" y="4526280"/>
            <a:ext cx="1920240" cy="146304"/>
          </a:xfrm>
          <a:prstGeom prst="rect">
            <a:avLst/>
          </a:prstGeom>
          <a:noFill/>
          <a:ln/>
        </p:spPr>
        <p:txBody>
          <a:bodyPr wrap="square" lIns="0" tIns="0" rIns="0" bIns="0" rtlCol="0" anchor="ctr"/>
          <a:lstStyle/>
          <a:p>
            <a:pPr marL="0" indent="0" algn="ctr">
              <a:buNone/>
            </a:pPr>
            <a:r>
              <a:rPr lang="en-US" sz="1020" dirty="0">
                <a:solidFill>
                  <a:srgbClr val="243746"/>
                </a:solidFill>
                <a:latin typeface="Arial" pitchFamily="34" charset="0"/>
                <a:ea typeface="Arial" pitchFamily="34" charset="-122"/>
                <a:cs typeface="Arial" pitchFamily="34" charset="-120"/>
              </a:rPr>
              <a:t>Menor trazabilidad del cambio</a:t>
            </a:r>
            <a:endParaRPr lang="en-US" sz="1020" dirty="0"/>
          </a:p>
        </p:txBody>
      </p:sp>
      <p:sp>
        <p:nvSpPr>
          <p:cNvPr id="30" name="Shape 27"/>
          <p:cNvSpPr/>
          <p:nvPr/>
        </p:nvSpPr>
        <p:spPr>
          <a:xfrm>
            <a:off x="5715000" y="4599432"/>
            <a:ext cx="356616" cy="0"/>
          </a:xfrm>
          <a:prstGeom prst="line">
            <a:avLst/>
          </a:prstGeom>
          <a:noFill/>
          <a:ln w="12700">
            <a:solidFill>
              <a:srgbClr val="D6DFE8"/>
            </a:solidFill>
            <a:prstDash val="solid"/>
            <a:tailEnd type="triangle"/>
          </a:ln>
        </p:spPr>
        <p:txBody>
          <a:bodyPr/>
          <a:lstStyle/>
          <a:p>
            <a:endParaRPr lang="en-ES"/>
          </a:p>
        </p:txBody>
      </p:sp>
      <p:sp>
        <p:nvSpPr>
          <p:cNvPr id="31" name="Shape 28"/>
          <p:cNvSpPr/>
          <p:nvPr/>
        </p:nvSpPr>
        <p:spPr>
          <a:xfrm>
            <a:off x="6217920" y="4370832"/>
            <a:ext cx="2148840" cy="457200"/>
          </a:xfrm>
          <a:prstGeom prst="roundRect">
            <a:avLst>
              <a:gd name="adj" fmla="val 16000"/>
            </a:avLst>
          </a:prstGeom>
          <a:solidFill>
            <a:srgbClr val="EEF3F8"/>
          </a:solidFill>
          <a:ln w="12700">
            <a:solidFill>
              <a:srgbClr val="D6DFE8"/>
            </a:solidFill>
            <a:prstDash val="solid"/>
          </a:ln>
        </p:spPr>
        <p:txBody>
          <a:bodyPr/>
          <a:lstStyle/>
          <a:p>
            <a:endParaRPr lang="en-ES"/>
          </a:p>
        </p:txBody>
      </p:sp>
      <p:sp>
        <p:nvSpPr>
          <p:cNvPr id="32" name="Text 29"/>
          <p:cNvSpPr/>
          <p:nvPr/>
        </p:nvSpPr>
        <p:spPr>
          <a:xfrm>
            <a:off x="6327648" y="4526280"/>
            <a:ext cx="1920240" cy="146304"/>
          </a:xfrm>
          <a:prstGeom prst="rect">
            <a:avLst/>
          </a:prstGeom>
          <a:noFill/>
          <a:ln/>
        </p:spPr>
        <p:txBody>
          <a:bodyPr wrap="square" lIns="0" tIns="0" rIns="0" bIns="0" rtlCol="0" anchor="ctr"/>
          <a:lstStyle/>
          <a:p>
            <a:pPr marL="0" indent="0" algn="ctr">
              <a:buNone/>
            </a:pPr>
            <a:r>
              <a:rPr lang="en-US" sz="1020" dirty="0">
                <a:solidFill>
                  <a:srgbClr val="243746"/>
                </a:solidFill>
                <a:latin typeface="Arial" pitchFamily="34" charset="0"/>
                <a:ea typeface="Arial" pitchFamily="34" charset="-122"/>
                <a:cs typeface="Arial" pitchFamily="34" charset="-120"/>
              </a:rPr>
              <a:t>Riesgo de errores al publicar</a:t>
            </a:r>
            <a:endParaRPr lang="en-US" sz="1020" dirty="0"/>
          </a:p>
        </p:txBody>
      </p:sp>
      <p:sp>
        <p:nvSpPr>
          <p:cNvPr id="33" name="Shape 30"/>
          <p:cNvSpPr/>
          <p:nvPr/>
        </p:nvSpPr>
        <p:spPr>
          <a:xfrm>
            <a:off x="8366760" y="4599432"/>
            <a:ext cx="356616" cy="0"/>
          </a:xfrm>
          <a:prstGeom prst="line">
            <a:avLst/>
          </a:prstGeom>
          <a:noFill/>
          <a:ln w="12700">
            <a:solidFill>
              <a:srgbClr val="D6DFE8"/>
            </a:solidFill>
            <a:prstDash val="solid"/>
            <a:tailEnd type="triangle"/>
          </a:ln>
        </p:spPr>
        <p:txBody>
          <a:bodyPr/>
          <a:lstStyle/>
          <a:p>
            <a:endParaRPr lang="en-ES"/>
          </a:p>
        </p:txBody>
      </p:sp>
      <p:sp>
        <p:nvSpPr>
          <p:cNvPr id="34" name="Shape 31"/>
          <p:cNvSpPr/>
          <p:nvPr/>
        </p:nvSpPr>
        <p:spPr>
          <a:xfrm>
            <a:off x="8869680" y="4370832"/>
            <a:ext cx="2148840" cy="457200"/>
          </a:xfrm>
          <a:prstGeom prst="roundRect">
            <a:avLst>
              <a:gd name="adj" fmla="val 16000"/>
            </a:avLst>
          </a:prstGeom>
          <a:solidFill>
            <a:srgbClr val="EEF3F8"/>
          </a:solidFill>
          <a:ln w="12700">
            <a:solidFill>
              <a:srgbClr val="D6DFE8"/>
            </a:solidFill>
            <a:prstDash val="solid"/>
          </a:ln>
        </p:spPr>
        <p:txBody>
          <a:bodyPr/>
          <a:lstStyle/>
          <a:p>
            <a:endParaRPr lang="en-ES"/>
          </a:p>
        </p:txBody>
      </p:sp>
      <p:sp>
        <p:nvSpPr>
          <p:cNvPr id="35" name="Text 32"/>
          <p:cNvSpPr/>
          <p:nvPr/>
        </p:nvSpPr>
        <p:spPr>
          <a:xfrm>
            <a:off x="8979408" y="4526280"/>
            <a:ext cx="1920240" cy="146304"/>
          </a:xfrm>
          <a:prstGeom prst="rect">
            <a:avLst/>
          </a:prstGeom>
          <a:noFill/>
          <a:ln/>
        </p:spPr>
        <p:txBody>
          <a:bodyPr wrap="square" lIns="0" tIns="0" rIns="0" bIns="0" rtlCol="0" anchor="ctr"/>
          <a:lstStyle/>
          <a:p>
            <a:pPr marL="0" indent="0" algn="ctr">
              <a:buNone/>
            </a:pPr>
            <a:r>
              <a:rPr lang="en-US" sz="1020" dirty="0">
                <a:solidFill>
                  <a:srgbClr val="243746"/>
                </a:solidFill>
                <a:latin typeface="Arial" pitchFamily="34" charset="0"/>
                <a:ea typeface="Arial" pitchFamily="34" charset="-122"/>
                <a:cs typeface="Arial" pitchFamily="34" charset="-120"/>
              </a:rPr>
              <a:t>Dificultad para reutilizar recursos</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Objetivos y alcance de la primera versión</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proyecto prioriza resolver bien el flujo núcleo antes de ampliar automatizaciones periféricas.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3</a:t>
            </a:r>
            <a:endParaRPr lang="en-US" sz="950" dirty="0"/>
          </a:p>
        </p:txBody>
      </p:sp>
      <p:sp>
        <p:nvSpPr>
          <p:cNvPr id="11" name="Shape 8"/>
          <p:cNvSpPr/>
          <p:nvPr/>
        </p:nvSpPr>
        <p:spPr>
          <a:xfrm>
            <a:off x="621792" y="1828800"/>
            <a:ext cx="3401568" cy="3200400"/>
          </a:xfrm>
          <a:prstGeom prst="roundRect">
            <a:avLst>
              <a:gd name="adj" fmla="val 2286"/>
            </a:avLst>
          </a:prstGeom>
          <a:solidFill>
            <a:srgbClr val="EDF8F2"/>
          </a:solidFill>
          <a:ln w="12700">
            <a:solidFill>
              <a:srgbClr val="D6DFE8"/>
            </a:solidFill>
            <a:prstDash val="solid"/>
          </a:ln>
        </p:spPr>
        <p:txBody>
          <a:bodyPr/>
          <a:lstStyle/>
          <a:p>
            <a:endParaRPr lang="en-ES"/>
          </a:p>
        </p:txBody>
      </p:sp>
      <p:sp>
        <p:nvSpPr>
          <p:cNvPr id="12" name="Shape 9"/>
          <p:cNvSpPr/>
          <p:nvPr/>
        </p:nvSpPr>
        <p:spPr>
          <a:xfrm>
            <a:off x="621792" y="1828800"/>
            <a:ext cx="91440" cy="3200400"/>
          </a:xfrm>
          <a:prstGeom prst="rect">
            <a:avLst/>
          </a:prstGeom>
          <a:solidFill>
            <a:srgbClr val="2FA36B"/>
          </a:solidFill>
          <a:ln w="12700">
            <a:solidFill>
              <a:srgbClr val="2FA36B"/>
            </a:solidFill>
            <a:prstDash val="solid"/>
          </a:ln>
        </p:spPr>
        <p:txBody>
          <a:bodyPr/>
          <a:lstStyle/>
          <a:p>
            <a:endParaRPr lang="en-ES"/>
          </a:p>
        </p:txBody>
      </p:sp>
      <p:sp>
        <p:nvSpPr>
          <p:cNvPr id="13" name="Text 10"/>
          <p:cNvSpPr/>
          <p:nvPr/>
        </p:nvSpPr>
        <p:spPr>
          <a:xfrm>
            <a:off x="841248" y="199339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P0 · Implementado</a:t>
            </a:r>
            <a:endParaRPr lang="en-US" sz="1300" dirty="0"/>
          </a:p>
        </p:txBody>
      </p:sp>
      <p:sp>
        <p:nvSpPr>
          <p:cNvPr id="14" name="Text 11"/>
          <p:cNvSpPr/>
          <p:nvPr/>
        </p:nvSpPr>
        <p:spPr>
          <a:xfrm>
            <a:off x="841248" y="2267712"/>
            <a:ext cx="3090672" cy="267004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Centralización por proyecto</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Jerarquía página &gt; versión &gt; recurso</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Gestión de traducciones manuales</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Traducción automática asistida</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Sesión con login social y control de acceso</a:t>
            </a:r>
            <a:endParaRPr lang="en-US" sz="1150" dirty="0"/>
          </a:p>
        </p:txBody>
      </p:sp>
      <p:sp>
        <p:nvSpPr>
          <p:cNvPr id="15" name="Shape 12"/>
          <p:cNvSpPr/>
          <p:nvPr/>
        </p:nvSpPr>
        <p:spPr>
          <a:xfrm>
            <a:off x="4389120" y="1828800"/>
            <a:ext cx="3401568" cy="3200400"/>
          </a:xfrm>
          <a:prstGeom prst="roundRect">
            <a:avLst>
              <a:gd name="adj" fmla="val 2286"/>
            </a:avLst>
          </a:prstGeom>
          <a:solidFill>
            <a:srgbClr val="EEF5FB"/>
          </a:solidFill>
          <a:ln w="12700">
            <a:solidFill>
              <a:srgbClr val="D6DFE8"/>
            </a:solidFill>
            <a:prstDash val="solid"/>
          </a:ln>
        </p:spPr>
        <p:txBody>
          <a:bodyPr/>
          <a:lstStyle/>
          <a:p>
            <a:endParaRPr lang="en-ES"/>
          </a:p>
        </p:txBody>
      </p:sp>
      <p:sp>
        <p:nvSpPr>
          <p:cNvPr id="16" name="Shape 13"/>
          <p:cNvSpPr/>
          <p:nvPr/>
        </p:nvSpPr>
        <p:spPr>
          <a:xfrm>
            <a:off x="4389120" y="1828800"/>
            <a:ext cx="91440" cy="3200400"/>
          </a:xfrm>
          <a:prstGeom prst="rect">
            <a:avLst/>
          </a:prstGeom>
          <a:solidFill>
            <a:srgbClr val="183B56"/>
          </a:solidFill>
          <a:ln w="12700">
            <a:solidFill>
              <a:srgbClr val="183B56"/>
            </a:solidFill>
            <a:prstDash val="solid"/>
          </a:ln>
        </p:spPr>
        <p:txBody>
          <a:bodyPr/>
          <a:lstStyle/>
          <a:p>
            <a:endParaRPr lang="en-ES"/>
          </a:p>
        </p:txBody>
      </p:sp>
      <p:sp>
        <p:nvSpPr>
          <p:cNvPr id="17" name="Text 14"/>
          <p:cNvSpPr/>
          <p:nvPr/>
        </p:nvSpPr>
        <p:spPr>
          <a:xfrm>
            <a:off x="4608576" y="199339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P1 · Siguiente iteración</a:t>
            </a:r>
            <a:endParaRPr lang="en-US" sz="1300" dirty="0"/>
          </a:p>
        </p:txBody>
      </p:sp>
      <p:sp>
        <p:nvSpPr>
          <p:cNvPr id="18" name="Text 15"/>
          <p:cNvSpPr/>
          <p:nvPr/>
        </p:nvSpPr>
        <p:spPr>
          <a:xfrm>
            <a:off x="4608576" y="2267712"/>
            <a:ext cx="3090672" cy="267004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Exportación configurable por ámbito</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Revisión editorial y auditoría</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Catálogo administrable de idiomas</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Mejoras de experiencia para equipos compartidos</a:t>
            </a:r>
            <a:endParaRPr lang="en-US" sz="1150" dirty="0"/>
          </a:p>
        </p:txBody>
      </p:sp>
      <p:sp>
        <p:nvSpPr>
          <p:cNvPr id="19" name="Shape 16"/>
          <p:cNvSpPr/>
          <p:nvPr/>
        </p:nvSpPr>
        <p:spPr>
          <a:xfrm>
            <a:off x="8156448" y="1828800"/>
            <a:ext cx="3401568" cy="3200400"/>
          </a:xfrm>
          <a:prstGeom prst="roundRect">
            <a:avLst>
              <a:gd name="adj" fmla="val 2286"/>
            </a:avLst>
          </a:prstGeom>
          <a:solidFill>
            <a:srgbClr val="FFF1EE"/>
          </a:solidFill>
          <a:ln w="12700">
            <a:solidFill>
              <a:srgbClr val="D6DFE8"/>
            </a:solidFill>
            <a:prstDash val="solid"/>
          </a:ln>
        </p:spPr>
        <p:txBody>
          <a:bodyPr/>
          <a:lstStyle/>
          <a:p>
            <a:endParaRPr lang="en-ES"/>
          </a:p>
        </p:txBody>
      </p:sp>
      <p:sp>
        <p:nvSpPr>
          <p:cNvPr id="20" name="Shape 17"/>
          <p:cNvSpPr/>
          <p:nvPr/>
        </p:nvSpPr>
        <p:spPr>
          <a:xfrm>
            <a:off x="8156448" y="1828800"/>
            <a:ext cx="91440" cy="3200400"/>
          </a:xfrm>
          <a:prstGeom prst="rect">
            <a:avLst/>
          </a:prstGeom>
          <a:solidFill>
            <a:srgbClr val="FF6B57"/>
          </a:solidFill>
          <a:ln w="12700">
            <a:solidFill>
              <a:srgbClr val="FF6B57"/>
            </a:solidFill>
            <a:prstDash val="solid"/>
          </a:ln>
        </p:spPr>
        <p:txBody>
          <a:bodyPr/>
          <a:lstStyle/>
          <a:p>
            <a:endParaRPr lang="en-ES"/>
          </a:p>
        </p:txBody>
      </p:sp>
      <p:sp>
        <p:nvSpPr>
          <p:cNvPr id="21" name="Text 18"/>
          <p:cNvSpPr/>
          <p:nvPr/>
        </p:nvSpPr>
        <p:spPr>
          <a:xfrm>
            <a:off x="8375904" y="199339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Fuera de alcance actual</a:t>
            </a:r>
            <a:endParaRPr lang="en-US" sz="1300" dirty="0"/>
          </a:p>
        </p:txBody>
      </p:sp>
      <p:sp>
        <p:nvSpPr>
          <p:cNvPr id="22" name="Text 19"/>
          <p:cNvSpPr/>
          <p:nvPr/>
        </p:nvSpPr>
        <p:spPr>
          <a:xfrm>
            <a:off x="8375904" y="2267712"/>
            <a:ext cx="3090672" cy="267004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OCR de capturas o documentos</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Sincronización automática con repositorios</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Flujos complejos de aprobación</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Portal público de traducciones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Visión extremo a extremo</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propuesta une descubrimiento, edición, traducción y preparación para consumo técnico en una misma ruta.</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4</a:t>
            </a:r>
            <a:endParaRPr lang="en-US" sz="950" dirty="0"/>
          </a:p>
        </p:txBody>
      </p:sp>
      <p:sp>
        <p:nvSpPr>
          <p:cNvPr id="11" name="Shape 8"/>
          <p:cNvSpPr/>
          <p:nvPr/>
        </p:nvSpPr>
        <p:spPr>
          <a:xfrm>
            <a:off x="658368" y="2084832"/>
            <a:ext cx="2359152" cy="2212848"/>
          </a:xfrm>
          <a:prstGeom prst="roundRect">
            <a:avLst>
              <a:gd name="adj" fmla="val 3306"/>
            </a:avLst>
          </a:prstGeom>
          <a:solidFill>
            <a:srgbClr val="FFFFFF"/>
          </a:solidFill>
          <a:ln w="12700">
            <a:solidFill>
              <a:srgbClr val="D6DFE8"/>
            </a:solidFill>
            <a:prstDash val="solid"/>
          </a:ln>
        </p:spPr>
        <p:txBody>
          <a:bodyPr/>
          <a:lstStyle/>
          <a:p>
            <a:endParaRPr lang="en-ES"/>
          </a:p>
        </p:txBody>
      </p:sp>
      <p:sp>
        <p:nvSpPr>
          <p:cNvPr id="12" name="Shape 9"/>
          <p:cNvSpPr/>
          <p:nvPr/>
        </p:nvSpPr>
        <p:spPr>
          <a:xfrm>
            <a:off x="822960" y="2231136"/>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13" name="Text 10"/>
          <p:cNvSpPr/>
          <p:nvPr/>
        </p:nvSpPr>
        <p:spPr>
          <a:xfrm>
            <a:off x="822960" y="2276856"/>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01</a:t>
            </a:r>
            <a:endParaRPr lang="en-US" sz="950" dirty="0"/>
          </a:p>
        </p:txBody>
      </p:sp>
      <p:sp>
        <p:nvSpPr>
          <p:cNvPr id="14" name="Text 11"/>
          <p:cNvSpPr/>
          <p:nvPr/>
        </p:nvSpPr>
        <p:spPr>
          <a:xfrm>
            <a:off x="822960" y="2560320"/>
            <a:ext cx="2029968"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Centralizar</a:t>
            </a:r>
            <a:endParaRPr lang="en-US" sz="1250" dirty="0"/>
          </a:p>
        </p:txBody>
      </p:sp>
      <p:sp>
        <p:nvSpPr>
          <p:cNvPr id="15" name="Text 12"/>
          <p:cNvSpPr/>
          <p:nvPr/>
        </p:nvSpPr>
        <p:spPr>
          <a:xfrm>
            <a:off x="822960" y="2834640"/>
            <a:ext cx="2029968" cy="12984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Un proyecto reúne páginas, versiones y recursos con dueño y miembros.</a:t>
            </a:r>
            <a:endParaRPr lang="en-US" sz="1050" dirty="0"/>
          </a:p>
        </p:txBody>
      </p:sp>
      <p:sp>
        <p:nvSpPr>
          <p:cNvPr id="16" name="Shape 13"/>
          <p:cNvSpPr/>
          <p:nvPr/>
        </p:nvSpPr>
        <p:spPr>
          <a:xfrm>
            <a:off x="3017520" y="3200400"/>
            <a:ext cx="347472" cy="0"/>
          </a:xfrm>
          <a:prstGeom prst="line">
            <a:avLst/>
          </a:prstGeom>
          <a:noFill/>
          <a:ln w="12700">
            <a:solidFill>
              <a:srgbClr val="183B56"/>
            </a:solidFill>
            <a:prstDash val="solid"/>
            <a:tailEnd type="triangle"/>
          </a:ln>
        </p:spPr>
        <p:txBody>
          <a:bodyPr/>
          <a:lstStyle/>
          <a:p>
            <a:endParaRPr lang="en-ES"/>
          </a:p>
        </p:txBody>
      </p:sp>
      <p:sp>
        <p:nvSpPr>
          <p:cNvPr id="17" name="Shape 14"/>
          <p:cNvSpPr/>
          <p:nvPr/>
        </p:nvSpPr>
        <p:spPr>
          <a:xfrm>
            <a:off x="3511296" y="2084832"/>
            <a:ext cx="2359152" cy="2212848"/>
          </a:xfrm>
          <a:prstGeom prst="roundRect">
            <a:avLst>
              <a:gd name="adj" fmla="val 3306"/>
            </a:avLst>
          </a:prstGeom>
          <a:solidFill>
            <a:srgbClr val="FFFFFF"/>
          </a:solidFill>
          <a:ln w="12700">
            <a:solidFill>
              <a:srgbClr val="D6DFE8"/>
            </a:solidFill>
            <a:prstDash val="solid"/>
          </a:ln>
        </p:spPr>
        <p:txBody>
          <a:bodyPr/>
          <a:lstStyle/>
          <a:p>
            <a:endParaRPr lang="en-ES"/>
          </a:p>
        </p:txBody>
      </p:sp>
      <p:sp>
        <p:nvSpPr>
          <p:cNvPr id="18" name="Shape 15"/>
          <p:cNvSpPr/>
          <p:nvPr/>
        </p:nvSpPr>
        <p:spPr>
          <a:xfrm>
            <a:off x="3675888" y="2231136"/>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19" name="Text 16"/>
          <p:cNvSpPr/>
          <p:nvPr/>
        </p:nvSpPr>
        <p:spPr>
          <a:xfrm>
            <a:off x="3675888" y="2276856"/>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02</a:t>
            </a:r>
            <a:endParaRPr lang="en-US" sz="950" dirty="0"/>
          </a:p>
        </p:txBody>
      </p:sp>
      <p:sp>
        <p:nvSpPr>
          <p:cNvPr id="20" name="Text 17"/>
          <p:cNvSpPr/>
          <p:nvPr/>
        </p:nvSpPr>
        <p:spPr>
          <a:xfrm>
            <a:off x="3675888" y="2560320"/>
            <a:ext cx="2029968"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Traducir</a:t>
            </a:r>
            <a:endParaRPr lang="en-US" sz="1250" dirty="0"/>
          </a:p>
        </p:txBody>
      </p:sp>
      <p:sp>
        <p:nvSpPr>
          <p:cNvPr id="21" name="Text 18"/>
          <p:cNvSpPr/>
          <p:nvPr/>
        </p:nvSpPr>
        <p:spPr>
          <a:xfrm>
            <a:off x="3675888" y="2834640"/>
            <a:ext cx="2029968" cy="12984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El equipo mantiene idiomas activos y completa pendientes manual o automáticamente.</a:t>
            </a:r>
            <a:endParaRPr lang="en-US" sz="1050" dirty="0"/>
          </a:p>
        </p:txBody>
      </p:sp>
      <p:sp>
        <p:nvSpPr>
          <p:cNvPr id="22" name="Shape 19"/>
          <p:cNvSpPr/>
          <p:nvPr/>
        </p:nvSpPr>
        <p:spPr>
          <a:xfrm>
            <a:off x="5870448" y="3200400"/>
            <a:ext cx="347472" cy="0"/>
          </a:xfrm>
          <a:prstGeom prst="line">
            <a:avLst/>
          </a:prstGeom>
          <a:noFill/>
          <a:ln w="12700">
            <a:solidFill>
              <a:srgbClr val="FF6B57"/>
            </a:solidFill>
            <a:prstDash val="solid"/>
            <a:tailEnd type="triangle"/>
          </a:ln>
        </p:spPr>
        <p:txBody>
          <a:bodyPr/>
          <a:lstStyle/>
          <a:p>
            <a:endParaRPr lang="en-ES"/>
          </a:p>
        </p:txBody>
      </p:sp>
      <p:sp>
        <p:nvSpPr>
          <p:cNvPr id="23" name="Shape 20"/>
          <p:cNvSpPr/>
          <p:nvPr/>
        </p:nvSpPr>
        <p:spPr>
          <a:xfrm>
            <a:off x="6364224" y="2084832"/>
            <a:ext cx="2359152" cy="2212848"/>
          </a:xfrm>
          <a:prstGeom prst="roundRect">
            <a:avLst>
              <a:gd name="adj" fmla="val 3306"/>
            </a:avLst>
          </a:prstGeom>
          <a:solidFill>
            <a:srgbClr val="FFFFFF"/>
          </a:solidFill>
          <a:ln w="12700">
            <a:solidFill>
              <a:srgbClr val="D6DFE8"/>
            </a:solidFill>
            <a:prstDash val="solid"/>
          </a:ln>
        </p:spPr>
        <p:txBody>
          <a:bodyPr/>
          <a:lstStyle/>
          <a:p>
            <a:endParaRPr lang="en-ES"/>
          </a:p>
        </p:txBody>
      </p:sp>
      <p:sp>
        <p:nvSpPr>
          <p:cNvPr id="24" name="Shape 21"/>
          <p:cNvSpPr/>
          <p:nvPr/>
        </p:nvSpPr>
        <p:spPr>
          <a:xfrm>
            <a:off x="6528816" y="2231136"/>
            <a:ext cx="640080" cy="256032"/>
          </a:xfrm>
          <a:prstGeom prst="roundRect">
            <a:avLst>
              <a:gd name="adj" fmla="val 25000"/>
            </a:avLst>
          </a:prstGeom>
          <a:solidFill>
            <a:srgbClr val="FFFFFF"/>
          </a:solidFill>
          <a:ln w="12700">
            <a:solidFill>
              <a:srgbClr val="2FA36B"/>
            </a:solidFill>
            <a:prstDash val="solid"/>
          </a:ln>
        </p:spPr>
        <p:txBody>
          <a:bodyPr/>
          <a:lstStyle/>
          <a:p>
            <a:endParaRPr lang="en-ES"/>
          </a:p>
        </p:txBody>
      </p:sp>
      <p:sp>
        <p:nvSpPr>
          <p:cNvPr id="25" name="Text 22"/>
          <p:cNvSpPr/>
          <p:nvPr/>
        </p:nvSpPr>
        <p:spPr>
          <a:xfrm>
            <a:off x="6528816" y="2276856"/>
            <a:ext cx="64008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03</a:t>
            </a:r>
            <a:endParaRPr lang="en-US" sz="950" dirty="0"/>
          </a:p>
        </p:txBody>
      </p:sp>
      <p:sp>
        <p:nvSpPr>
          <p:cNvPr id="26" name="Text 23"/>
          <p:cNvSpPr/>
          <p:nvPr/>
        </p:nvSpPr>
        <p:spPr>
          <a:xfrm>
            <a:off x="6528816" y="2560320"/>
            <a:ext cx="2029968"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Validar</a:t>
            </a:r>
            <a:endParaRPr lang="en-US" sz="1250" dirty="0"/>
          </a:p>
        </p:txBody>
      </p:sp>
      <p:sp>
        <p:nvSpPr>
          <p:cNvPr id="27" name="Text 24"/>
          <p:cNvSpPr/>
          <p:nvPr/>
        </p:nvSpPr>
        <p:spPr>
          <a:xfrm>
            <a:off x="6528816" y="2834640"/>
            <a:ext cx="2029968" cy="12984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La versión predeterminada fija qué conjunto está listo para consumo.</a:t>
            </a:r>
            <a:endParaRPr lang="en-US" sz="1050" dirty="0"/>
          </a:p>
        </p:txBody>
      </p:sp>
      <p:sp>
        <p:nvSpPr>
          <p:cNvPr id="28" name="Shape 25"/>
          <p:cNvSpPr/>
          <p:nvPr/>
        </p:nvSpPr>
        <p:spPr>
          <a:xfrm>
            <a:off x="8723376" y="3200400"/>
            <a:ext cx="347472" cy="0"/>
          </a:xfrm>
          <a:prstGeom prst="line">
            <a:avLst/>
          </a:prstGeom>
          <a:noFill/>
          <a:ln w="12700">
            <a:solidFill>
              <a:srgbClr val="2FA36B"/>
            </a:solidFill>
            <a:prstDash val="solid"/>
            <a:tailEnd type="triangle"/>
          </a:ln>
        </p:spPr>
        <p:txBody>
          <a:bodyPr/>
          <a:lstStyle/>
          <a:p>
            <a:endParaRPr lang="en-ES"/>
          </a:p>
        </p:txBody>
      </p:sp>
      <p:sp>
        <p:nvSpPr>
          <p:cNvPr id="29" name="Shape 26"/>
          <p:cNvSpPr/>
          <p:nvPr/>
        </p:nvSpPr>
        <p:spPr>
          <a:xfrm>
            <a:off x="9217152" y="2084832"/>
            <a:ext cx="2359152" cy="2212848"/>
          </a:xfrm>
          <a:prstGeom prst="roundRect">
            <a:avLst>
              <a:gd name="adj" fmla="val 3306"/>
            </a:avLst>
          </a:prstGeom>
          <a:solidFill>
            <a:srgbClr val="FFFFFF"/>
          </a:solidFill>
          <a:ln w="12700">
            <a:solidFill>
              <a:srgbClr val="D6DFE8"/>
            </a:solidFill>
            <a:prstDash val="solid"/>
          </a:ln>
        </p:spPr>
        <p:txBody>
          <a:bodyPr/>
          <a:lstStyle/>
          <a:p>
            <a:endParaRPr lang="en-ES"/>
          </a:p>
        </p:txBody>
      </p:sp>
      <p:sp>
        <p:nvSpPr>
          <p:cNvPr id="30" name="Shape 27"/>
          <p:cNvSpPr/>
          <p:nvPr/>
        </p:nvSpPr>
        <p:spPr>
          <a:xfrm>
            <a:off x="9381744" y="2231136"/>
            <a:ext cx="640080" cy="256032"/>
          </a:xfrm>
          <a:prstGeom prst="roundRect">
            <a:avLst>
              <a:gd name="adj" fmla="val 25000"/>
            </a:avLst>
          </a:prstGeom>
          <a:solidFill>
            <a:srgbClr val="FFFFFF"/>
          </a:solidFill>
          <a:ln w="12700">
            <a:solidFill>
              <a:srgbClr val="C58A2B"/>
            </a:solidFill>
            <a:prstDash val="solid"/>
          </a:ln>
        </p:spPr>
        <p:txBody>
          <a:bodyPr/>
          <a:lstStyle/>
          <a:p>
            <a:endParaRPr lang="en-ES"/>
          </a:p>
        </p:txBody>
      </p:sp>
      <p:sp>
        <p:nvSpPr>
          <p:cNvPr id="31" name="Text 28"/>
          <p:cNvSpPr/>
          <p:nvPr/>
        </p:nvSpPr>
        <p:spPr>
          <a:xfrm>
            <a:off x="9381744" y="2276856"/>
            <a:ext cx="640080" cy="109728"/>
          </a:xfrm>
          <a:prstGeom prst="rect">
            <a:avLst/>
          </a:prstGeom>
          <a:noFill/>
          <a:ln/>
        </p:spPr>
        <p:txBody>
          <a:bodyPr wrap="square" lIns="0" tIns="0" rIns="0" bIns="0" rtlCol="0" anchor="ctr"/>
          <a:lstStyle/>
          <a:p>
            <a:pPr marL="0" indent="0" algn="ctr">
              <a:buNone/>
            </a:pPr>
            <a:r>
              <a:rPr lang="en-US" sz="950" b="1" dirty="0">
                <a:solidFill>
                  <a:srgbClr val="C58A2B"/>
                </a:solidFill>
                <a:latin typeface="Arial" pitchFamily="34" charset="0"/>
                <a:ea typeface="Arial" pitchFamily="34" charset="-122"/>
                <a:cs typeface="Arial" pitchFamily="34" charset="-120"/>
              </a:rPr>
              <a:t>04</a:t>
            </a:r>
            <a:endParaRPr lang="en-US" sz="950" dirty="0"/>
          </a:p>
        </p:txBody>
      </p:sp>
      <p:sp>
        <p:nvSpPr>
          <p:cNvPr id="32" name="Text 29"/>
          <p:cNvSpPr/>
          <p:nvPr/>
        </p:nvSpPr>
        <p:spPr>
          <a:xfrm>
            <a:off x="9381744" y="2560320"/>
            <a:ext cx="2029968"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Exportar</a:t>
            </a:r>
            <a:endParaRPr lang="en-US" sz="1250" dirty="0"/>
          </a:p>
        </p:txBody>
      </p:sp>
      <p:sp>
        <p:nvSpPr>
          <p:cNvPr id="33" name="Text 30"/>
          <p:cNvSpPr/>
          <p:nvPr/>
        </p:nvSpPr>
        <p:spPr>
          <a:xfrm>
            <a:off x="9381744" y="2834640"/>
            <a:ext cx="2029968" cy="12984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El resultado se prepara en JSON o XML según el ámbito requerido.</a:t>
            </a:r>
            <a:endParaRPr lang="en-US" sz="1050" dirty="0"/>
          </a:p>
        </p:txBody>
      </p:sp>
      <p:sp>
        <p:nvSpPr>
          <p:cNvPr id="34" name="Shape 31"/>
          <p:cNvSpPr/>
          <p:nvPr/>
        </p:nvSpPr>
        <p:spPr>
          <a:xfrm>
            <a:off x="658368" y="4709160"/>
            <a:ext cx="10881360" cy="566928"/>
          </a:xfrm>
          <a:prstGeom prst="roundRect">
            <a:avLst>
              <a:gd name="adj" fmla="val 12903"/>
            </a:avLst>
          </a:prstGeom>
          <a:solidFill>
            <a:srgbClr val="EEF3F8"/>
          </a:solidFill>
          <a:ln w="12700">
            <a:solidFill>
              <a:srgbClr val="D6DFE8"/>
            </a:solidFill>
            <a:prstDash val="solid"/>
          </a:ln>
        </p:spPr>
        <p:txBody>
          <a:bodyPr/>
          <a:lstStyle/>
          <a:p>
            <a:endParaRPr lang="en-ES"/>
          </a:p>
        </p:txBody>
      </p:sp>
      <p:sp>
        <p:nvSpPr>
          <p:cNvPr id="35" name="Text 32"/>
          <p:cNvSpPr/>
          <p:nvPr/>
        </p:nvSpPr>
        <p:spPr>
          <a:xfrm>
            <a:off x="868680" y="4910328"/>
            <a:ext cx="10469880" cy="164592"/>
          </a:xfrm>
          <a:prstGeom prst="rect">
            <a:avLst/>
          </a:prstGeom>
          <a:noFill/>
          <a:ln/>
        </p:spPr>
        <p:txBody>
          <a:bodyPr wrap="square" lIns="0" tIns="0" rIns="0" bIns="0" rtlCol="0" anchor="ctr"/>
          <a:lstStyle/>
          <a:p>
            <a:pPr marL="0" indent="0" algn="ctr">
              <a:buNone/>
            </a:pPr>
            <a:r>
              <a:rPr lang="en-US" sz="1150" b="1" dirty="0">
                <a:solidFill>
                  <a:srgbClr val="183B56"/>
                </a:solidFill>
                <a:latin typeface="Arial" pitchFamily="34" charset="0"/>
                <a:ea typeface="Arial" pitchFamily="34" charset="-122"/>
                <a:cs typeface="Arial" pitchFamily="34" charset="-120"/>
              </a:rPr>
              <a:t>Trazabilidad continua: proyecto → página → versión → recurso → traducciones → salida consumible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Actores y recorrido principal</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colaboración se apoya en roles simples y en una jerarquía que ordena el trabajo de localización.</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5</a:t>
            </a:r>
            <a:endParaRPr lang="en-US" sz="950" dirty="0"/>
          </a:p>
        </p:txBody>
      </p:sp>
      <p:sp>
        <p:nvSpPr>
          <p:cNvPr id="11" name="Shape 8"/>
          <p:cNvSpPr/>
          <p:nvPr/>
        </p:nvSpPr>
        <p:spPr>
          <a:xfrm>
            <a:off x="621792" y="1792224"/>
            <a:ext cx="2651760" cy="1188720"/>
          </a:xfrm>
          <a:prstGeom prst="roundRect">
            <a:avLst>
              <a:gd name="adj" fmla="val 6154"/>
            </a:avLst>
          </a:prstGeom>
          <a:solidFill>
            <a:srgbClr val="EEF5FB"/>
          </a:solidFill>
          <a:ln w="12700">
            <a:solidFill>
              <a:srgbClr val="D6DFE8"/>
            </a:solidFill>
            <a:prstDash val="solid"/>
          </a:ln>
        </p:spPr>
        <p:txBody>
          <a:bodyPr/>
          <a:lstStyle/>
          <a:p>
            <a:endParaRPr lang="en-ES"/>
          </a:p>
        </p:txBody>
      </p:sp>
      <p:sp>
        <p:nvSpPr>
          <p:cNvPr id="12" name="Shape 9"/>
          <p:cNvSpPr/>
          <p:nvPr/>
        </p:nvSpPr>
        <p:spPr>
          <a:xfrm>
            <a:off x="621792" y="1792224"/>
            <a:ext cx="91440" cy="1188720"/>
          </a:xfrm>
          <a:prstGeom prst="rect">
            <a:avLst/>
          </a:prstGeom>
          <a:solidFill>
            <a:srgbClr val="183B56"/>
          </a:solidFill>
          <a:ln w="12700">
            <a:solidFill>
              <a:srgbClr val="183B56"/>
            </a:solidFill>
            <a:prstDash val="solid"/>
          </a:ln>
        </p:spPr>
        <p:txBody>
          <a:bodyPr/>
          <a:lstStyle/>
          <a:p>
            <a:endParaRPr lang="en-ES"/>
          </a:p>
        </p:txBody>
      </p:sp>
      <p:sp>
        <p:nvSpPr>
          <p:cNvPr id="13" name="Text 10"/>
          <p:cNvSpPr/>
          <p:nvPr/>
        </p:nvSpPr>
        <p:spPr>
          <a:xfrm>
            <a:off x="841248" y="1956816"/>
            <a:ext cx="234086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Propietario</a:t>
            </a:r>
            <a:endParaRPr lang="en-US" sz="1300" dirty="0"/>
          </a:p>
        </p:txBody>
      </p:sp>
      <p:sp>
        <p:nvSpPr>
          <p:cNvPr id="14" name="Text 11"/>
          <p:cNvSpPr/>
          <p:nvPr/>
        </p:nvSpPr>
        <p:spPr>
          <a:xfrm>
            <a:off x="841248" y="2231136"/>
            <a:ext cx="2340864" cy="65836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Crea proyectos, invita miembros y define la versión de referencia.</a:t>
            </a:r>
            <a:endParaRPr lang="en-US" sz="1150" dirty="0"/>
          </a:p>
        </p:txBody>
      </p:sp>
      <p:sp>
        <p:nvSpPr>
          <p:cNvPr id="15" name="Shape 12"/>
          <p:cNvSpPr/>
          <p:nvPr/>
        </p:nvSpPr>
        <p:spPr>
          <a:xfrm>
            <a:off x="621792" y="3182112"/>
            <a:ext cx="2651760" cy="1188720"/>
          </a:xfrm>
          <a:prstGeom prst="roundRect">
            <a:avLst>
              <a:gd name="adj" fmla="val 6154"/>
            </a:avLst>
          </a:prstGeom>
          <a:solidFill>
            <a:srgbClr val="EDF8F2"/>
          </a:solidFill>
          <a:ln w="12700">
            <a:solidFill>
              <a:srgbClr val="D6DFE8"/>
            </a:solidFill>
            <a:prstDash val="solid"/>
          </a:ln>
        </p:spPr>
        <p:txBody>
          <a:bodyPr/>
          <a:lstStyle/>
          <a:p>
            <a:endParaRPr lang="en-ES"/>
          </a:p>
        </p:txBody>
      </p:sp>
      <p:sp>
        <p:nvSpPr>
          <p:cNvPr id="16" name="Shape 13"/>
          <p:cNvSpPr/>
          <p:nvPr/>
        </p:nvSpPr>
        <p:spPr>
          <a:xfrm>
            <a:off x="621792" y="3182112"/>
            <a:ext cx="91440" cy="1188720"/>
          </a:xfrm>
          <a:prstGeom prst="rect">
            <a:avLst/>
          </a:prstGeom>
          <a:solidFill>
            <a:srgbClr val="2FA36B"/>
          </a:solidFill>
          <a:ln w="12700">
            <a:solidFill>
              <a:srgbClr val="2FA36B"/>
            </a:solidFill>
            <a:prstDash val="solid"/>
          </a:ln>
        </p:spPr>
        <p:txBody>
          <a:bodyPr/>
          <a:lstStyle/>
          <a:p>
            <a:endParaRPr lang="en-ES"/>
          </a:p>
        </p:txBody>
      </p:sp>
      <p:sp>
        <p:nvSpPr>
          <p:cNvPr id="17" name="Text 14"/>
          <p:cNvSpPr/>
          <p:nvPr/>
        </p:nvSpPr>
        <p:spPr>
          <a:xfrm>
            <a:off x="841248" y="3346704"/>
            <a:ext cx="234086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Miembro</a:t>
            </a:r>
            <a:endParaRPr lang="en-US" sz="1300" dirty="0"/>
          </a:p>
        </p:txBody>
      </p:sp>
      <p:sp>
        <p:nvSpPr>
          <p:cNvPr id="18" name="Text 15"/>
          <p:cNvSpPr/>
          <p:nvPr/>
        </p:nvSpPr>
        <p:spPr>
          <a:xfrm>
            <a:off x="841248" y="3621024"/>
            <a:ext cx="2340864" cy="65836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Gestiona páginas, recursos y traducciones dentro del alcance compartido.</a:t>
            </a:r>
            <a:endParaRPr lang="en-US" sz="1150" dirty="0"/>
          </a:p>
        </p:txBody>
      </p:sp>
      <p:sp>
        <p:nvSpPr>
          <p:cNvPr id="19" name="Shape 16"/>
          <p:cNvSpPr/>
          <p:nvPr/>
        </p:nvSpPr>
        <p:spPr>
          <a:xfrm>
            <a:off x="3730752" y="1755648"/>
            <a:ext cx="1920240" cy="256032"/>
          </a:xfrm>
          <a:prstGeom prst="roundRect">
            <a:avLst>
              <a:gd name="adj" fmla="val 25000"/>
            </a:avLst>
          </a:prstGeom>
          <a:solidFill>
            <a:srgbClr val="F7F9FC"/>
          </a:solidFill>
          <a:ln w="12700">
            <a:solidFill>
              <a:srgbClr val="183B56"/>
            </a:solidFill>
            <a:prstDash val="solid"/>
          </a:ln>
        </p:spPr>
        <p:txBody>
          <a:bodyPr/>
          <a:lstStyle/>
          <a:p>
            <a:endParaRPr lang="en-ES"/>
          </a:p>
        </p:txBody>
      </p:sp>
      <p:sp>
        <p:nvSpPr>
          <p:cNvPr id="20" name="Text 17"/>
          <p:cNvSpPr/>
          <p:nvPr/>
        </p:nvSpPr>
        <p:spPr>
          <a:xfrm>
            <a:off x="3730752" y="1801368"/>
            <a:ext cx="192024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Recorrido jerárquico</a:t>
            </a:r>
            <a:endParaRPr lang="en-US" sz="950" dirty="0"/>
          </a:p>
        </p:txBody>
      </p:sp>
      <p:sp>
        <p:nvSpPr>
          <p:cNvPr id="21" name="Shape 18"/>
          <p:cNvSpPr/>
          <p:nvPr/>
        </p:nvSpPr>
        <p:spPr>
          <a:xfrm>
            <a:off x="3749040" y="2331720"/>
            <a:ext cx="1481328" cy="822960"/>
          </a:xfrm>
          <a:prstGeom prst="roundRect">
            <a:avLst>
              <a:gd name="adj" fmla="val 8889"/>
            </a:avLst>
          </a:prstGeom>
          <a:solidFill>
            <a:srgbClr val="FFFFFF"/>
          </a:solidFill>
          <a:ln w="12700">
            <a:solidFill>
              <a:srgbClr val="D6DFE8"/>
            </a:solidFill>
            <a:prstDash val="solid"/>
          </a:ln>
        </p:spPr>
        <p:txBody>
          <a:bodyPr/>
          <a:lstStyle/>
          <a:p>
            <a:endParaRPr lang="en-ES"/>
          </a:p>
        </p:txBody>
      </p:sp>
      <p:sp>
        <p:nvSpPr>
          <p:cNvPr id="22" name="Text 19"/>
          <p:cNvSpPr/>
          <p:nvPr/>
        </p:nvSpPr>
        <p:spPr>
          <a:xfrm>
            <a:off x="3840480" y="2624328"/>
            <a:ext cx="1298448" cy="164592"/>
          </a:xfrm>
          <a:prstGeom prst="rect">
            <a:avLst/>
          </a:prstGeom>
          <a:noFill/>
          <a:ln/>
        </p:spPr>
        <p:txBody>
          <a:bodyPr wrap="square" lIns="0" tIns="0" rIns="0" bIns="0" rtlCol="0" anchor="ctr"/>
          <a:lstStyle/>
          <a:p>
            <a:pPr marL="0" indent="0" algn="ctr">
              <a:buNone/>
            </a:pPr>
            <a:r>
              <a:rPr lang="en-US" sz="1230" b="1" dirty="0">
                <a:solidFill>
                  <a:srgbClr val="183B56"/>
                </a:solidFill>
                <a:latin typeface="Arial" pitchFamily="34" charset="0"/>
                <a:ea typeface="Arial" pitchFamily="34" charset="-122"/>
                <a:cs typeface="Arial" pitchFamily="34" charset="-120"/>
              </a:rPr>
              <a:t>Proyecto</a:t>
            </a:r>
            <a:endParaRPr lang="en-US" sz="1230" dirty="0"/>
          </a:p>
        </p:txBody>
      </p:sp>
      <p:sp>
        <p:nvSpPr>
          <p:cNvPr id="23" name="Shape 20"/>
          <p:cNvSpPr/>
          <p:nvPr/>
        </p:nvSpPr>
        <p:spPr>
          <a:xfrm>
            <a:off x="5577840" y="2331720"/>
            <a:ext cx="1481328" cy="822960"/>
          </a:xfrm>
          <a:prstGeom prst="roundRect">
            <a:avLst>
              <a:gd name="adj" fmla="val 8889"/>
            </a:avLst>
          </a:prstGeom>
          <a:solidFill>
            <a:srgbClr val="FFFFFF"/>
          </a:solidFill>
          <a:ln w="12700">
            <a:solidFill>
              <a:srgbClr val="D6DFE8"/>
            </a:solidFill>
            <a:prstDash val="solid"/>
          </a:ln>
        </p:spPr>
        <p:txBody>
          <a:bodyPr/>
          <a:lstStyle/>
          <a:p>
            <a:endParaRPr lang="en-ES"/>
          </a:p>
        </p:txBody>
      </p:sp>
      <p:sp>
        <p:nvSpPr>
          <p:cNvPr id="24" name="Text 21"/>
          <p:cNvSpPr/>
          <p:nvPr/>
        </p:nvSpPr>
        <p:spPr>
          <a:xfrm>
            <a:off x="5669280" y="2624328"/>
            <a:ext cx="1298448" cy="164592"/>
          </a:xfrm>
          <a:prstGeom prst="rect">
            <a:avLst/>
          </a:prstGeom>
          <a:noFill/>
          <a:ln/>
        </p:spPr>
        <p:txBody>
          <a:bodyPr wrap="square" lIns="0" tIns="0" rIns="0" bIns="0" rtlCol="0" anchor="ctr"/>
          <a:lstStyle/>
          <a:p>
            <a:pPr marL="0" indent="0" algn="ctr">
              <a:buNone/>
            </a:pPr>
            <a:r>
              <a:rPr lang="en-US" sz="1230" b="1" dirty="0">
                <a:solidFill>
                  <a:srgbClr val="FF6B57"/>
                </a:solidFill>
                <a:latin typeface="Arial" pitchFamily="34" charset="0"/>
                <a:ea typeface="Arial" pitchFamily="34" charset="-122"/>
                <a:cs typeface="Arial" pitchFamily="34" charset="-120"/>
              </a:rPr>
              <a:t>Página</a:t>
            </a:r>
            <a:endParaRPr lang="en-US" sz="1230" dirty="0"/>
          </a:p>
        </p:txBody>
      </p:sp>
      <p:sp>
        <p:nvSpPr>
          <p:cNvPr id="25" name="Shape 22"/>
          <p:cNvSpPr/>
          <p:nvPr/>
        </p:nvSpPr>
        <p:spPr>
          <a:xfrm>
            <a:off x="7406640" y="2331720"/>
            <a:ext cx="1481328" cy="822960"/>
          </a:xfrm>
          <a:prstGeom prst="roundRect">
            <a:avLst>
              <a:gd name="adj" fmla="val 8889"/>
            </a:avLst>
          </a:prstGeom>
          <a:solidFill>
            <a:srgbClr val="FFFFFF"/>
          </a:solidFill>
          <a:ln w="12700">
            <a:solidFill>
              <a:srgbClr val="D6DFE8"/>
            </a:solidFill>
            <a:prstDash val="solid"/>
          </a:ln>
        </p:spPr>
        <p:txBody>
          <a:bodyPr/>
          <a:lstStyle/>
          <a:p>
            <a:endParaRPr lang="en-ES"/>
          </a:p>
        </p:txBody>
      </p:sp>
      <p:sp>
        <p:nvSpPr>
          <p:cNvPr id="26" name="Text 23"/>
          <p:cNvSpPr/>
          <p:nvPr/>
        </p:nvSpPr>
        <p:spPr>
          <a:xfrm>
            <a:off x="7498080" y="2624328"/>
            <a:ext cx="1298448" cy="164592"/>
          </a:xfrm>
          <a:prstGeom prst="rect">
            <a:avLst/>
          </a:prstGeom>
          <a:noFill/>
          <a:ln/>
        </p:spPr>
        <p:txBody>
          <a:bodyPr wrap="square" lIns="0" tIns="0" rIns="0" bIns="0" rtlCol="0" anchor="ctr"/>
          <a:lstStyle/>
          <a:p>
            <a:pPr marL="0" indent="0" algn="ctr">
              <a:buNone/>
            </a:pPr>
            <a:r>
              <a:rPr lang="en-US" sz="1230" b="1" dirty="0">
                <a:solidFill>
                  <a:srgbClr val="2FA36B"/>
                </a:solidFill>
                <a:latin typeface="Arial" pitchFamily="34" charset="0"/>
                <a:ea typeface="Arial" pitchFamily="34" charset="-122"/>
                <a:cs typeface="Arial" pitchFamily="34" charset="-120"/>
              </a:rPr>
              <a:t>Versión</a:t>
            </a:r>
            <a:endParaRPr lang="en-US" sz="1230" dirty="0"/>
          </a:p>
        </p:txBody>
      </p:sp>
      <p:sp>
        <p:nvSpPr>
          <p:cNvPr id="27" name="Shape 24"/>
          <p:cNvSpPr/>
          <p:nvPr/>
        </p:nvSpPr>
        <p:spPr>
          <a:xfrm>
            <a:off x="9235440" y="2331720"/>
            <a:ext cx="1481328" cy="822960"/>
          </a:xfrm>
          <a:prstGeom prst="roundRect">
            <a:avLst>
              <a:gd name="adj" fmla="val 8889"/>
            </a:avLst>
          </a:prstGeom>
          <a:solidFill>
            <a:srgbClr val="FFFFFF"/>
          </a:solidFill>
          <a:ln w="12700">
            <a:solidFill>
              <a:srgbClr val="D6DFE8"/>
            </a:solidFill>
            <a:prstDash val="solid"/>
          </a:ln>
        </p:spPr>
        <p:txBody>
          <a:bodyPr/>
          <a:lstStyle/>
          <a:p>
            <a:endParaRPr lang="en-ES"/>
          </a:p>
        </p:txBody>
      </p:sp>
      <p:sp>
        <p:nvSpPr>
          <p:cNvPr id="28" name="Text 25"/>
          <p:cNvSpPr/>
          <p:nvPr/>
        </p:nvSpPr>
        <p:spPr>
          <a:xfrm>
            <a:off x="9326880" y="2624328"/>
            <a:ext cx="1298448" cy="164592"/>
          </a:xfrm>
          <a:prstGeom prst="rect">
            <a:avLst/>
          </a:prstGeom>
          <a:noFill/>
          <a:ln/>
        </p:spPr>
        <p:txBody>
          <a:bodyPr wrap="square" lIns="0" tIns="0" rIns="0" bIns="0" rtlCol="0" anchor="ctr"/>
          <a:lstStyle/>
          <a:p>
            <a:pPr marL="0" indent="0" algn="ctr">
              <a:buNone/>
            </a:pPr>
            <a:r>
              <a:rPr lang="en-US" sz="1230" b="1" dirty="0">
                <a:solidFill>
                  <a:srgbClr val="C58A2B"/>
                </a:solidFill>
                <a:latin typeface="Arial" pitchFamily="34" charset="0"/>
                <a:ea typeface="Arial" pitchFamily="34" charset="-122"/>
                <a:cs typeface="Arial" pitchFamily="34" charset="-120"/>
              </a:rPr>
              <a:t>Recurso</a:t>
            </a:r>
            <a:endParaRPr lang="en-US" sz="1230" dirty="0"/>
          </a:p>
        </p:txBody>
      </p:sp>
      <p:sp>
        <p:nvSpPr>
          <p:cNvPr id="29" name="Shape 26"/>
          <p:cNvSpPr/>
          <p:nvPr/>
        </p:nvSpPr>
        <p:spPr>
          <a:xfrm>
            <a:off x="5230368" y="2743200"/>
            <a:ext cx="329184" cy="0"/>
          </a:xfrm>
          <a:prstGeom prst="line">
            <a:avLst/>
          </a:prstGeom>
          <a:noFill/>
          <a:ln w="12700">
            <a:solidFill>
              <a:srgbClr val="D6DFE8"/>
            </a:solidFill>
            <a:prstDash val="solid"/>
            <a:tailEnd type="triangle"/>
          </a:ln>
        </p:spPr>
        <p:txBody>
          <a:bodyPr/>
          <a:lstStyle/>
          <a:p>
            <a:endParaRPr lang="en-ES"/>
          </a:p>
        </p:txBody>
      </p:sp>
      <p:sp>
        <p:nvSpPr>
          <p:cNvPr id="30" name="Shape 27"/>
          <p:cNvSpPr/>
          <p:nvPr/>
        </p:nvSpPr>
        <p:spPr>
          <a:xfrm>
            <a:off x="7059168" y="2743200"/>
            <a:ext cx="329184" cy="0"/>
          </a:xfrm>
          <a:prstGeom prst="line">
            <a:avLst/>
          </a:prstGeom>
          <a:noFill/>
          <a:ln w="12700">
            <a:solidFill>
              <a:srgbClr val="D6DFE8"/>
            </a:solidFill>
            <a:prstDash val="solid"/>
            <a:tailEnd type="triangle"/>
          </a:ln>
        </p:spPr>
        <p:txBody>
          <a:bodyPr/>
          <a:lstStyle/>
          <a:p>
            <a:endParaRPr lang="en-ES"/>
          </a:p>
        </p:txBody>
      </p:sp>
      <p:sp>
        <p:nvSpPr>
          <p:cNvPr id="31" name="Shape 28"/>
          <p:cNvSpPr/>
          <p:nvPr/>
        </p:nvSpPr>
        <p:spPr>
          <a:xfrm>
            <a:off x="8887968" y="2743200"/>
            <a:ext cx="329184" cy="0"/>
          </a:xfrm>
          <a:prstGeom prst="line">
            <a:avLst/>
          </a:prstGeom>
          <a:noFill/>
          <a:ln w="12700">
            <a:solidFill>
              <a:srgbClr val="D6DFE8"/>
            </a:solidFill>
            <a:prstDash val="solid"/>
            <a:tailEnd type="triangle"/>
          </a:ln>
        </p:spPr>
        <p:txBody>
          <a:bodyPr/>
          <a:lstStyle/>
          <a:p>
            <a:endParaRPr lang="en-ES"/>
          </a:p>
        </p:txBody>
      </p:sp>
      <p:sp>
        <p:nvSpPr>
          <p:cNvPr id="32" name="Text 29"/>
          <p:cNvSpPr/>
          <p:nvPr/>
        </p:nvSpPr>
        <p:spPr>
          <a:xfrm>
            <a:off x="3767328" y="3493008"/>
            <a:ext cx="7040880" cy="201168"/>
          </a:xfrm>
          <a:prstGeom prst="rect">
            <a:avLst/>
          </a:prstGeom>
          <a:noFill/>
          <a:ln/>
        </p:spPr>
        <p:txBody>
          <a:bodyPr wrap="square" lIns="0" tIns="0" rIns="0" bIns="0" rtlCol="0" anchor="ctr"/>
          <a:lstStyle/>
          <a:p>
            <a:pPr marL="0" indent="0" algn="ctr">
              <a:buNone/>
            </a:pPr>
            <a:r>
              <a:rPr lang="en-US" sz="1130" dirty="0">
                <a:solidFill>
                  <a:srgbClr val="5B6B7B"/>
                </a:solidFill>
                <a:latin typeface="Arial" pitchFamily="34" charset="0"/>
                <a:ea typeface="Arial" pitchFamily="34" charset="-122"/>
                <a:cs typeface="Arial" pitchFamily="34" charset="-120"/>
              </a:rPr>
              <a:t>Cada nivel reduce el contexto y facilita editar, traducir y exportar con precisión.</a:t>
            </a:r>
            <a:endParaRPr lang="en-US" sz="1130" dirty="0"/>
          </a:p>
        </p:txBody>
      </p:sp>
      <p:sp>
        <p:nvSpPr>
          <p:cNvPr id="33" name="Shape 30"/>
          <p:cNvSpPr/>
          <p:nvPr/>
        </p:nvSpPr>
        <p:spPr>
          <a:xfrm>
            <a:off x="3730752" y="4005072"/>
            <a:ext cx="7845552" cy="1097280"/>
          </a:xfrm>
          <a:prstGeom prst="roundRect">
            <a:avLst>
              <a:gd name="adj" fmla="val 6667"/>
            </a:avLst>
          </a:prstGeom>
          <a:solidFill>
            <a:srgbClr val="F7F9FC"/>
          </a:solidFill>
          <a:ln w="12700">
            <a:solidFill>
              <a:srgbClr val="D6DFE8"/>
            </a:solidFill>
            <a:prstDash val="solid"/>
          </a:ln>
        </p:spPr>
        <p:txBody>
          <a:bodyPr/>
          <a:lstStyle/>
          <a:p>
            <a:endParaRPr lang="en-ES"/>
          </a:p>
        </p:txBody>
      </p:sp>
      <p:sp>
        <p:nvSpPr>
          <p:cNvPr id="34" name="Text 31"/>
          <p:cNvSpPr/>
          <p:nvPr/>
        </p:nvSpPr>
        <p:spPr>
          <a:xfrm>
            <a:off x="3931920" y="4242816"/>
            <a:ext cx="182880" cy="164592"/>
          </a:xfrm>
          <a:prstGeom prst="rect">
            <a:avLst/>
          </a:prstGeom>
          <a:noFill/>
          <a:ln/>
        </p:spPr>
        <p:txBody>
          <a:bodyPr wrap="square" lIns="0" tIns="0" rIns="0" bIns="0" rtlCol="0" anchor="ctr"/>
          <a:lstStyle/>
          <a:p>
            <a:pPr marL="0" indent="0">
              <a:buNone/>
            </a:pPr>
            <a:r>
              <a:rPr lang="en-US" sz="1050" b="1" dirty="0">
                <a:solidFill>
                  <a:srgbClr val="FF6B57"/>
                </a:solidFill>
                <a:latin typeface="Arial" pitchFamily="34" charset="0"/>
                <a:ea typeface="Arial" pitchFamily="34" charset="-122"/>
                <a:cs typeface="Arial" pitchFamily="34" charset="-120"/>
              </a:rPr>
              <a:t>•</a:t>
            </a:r>
            <a:endParaRPr lang="en-US" sz="1050" dirty="0"/>
          </a:p>
        </p:txBody>
      </p:sp>
      <p:sp>
        <p:nvSpPr>
          <p:cNvPr id="35" name="Text 32"/>
          <p:cNvSpPr/>
          <p:nvPr/>
        </p:nvSpPr>
        <p:spPr>
          <a:xfrm>
            <a:off x="4151376" y="4233672"/>
            <a:ext cx="7095744" cy="182880"/>
          </a:xfrm>
          <a:prstGeom prst="rect">
            <a:avLst/>
          </a:prstGeom>
          <a:noFill/>
          <a:ln/>
        </p:spPr>
        <p:txBody>
          <a:bodyPr wrap="square" lIns="0" tIns="0" rIns="0" bIns="0" rtlCol="0" anchor="ctr"/>
          <a:lstStyle/>
          <a:p>
            <a:pPr marL="0" indent="0">
              <a:buNone/>
            </a:pPr>
            <a:r>
              <a:rPr lang="en-US" sz="1050" dirty="0">
                <a:solidFill>
                  <a:srgbClr val="243746"/>
                </a:solidFill>
                <a:latin typeface="Arial" pitchFamily="34" charset="0"/>
                <a:ea typeface="Arial" pitchFamily="34" charset="-122"/>
                <a:cs typeface="Arial" pitchFamily="34" charset="-120"/>
              </a:rPr>
              <a:t>Proyecto: espacio colaborativo y permisos.</a:t>
            </a:r>
            <a:endParaRPr lang="en-US" sz="1050" dirty="0"/>
          </a:p>
        </p:txBody>
      </p:sp>
      <p:sp>
        <p:nvSpPr>
          <p:cNvPr id="36" name="Text 33"/>
          <p:cNvSpPr/>
          <p:nvPr/>
        </p:nvSpPr>
        <p:spPr>
          <a:xfrm>
            <a:off x="3931920" y="4453128"/>
            <a:ext cx="182880" cy="164592"/>
          </a:xfrm>
          <a:prstGeom prst="rect">
            <a:avLst/>
          </a:prstGeom>
          <a:noFill/>
          <a:ln/>
        </p:spPr>
        <p:txBody>
          <a:bodyPr wrap="square" lIns="0" tIns="0" rIns="0" bIns="0" rtlCol="0" anchor="ctr"/>
          <a:lstStyle/>
          <a:p>
            <a:pPr marL="0" indent="0">
              <a:buNone/>
            </a:pPr>
            <a:r>
              <a:rPr lang="en-US" sz="1050" b="1" dirty="0">
                <a:solidFill>
                  <a:srgbClr val="FF6B57"/>
                </a:solidFill>
                <a:latin typeface="Arial" pitchFamily="34" charset="0"/>
                <a:ea typeface="Arial" pitchFamily="34" charset="-122"/>
                <a:cs typeface="Arial" pitchFamily="34" charset="-120"/>
              </a:rPr>
              <a:t>•</a:t>
            </a:r>
            <a:endParaRPr lang="en-US" sz="1050" dirty="0"/>
          </a:p>
        </p:txBody>
      </p:sp>
      <p:sp>
        <p:nvSpPr>
          <p:cNvPr id="37" name="Text 34"/>
          <p:cNvSpPr/>
          <p:nvPr/>
        </p:nvSpPr>
        <p:spPr>
          <a:xfrm>
            <a:off x="4151376" y="4443984"/>
            <a:ext cx="7095744" cy="182880"/>
          </a:xfrm>
          <a:prstGeom prst="rect">
            <a:avLst/>
          </a:prstGeom>
          <a:noFill/>
          <a:ln/>
        </p:spPr>
        <p:txBody>
          <a:bodyPr wrap="square" lIns="0" tIns="0" rIns="0" bIns="0" rtlCol="0" anchor="ctr"/>
          <a:lstStyle/>
          <a:p>
            <a:pPr marL="0" indent="0">
              <a:buNone/>
            </a:pPr>
            <a:r>
              <a:rPr lang="en-US" sz="1050" dirty="0">
                <a:solidFill>
                  <a:srgbClr val="243746"/>
                </a:solidFill>
                <a:latin typeface="Arial" pitchFamily="34" charset="0"/>
                <a:ea typeface="Arial" pitchFamily="34" charset="-122"/>
                <a:cs typeface="Arial" pitchFamily="34" charset="-120"/>
              </a:rPr>
              <a:t>Página: agrupación funcional de pantallas o módulos.</a:t>
            </a:r>
            <a:endParaRPr lang="en-US" sz="1050" dirty="0"/>
          </a:p>
        </p:txBody>
      </p:sp>
      <p:sp>
        <p:nvSpPr>
          <p:cNvPr id="38" name="Text 35"/>
          <p:cNvSpPr/>
          <p:nvPr/>
        </p:nvSpPr>
        <p:spPr>
          <a:xfrm>
            <a:off x="3931920" y="4663440"/>
            <a:ext cx="182880" cy="164592"/>
          </a:xfrm>
          <a:prstGeom prst="rect">
            <a:avLst/>
          </a:prstGeom>
          <a:noFill/>
          <a:ln/>
        </p:spPr>
        <p:txBody>
          <a:bodyPr wrap="square" lIns="0" tIns="0" rIns="0" bIns="0" rtlCol="0" anchor="ctr"/>
          <a:lstStyle/>
          <a:p>
            <a:pPr marL="0" indent="0">
              <a:buNone/>
            </a:pPr>
            <a:r>
              <a:rPr lang="en-US" sz="1050" b="1" dirty="0">
                <a:solidFill>
                  <a:srgbClr val="FF6B57"/>
                </a:solidFill>
                <a:latin typeface="Arial" pitchFamily="34" charset="0"/>
                <a:ea typeface="Arial" pitchFamily="34" charset="-122"/>
                <a:cs typeface="Arial" pitchFamily="34" charset="-120"/>
              </a:rPr>
              <a:t>•</a:t>
            </a:r>
            <a:endParaRPr lang="en-US" sz="1050" dirty="0"/>
          </a:p>
        </p:txBody>
      </p:sp>
      <p:sp>
        <p:nvSpPr>
          <p:cNvPr id="39" name="Text 36"/>
          <p:cNvSpPr/>
          <p:nvPr/>
        </p:nvSpPr>
        <p:spPr>
          <a:xfrm>
            <a:off x="4151376" y="4654296"/>
            <a:ext cx="7095744" cy="182880"/>
          </a:xfrm>
          <a:prstGeom prst="rect">
            <a:avLst/>
          </a:prstGeom>
          <a:noFill/>
          <a:ln/>
        </p:spPr>
        <p:txBody>
          <a:bodyPr wrap="square" lIns="0" tIns="0" rIns="0" bIns="0" rtlCol="0" anchor="ctr"/>
          <a:lstStyle/>
          <a:p>
            <a:pPr marL="0" indent="0">
              <a:buNone/>
            </a:pPr>
            <a:r>
              <a:rPr lang="en-US" sz="1050" dirty="0">
                <a:solidFill>
                  <a:srgbClr val="243746"/>
                </a:solidFill>
                <a:latin typeface="Arial" pitchFamily="34" charset="0"/>
                <a:ea typeface="Arial" pitchFamily="34" charset="-122"/>
                <a:cs typeface="Arial" pitchFamily="34" charset="-120"/>
              </a:rPr>
              <a:t>Versión: instantánea editable con una marcada como predeterminada.</a:t>
            </a:r>
            <a:endParaRPr lang="en-US" sz="1050" dirty="0"/>
          </a:p>
        </p:txBody>
      </p:sp>
      <p:sp>
        <p:nvSpPr>
          <p:cNvPr id="40" name="Text 37"/>
          <p:cNvSpPr/>
          <p:nvPr/>
        </p:nvSpPr>
        <p:spPr>
          <a:xfrm>
            <a:off x="3931920" y="4873752"/>
            <a:ext cx="182880" cy="164592"/>
          </a:xfrm>
          <a:prstGeom prst="rect">
            <a:avLst/>
          </a:prstGeom>
          <a:noFill/>
          <a:ln/>
        </p:spPr>
        <p:txBody>
          <a:bodyPr wrap="square" lIns="0" tIns="0" rIns="0" bIns="0" rtlCol="0" anchor="ctr"/>
          <a:lstStyle/>
          <a:p>
            <a:pPr marL="0" indent="0">
              <a:buNone/>
            </a:pPr>
            <a:r>
              <a:rPr lang="en-US" sz="1050" b="1" dirty="0">
                <a:solidFill>
                  <a:srgbClr val="FF6B57"/>
                </a:solidFill>
                <a:latin typeface="Arial" pitchFamily="34" charset="0"/>
                <a:ea typeface="Arial" pitchFamily="34" charset="-122"/>
                <a:cs typeface="Arial" pitchFamily="34" charset="-120"/>
              </a:rPr>
              <a:t>•</a:t>
            </a:r>
            <a:endParaRPr lang="en-US" sz="1050" dirty="0"/>
          </a:p>
        </p:txBody>
      </p:sp>
      <p:sp>
        <p:nvSpPr>
          <p:cNvPr id="41" name="Text 38"/>
          <p:cNvSpPr/>
          <p:nvPr/>
        </p:nvSpPr>
        <p:spPr>
          <a:xfrm>
            <a:off x="4151376" y="4864608"/>
            <a:ext cx="7095744" cy="182880"/>
          </a:xfrm>
          <a:prstGeom prst="rect">
            <a:avLst/>
          </a:prstGeom>
          <a:noFill/>
          <a:ln/>
        </p:spPr>
        <p:txBody>
          <a:bodyPr wrap="square" lIns="0" tIns="0" rIns="0" bIns="0" rtlCol="0" anchor="ctr"/>
          <a:lstStyle/>
          <a:p>
            <a:pPr marL="0" indent="0">
              <a:buNone/>
            </a:pPr>
            <a:r>
              <a:rPr lang="en-US" sz="1050" dirty="0">
                <a:solidFill>
                  <a:srgbClr val="243746"/>
                </a:solidFill>
                <a:latin typeface="Arial" pitchFamily="34" charset="0"/>
                <a:ea typeface="Arial" pitchFamily="34" charset="-122"/>
                <a:cs typeface="Arial" pitchFamily="34" charset="-120"/>
              </a:rPr>
              <a:t>Recurso: clave reutilizable con traducciones por idioma.</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Home pública y acceso inicial</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portada resume el valor del producto y dirige al usuario hacia autenticación y prueba guiada.</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6</a:t>
            </a:r>
            <a:endParaRPr lang="en-US" sz="950" dirty="0"/>
          </a:p>
        </p:txBody>
      </p:sp>
      <p:sp>
        <p:nvSpPr>
          <p:cNvPr id="11" name="Shape 8"/>
          <p:cNvSpPr/>
          <p:nvPr/>
        </p:nvSpPr>
        <p:spPr>
          <a:xfrm>
            <a:off x="640080" y="1755648"/>
            <a:ext cx="6766560" cy="4572000"/>
          </a:xfrm>
          <a:prstGeom prst="roundRect">
            <a:avLst>
              <a:gd name="adj" fmla="val 1600"/>
            </a:avLst>
          </a:prstGeom>
          <a:solidFill>
            <a:srgbClr val="FFFFFF"/>
          </a:solidFill>
          <a:ln w="12700">
            <a:solidFill>
              <a:srgbClr val="D6DFE8"/>
            </a:solidFill>
            <a:prstDash val="solid"/>
          </a:ln>
        </p:spPr>
        <p:txBody>
          <a:bodyPr/>
          <a:lstStyle/>
          <a:p>
            <a:endParaRPr lang="en-ES"/>
          </a:p>
        </p:txBody>
      </p:sp>
      <p:pic>
        <p:nvPicPr>
          <p:cNvPr id="12" name="Image 0" descr="docs/presentation/assets/01-home.png"/>
          <p:cNvPicPr>
            <a:picLocks noChangeAspect="1"/>
          </p:cNvPicPr>
          <p:nvPr/>
        </p:nvPicPr>
        <p:blipFill>
          <a:blip r:embed="rId3"/>
          <a:stretch>
            <a:fillRect/>
          </a:stretch>
        </p:blipFill>
        <p:spPr>
          <a:xfrm>
            <a:off x="713232" y="1828800"/>
            <a:ext cx="6620256" cy="4206240"/>
          </a:xfrm>
          <a:prstGeom prst="rect">
            <a:avLst/>
          </a:prstGeom>
        </p:spPr>
      </p:pic>
      <p:sp>
        <p:nvSpPr>
          <p:cNvPr id="13" name="Shape 9"/>
          <p:cNvSpPr/>
          <p:nvPr/>
        </p:nvSpPr>
        <p:spPr>
          <a:xfrm>
            <a:off x="640080" y="6016752"/>
            <a:ext cx="6766560" cy="0"/>
          </a:xfrm>
          <a:prstGeom prst="line">
            <a:avLst/>
          </a:prstGeom>
          <a:noFill/>
          <a:ln w="12700">
            <a:solidFill>
              <a:srgbClr val="D6DFE8"/>
            </a:solidFill>
            <a:prstDash val="solid"/>
          </a:ln>
        </p:spPr>
        <p:txBody>
          <a:bodyPr/>
          <a:lstStyle/>
          <a:p>
            <a:endParaRPr lang="en-ES"/>
          </a:p>
        </p:txBody>
      </p:sp>
      <p:sp>
        <p:nvSpPr>
          <p:cNvPr id="14" name="Text 10"/>
          <p:cNvSpPr/>
          <p:nvPr/>
        </p:nvSpPr>
        <p:spPr>
          <a:xfrm>
            <a:off x="749808" y="6071616"/>
            <a:ext cx="654710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Home de bienvenida con propuesta de valor y llamada a la acción.</a:t>
            </a:r>
            <a:endParaRPr lang="en-US" sz="900" dirty="0"/>
          </a:p>
        </p:txBody>
      </p:sp>
      <p:sp>
        <p:nvSpPr>
          <p:cNvPr id="15" name="Shape 11"/>
          <p:cNvSpPr/>
          <p:nvPr/>
        </p:nvSpPr>
        <p:spPr>
          <a:xfrm>
            <a:off x="7818120" y="1874520"/>
            <a:ext cx="3520440" cy="932688"/>
          </a:xfrm>
          <a:prstGeom prst="roundRect">
            <a:avLst>
              <a:gd name="adj" fmla="val 7843"/>
            </a:avLst>
          </a:prstGeom>
          <a:solidFill>
            <a:srgbClr val="EEF5FB"/>
          </a:solidFill>
          <a:ln w="12700">
            <a:solidFill>
              <a:srgbClr val="D6DFE8"/>
            </a:solidFill>
            <a:prstDash val="solid"/>
          </a:ln>
        </p:spPr>
        <p:txBody>
          <a:bodyPr/>
          <a:lstStyle/>
          <a:p>
            <a:endParaRPr lang="en-ES"/>
          </a:p>
        </p:txBody>
      </p:sp>
      <p:sp>
        <p:nvSpPr>
          <p:cNvPr id="16" name="Shape 12"/>
          <p:cNvSpPr/>
          <p:nvPr/>
        </p:nvSpPr>
        <p:spPr>
          <a:xfrm>
            <a:off x="7818120" y="1874520"/>
            <a:ext cx="91440" cy="932688"/>
          </a:xfrm>
          <a:prstGeom prst="rect">
            <a:avLst/>
          </a:prstGeom>
          <a:solidFill>
            <a:srgbClr val="183B56"/>
          </a:solidFill>
          <a:ln w="12700">
            <a:solidFill>
              <a:srgbClr val="183B56"/>
            </a:solidFill>
            <a:prstDash val="solid"/>
          </a:ln>
        </p:spPr>
        <p:txBody>
          <a:bodyPr/>
          <a:lstStyle/>
          <a:p>
            <a:endParaRPr lang="en-ES"/>
          </a:p>
        </p:txBody>
      </p:sp>
      <p:sp>
        <p:nvSpPr>
          <p:cNvPr id="17" name="Text 13"/>
          <p:cNvSpPr/>
          <p:nvPr/>
        </p:nvSpPr>
        <p:spPr>
          <a:xfrm>
            <a:off x="8037576" y="2039112"/>
            <a:ext cx="320954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Valor explicado</a:t>
            </a:r>
            <a:endParaRPr lang="en-US" sz="1300" dirty="0"/>
          </a:p>
        </p:txBody>
      </p:sp>
      <p:sp>
        <p:nvSpPr>
          <p:cNvPr id="18" name="Text 14"/>
          <p:cNvSpPr/>
          <p:nvPr/>
        </p:nvSpPr>
        <p:spPr>
          <a:xfrm>
            <a:off x="8037576" y="2313432"/>
            <a:ext cx="3209544" cy="402336"/>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Centraliza la gestión de textos de interfaz antes de llegar a desarrollo.</a:t>
            </a:r>
            <a:endParaRPr lang="en-US" sz="1150" dirty="0"/>
          </a:p>
        </p:txBody>
      </p:sp>
      <p:sp>
        <p:nvSpPr>
          <p:cNvPr id="19" name="Shape 15"/>
          <p:cNvSpPr/>
          <p:nvPr/>
        </p:nvSpPr>
        <p:spPr>
          <a:xfrm>
            <a:off x="7818120" y="2990088"/>
            <a:ext cx="3520440" cy="932688"/>
          </a:xfrm>
          <a:prstGeom prst="roundRect">
            <a:avLst>
              <a:gd name="adj" fmla="val 7843"/>
            </a:avLst>
          </a:prstGeom>
          <a:solidFill>
            <a:srgbClr val="FFF1EE"/>
          </a:solidFill>
          <a:ln w="12700">
            <a:solidFill>
              <a:srgbClr val="D6DFE8"/>
            </a:solidFill>
            <a:prstDash val="solid"/>
          </a:ln>
        </p:spPr>
        <p:txBody>
          <a:bodyPr/>
          <a:lstStyle/>
          <a:p>
            <a:endParaRPr lang="en-ES"/>
          </a:p>
        </p:txBody>
      </p:sp>
      <p:sp>
        <p:nvSpPr>
          <p:cNvPr id="20" name="Shape 16"/>
          <p:cNvSpPr/>
          <p:nvPr/>
        </p:nvSpPr>
        <p:spPr>
          <a:xfrm>
            <a:off x="7818120" y="2990088"/>
            <a:ext cx="91440" cy="932688"/>
          </a:xfrm>
          <a:prstGeom prst="rect">
            <a:avLst/>
          </a:prstGeom>
          <a:solidFill>
            <a:srgbClr val="FF6B57"/>
          </a:solidFill>
          <a:ln w="12700">
            <a:solidFill>
              <a:srgbClr val="FF6B57"/>
            </a:solidFill>
            <a:prstDash val="solid"/>
          </a:ln>
        </p:spPr>
        <p:txBody>
          <a:bodyPr/>
          <a:lstStyle/>
          <a:p>
            <a:endParaRPr lang="en-ES"/>
          </a:p>
        </p:txBody>
      </p:sp>
      <p:sp>
        <p:nvSpPr>
          <p:cNvPr id="21" name="Text 17"/>
          <p:cNvSpPr/>
          <p:nvPr/>
        </p:nvSpPr>
        <p:spPr>
          <a:xfrm>
            <a:off x="8037576" y="3154680"/>
            <a:ext cx="320954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Acceso directo</a:t>
            </a:r>
            <a:endParaRPr lang="en-US" sz="1300" dirty="0"/>
          </a:p>
        </p:txBody>
      </p:sp>
      <p:sp>
        <p:nvSpPr>
          <p:cNvPr id="22" name="Text 18"/>
          <p:cNvSpPr/>
          <p:nvPr/>
        </p:nvSpPr>
        <p:spPr>
          <a:xfrm>
            <a:off x="8037576" y="3429000"/>
            <a:ext cx="3209544" cy="402336"/>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Desde aquí se inicia login y se enlaza la narrativa hacia los proyectos activos.</a:t>
            </a:r>
            <a:endParaRPr lang="en-US" sz="1150" dirty="0"/>
          </a:p>
        </p:txBody>
      </p:sp>
      <p:sp>
        <p:nvSpPr>
          <p:cNvPr id="23" name="Shape 19"/>
          <p:cNvSpPr/>
          <p:nvPr/>
        </p:nvSpPr>
        <p:spPr>
          <a:xfrm>
            <a:off x="7818120" y="4105656"/>
            <a:ext cx="3520440" cy="932688"/>
          </a:xfrm>
          <a:prstGeom prst="roundRect">
            <a:avLst>
              <a:gd name="adj" fmla="val 7843"/>
            </a:avLst>
          </a:prstGeom>
          <a:solidFill>
            <a:srgbClr val="EDF8F2"/>
          </a:solidFill>
          <a:ln w="12700">
            <a:solidFill>
              <a:srgbClr val="D6DFE8"/>
            </a:solidFill>
            <a:prstDash val="solid"/>
          </a:ln>
        </p:spPr>
        <p:txBody>
          <a:bodyPr/>
          <a:lstStyle/>
          <a:p>
            <a:endParaRPr lang="en-ES"/>
          </a:p>
        </p:txBody>
      </p:sp>
      <p:sp>
        <p:nvSpPr>
          <p:cNvPr id="24" name="Shape 20"/>
          <p:cNvSpPr/>
          <p:nvPr/>
        </p:nvSpPr>
        <p:spPr>
          <a:xfrm>
            <a:off x="7818120" y="4105656"/>
            <a:ext cx="91440" cy="932688"/>
          </a:xfrm>
          <a:prstGeom prst="rect">
            <a:avLst/>
          </a:prstGeom>
          <a:solidFill>
            <a:srgbClr val="2FA36B"/>
          </a:solidFill>
          <a:ln w="12700">
            <a:solidFill>
              <a:srgbClr val="2FA36B"/>
            </a:solidFill>
            <a:prstDash val="solid"/>
          </a:ln>
        </p:spPr>
        <p:txBody>
          <a:bodyPr/>
          <a:lstStyle/>
          <a:p>
            <a:endParaRPr lang="en-ES"/>
          </a:p>
        </p:txBody>
      </p:sp>
      <p:sp>
        <p:nvSpPr>
          <p:cNvPr id="25" name="Text 21"/>
          <p:cNvSpPr/>
          <p:nvPr/>
        </p:nvSpPr>
        <p:spPr>
          <a:xfrm>
            <a:off x="8037576" y="4270248"/>
            <a:ext cx="320954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Primera impresión</a:t>
            </a:r>
            <a:endParaRPr lang="en-US" sz="1300" dirty="0"/>
          </a:p>
        </p:txBody>
      </p:sp>
      <p:sp>
        <p:nvSpPr>
          <p:cNvPr id="26" name="Text 22"/>
          <p:cNvSpPr/>
          <p:nvPr/>
        </p:nvSpPr>
        <p:spPr>
          <a:xfrm>
            <a:off x="8037576" y="4544568"/>
            <a:ext cx="3209544" cy="402336"/>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interfaz comunica producto moderno, pero la lógica clave vive en el recorrido autenticado.</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Autenticación, sesión y rutas protegidas</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acceso combina login social con emisión de JWT y refresh token para mantener sesiones seguras.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7</a:t>
            </a:r>
            <a:endParaRPr lang="en-US" sz="950" dirty="0"/>
          </a:p>
        </p:txBody>
      </p:sp>
      <p:sp>
        <p:nvSpPr>
          <p:cNvPr id="11" name="Shape 8"/>
          <p:cNvSpPr/>
          <p:nvPr/>
        </p:nvSpPr>
        <p:spPr>
          <a:xfrm>
            <a:off x="640080" y="1783080"/>
            <a:ext cx="5303520" cy="4233672"/>
          </a:xfrm>
          <a:prstGeom prst="roundRect">
            <a:avLst>
              <a:gd name="adj" fmla="val 1728"/>
            </a:avLst>
          </a:prstGeom>
          <a:solidFill>
            <a:srgbClr val="FFFFFF"/>
          </a:solidFill>
          <a:ln w="12700">
            <a:solidFill>
              <a:srgbClr val="D6DFE8"/>
            </a:solidFill>
            <a:prstDash val="solid"/>
          </a:ln>
        </p:spPr>
        <p:txBody>
          <a:bodyPr/>
          <a:lstStyle/>
          <a:p>
            <a:endParaRPr lang="en-ES"/>
          </a:p>
        </p:txBody>
      </p:sp>
      <p:pic>
        <p:nvPicPr>
          <p:cNvPr id="12" name="Image 0" descr="docs/presentation/assets/02-login.png"/>
          <p:cNvPicPr>
            <a:picLocks noChangeAspect="1"/>
          </p:cNvPicPr>
          <p:nvPr/>
        </p:nvPicPr>
        <p:blipFill>
          <a:blip r:embed="rId3"/>
          <a:stretch>
            <a:fillRect/>
          </a:stretch>
        </p:blipFill>
        <p:spPr>
          <a:xfrm>
            <a:off x="713232" y="1856232"/>
            <a:ext cx="5157216" cy="3867912"/>
          </a:xfrm>
          <a:prstGeom prst="rect">
            <a:avLst/>
          </a:prstGeom>
        </p:spPr>
      </p:pic>
      <p:sp>
        <p:nvSpPr>
          <p:cNvPr id="13" name="Shape 9"/>
          <p:cNvSpPr/>
          <p:nvPr/>
        </p:nvSpPr>
        <p:spPr>
          <a:xfrm>
            <a:off x="640080" y="5705856"/>
            <a:ext cx="5303520" cy="0"/>
          </a:xfrm>
          <a:prstGeom prst="line">
            <a:avLst/>
          </a:prstGeom>
          <a:noFill/>
          <a:ln w="12700">
            <a:solidFill>
              <a:srgbClr val="D6DFE8"/>
            </a:solidFill>
            <a:prstDash val="solid"/>
          </a:ln>
        </p:spPr>
        <p:txBody>
          <a:bodyPr/>
          <a:lstStyle/>
          <a:p>
            <a:endParaRPr lang="en-ES"/>
          </a:p>
        </p:txBody>
      </p:sp>
      <p:sp>
        <p:nvSpPr>
          <p:cNvPr id="14" name="Text 10"/>
          <p:cNvSpPr/>
          <p:nvPr/>
        </p:nvSpPr>
        <p:spPr>
          <a:xfrm>
            <a:off x="749808" y="5760720"/>
            <a:ext cx="508406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Pantalla de login con acceso social y copy orientado al producto.</a:t>
            </a:r>
            <a:endParaRPr lang="en-US" sz="900" dirty="0"/>
          </a:p>
        </p:txBody>
      </p:sp>
      <p:sp>
        <p:nvSpPr>
          <p:cNvPr id="15" name="Shape 11"/>
          <p:cNvSpPr/>
          <p:nvPr/>
        </p:nvSpPr>
        <p:spPr>
          <a:xfrm>
            <a:off x="6355080" y="1865376"/>
            <a:ext cx="1234440" cy="1325880"/>
          </a:xfrm>
          <a:prstGeom prst="roundRect">
            <a:avLst>
              <a:gd name="adj" fmla="val 5926"/>
            </a:avLst>
          </a:prstGeom>
          <a:solidFill>
            <a:srgbClr val="FFFFFF"/>
          </a:solidFill>
          <a:ln w="12700">
            <a:solidFill>
              <a:srgbClr val="D6DFE8"/>
            </a:solidFill>
            <a:prstDash val="solid"/>
          </a:ln>
        </p:spPr>
        <p:txBody>
          <a:bodyPr/>
          <a:lstStyle/>
          <a:p>
            <a:endParaRPr lang="en-ES"/>
          </a:p>
        </p:txBody>
      </p:sp>
      <p:sp>
        <p:nvSpPr>
          <p:cNvPr id="16" name="Shape 12"/>
          <p:cNvSpPr/>
          <p:nvPr/>
        </p:nvSpPr>
        <p:spPr>
          <a:xfrm>
            <a:off x="6519672" y="2011680"/>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17" name="Text 13"/>
          <p:cNvSpPr/>
          <p:nvPr/>
        </p:nvSpPr>
        <p:spPr>
          <a:xfrm>
            <a:off x="6519672" y="2057400"/>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A</a:t>
            </a:r>
            <a:endParaRPr lang="en-US" sz="950" dirty="0"/>
          </a:p>
        </p:txBody>
      </p:sp>
      <p:sp>
        <p:nvSpPr>
          <p:cNvPr id="18" name="Text 14"/>
          <p:cNvSpPr/>
          <p:nvPr/>
        </p:nvSpPr>
        <p:spPr>
          <a:xfrm>
            <a:off x="6519672" y="2340864"/>
            <a:ext cx="90525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Google</a:t>
            </a:r>
            <a:endParaRPr lang="en-US" sz="1250" dirty="0"/>
          </a:p>
        </p:txBody>
      </p:sp>
      <p:sp>
        <p:nvSpPr>
          <p:cNvPr id="19" name="Text 15"/>
          <p:cNvSpPr/>
          <p:nvPr/>
        </p:nvSpPr>
        <p:spPr>
          <a:xfrm>
            <a:off x="6519672" y="2615184"/>
            <a:ext cx="905256" cy="41148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Valida identidad primaria.</a:t>
            </a:r>
            <a:endParaRPr lang="en-US" sz="1050" dirty="0"/>
          </a:p>
        </p:txBody>
      </p:sp>
      <p:sp>
        <p:nvSpPr>
          <p:cNvPr id="20" name="Shape 16"/>
          <p:cNvSpPr/>
          <p:nvPr/>
        </p:nvSpPr>
        <p:spPr>
          <a:xfrm>
            <a:off x="7818120" y="1865376"/>
            <a:ext cx="1389888" cy="1325880"/>
          </a:xfrm>
          <a:prstGeom prst="roundRect">
            <a:avLst>
              <a:gd name="adj" fmla="val 5517"/>
            </a:avLst>
          </a:prstGeom>
          <a:solidFill>
            <a:srgbClr val="FFFFFF"/>
          </a:solidFill>
          <a:ln w="12700">
            <a:solidFill>
              <a:srgbClr val="D6DFE8"/>
            </a:solidFill>
            <a:prstDash val="solid"/>
          </a:ln>
        </p:spPr>
        <p:txBody>
          <a:bodyPr/>
          <a:lstStyle/>
          <a:p>
            <a:endParaRPr lang="en-ES"/>
          </a:p>
        </p:txBody>
      </p:sp>
      <p:sp>
        <p:nvSpPr>
          <p:cNvPr id="21" name="Shape 17"/>
          <p:cNvSpPr/>
          <p:nvPr/>
        </p:nvSpPr>
        <p:spPr>
          <a:xfrm>
            <a:off x="7982712" y="2011680"/>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22" name="Text 18"/>
          <p:cNvSpPr/>
          <p:nvPr/>
        </p:nvSpPr>
        <p:spPr>
          <a:xfrm>
            <a:off x="7982712" y="2057400"/>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B</a:t>
            </a:r>
            <a:endParaRPr lang="en-US" sz="950" dirty="0"/>
          </a:p>
        </p:txBody>
      </p:sp>
      <p:sp>
        <p:nvSpPr>
          <p:cNvPr id="23" name="Text 19"/>
          <p:cNvSpPr/>
          <p:nvPr/>
        </p:nvSpPr>
        <p:spPr>
          <a:xfrm>
            <a:off x="7982712" y="2340864"/>
            <a:ext cx="1060704"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API</a:t>
            </a:r>
            <a:endParaRPr lang="en-US" sz="1250" dirty="0"/>
          </a:p>
        </p:txBody>
      </p:sp>
      <p:sp>
        <p:nvSpPr>
          <p:cNvPr id="24" name="Text 20"/>
          <p:cNvSpPr/>
          <p:nvPr/>
        </p:nvSpPr>
        <p:spPr>
          <a:xfrm>
            <a:off x="7982712" y="2615184"/>
            <a:ext cx="1060704" cy="41148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Comprueba el token social.</a:t>
            </a:r>
            <a:endParaRPr lang="en-US" sz="1050" dirty="0"/>
          </a:p>
        </p:txBody>
      </p:sp>
      <p:sp>
        <p:nvSpPr>
          <p:cNvPr id="25" name="Shape 21"/>
          <p:cNvSpPr/>
          <p:nvPr/>
        </p:nvSpPr>
        <p:spPr>
          <a:xfrm>
            <a:off x="9445752" y="1865376"/>
            <a:ext cx="1600200" cy="1325880"/>
          </a:xfrm>
          <a:prstGeom prst="roundRect">
            <a:avLst>
              <a:gd name="adj" fmla="val 5517"/>
            </a:avLst>
          </a:prstGeom>
          <a:solidFill>
            <a:srgbClr val="FFFFFF"/>
          </a:solidFill>
          <a:ln w="12700">
            <a:solidFill>
              <a:srgbClr val="D6DFE8"/>
            </a:solidFill>
            <a:prstDash val="solid"/>
          </a:ln>
        </p:spPr>
        <p:txBody>
          <a:bodyPr/>
          <a:lstStyle/>
          <a:p>
            <a:endParaRPr lang="en-ES"/>
          </a:p>
        </p:txBody>
      </p:sp>
      <p:sp>
        <p:nvSpPr>
          <p:cNvPr id="26" name="Shape 22"/>
          <p:cNvSpPr/>
          <p:nvPr/>
        </p:nvSpPr>
        <p:spPr>
          <a:xfrm>
            <a:off x="9610344" y="2011680"/>
            <a:ext cx="640080" cy="256032"/>
          </a:xfrm>
          <a:prstGeom prst="roundRect">
            <a:avLst>
              <a:gd name="adj" fmla="val 25000"/>
            </a:avLst>
          </a:prstGeom>
          <a:solidFill>
            <a:srgbClr val="FFFFFF"/>
          </a:solidFill>
          <a:ln w="12700">
            <a:solidFill>
              <a:srgbClr val="2FA36B"/>
            </a:solidFill>
            <a:prstDash val="solid"/>
          </a:ln>
        </p:spPr>
        <p:txBody>
          <a:bodyPr/>
          <a:lstStyle/>
          <a:p>
            <a:endParaRPr lang="en-ES"/>
          </a:p>
        </p:txBody>
      </p:sp>
      <p:sp>
        <p:nvSpPr>
          <p:cNvPr id="27" name="Text 23"/>
          <p:cNvSpPr/>
          <p:nvPr/>
        </p:nvSpPr>
        <p:spPr>
          <a:xfrm>
            <a:off x="9610344" y="2057400"/>
            <a:ext cx="64008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C</a:t>
            </a:r>
            <a:endParaRPr lang="en-US" sz="950" dirty="0"/>
          </a:p>
        </p:txBody>
      </p:sp>
      <p:sp>
        <p:nvSpPr>
          <p:cNvPr id="28" name="Text 24"/>
          <p:cNvSpPr/>
          <p:nvPr/>
        </p:nvSpPr>
        <p:spPr>
          <a:xfrm>
            <a:off x="9610344" y="2340864"/>
            <a:ext cx="12710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JWT + Refresh</a:t>
            </a:r>
            <a:endParaRPr lang="en-US" sz="1250" dirty="0"/>
          </a:p>
        </p:txBody>
      </p:sp>
      <p:sp>
        <p:nvSpPr>
          <p:cNvPr id="29" name="Text 25"/>
          <p:cNvSpPr/>
          <p:nvPr/>
        </p:nvSpPr>
        <p:spPr>
          <a:xfrm>
            <a:off x="9610344" y="2615184"/>
            <a:ext cx="1271016" cy="41148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Emite sesión con expiración controlada.</a:t>
            </a:r>
            <a:endParaRPr lang="en-US" sz="1050" dirty="0"/>
          </a:p>
        </p:txBody>
      </p:sp>
      <p:sp>
        <p:nvSpPr>
          <p:cNvPr id="30" name="Shape 26"/>
          <p:cNvSpPr/>
          <p:nvPr/>
        </p:nvSpPr>
        <p:spPr>
          <a:xfrm>
            <a:off x="7589520" y="2532888"/>
            <a:ext cx="201168" cy="0"/>
          </a:xfrm>
          <a:prstGeom prst="line">
            <a:avLst/>
          </a:prstGeom>
          <a:noFill/>
          <a:ln w="12700">
            <a:solidFill>
              <a:srgbClr val="D6DFE8"/>
            </a:solidFill>
            <a:prstDash val="solid"/>
            <a:tailEnd type="triangle"/>
          </a:ln>
        </p:spPr>
        <p:txBody>
          <a:bodyPr/>
          <a:lstStyle/>
          <a:p>
            <a:endParaRPr lang="en-ES"/>
          </a:p>
        </p:txBody>
      </p:sp>
      <p:sp>
        <p:nvSpPr>
          <p:cNvPr id="31" name="Shape 27"/>
          <p:cNvSpPr/>
          <p:nvPr/>
        </p:nvSpPr>
        <p:spPr>
          <a:xfrm>
            <a:off x="9217152" y="2532888"/>
            <a:ext cx="201168" cy="0"/>
          </a:xfrm>
          <a:prstGeom prst="line">
            <a:avLst/>
          </a:prstGeom>
          <a:noFill/>
          <a:ln w="12700">
            <a:solidFill>
              <a:srgbClr val="D6DFE8"/>
            </a:solidFill>
            <a:prstDash val="solid"/>
            <a:tailEnd type="triangle"/>
          </a:ln>
        </p:spPr>
        <p:txBody>
          <a:bodyPr/>
          <a:lstStyle/>
          <a:p>
            <a:endParaRPr lang="en-ES"/>
          </a:p>
        </p:txBody>
      </p:sp>
      <p:sp>
        <p:nvSpPr>
          <p:cNvPr id="32" name="Shape 28"/>
          <p:cNvSpPr/>
          <p:nvPr/>
        </p:nvSpPr>
        <p:spPr>
          <a:xfrm>
            <a:off x="6355080" y="3584448"/>
            <a:ext cx="4983480" cy="1508760"/>
          </a:xfrm>
          <a:prstGeom prst="roundRect">
            <a:avLst>
              <a:gd name="adj" fmla="val 4848"/>
            </a:avLst>
          </a:prstGeom>
          <a:solidFill>
            <a:srgbClr val="F7F9FC"/>
          </a:solidFill>
          <a:ln w="12700">
            <a:solidFill>
              <a:srgbClr val="D6DFE8"/>
            </a:solidFill>
            <a:prstDash val="solid"/>
          </a:ln>
        </p:spPr>
        <p:txBody>
          <a:bodyPr/>
          <a:lstStyle/>
          <a:p>
            <a:endParaRPr lang="en-ES"/>
          </a:p>
        </p:txBody>
      </p:sp>
      <p:sp>
        <p:nvSpPr>
          <p:cNvPr id="33" name="Text 29"/>
          <p:cNvSpPr/>
          <p:nvPr/>
        </p:nvSpPr>
        <p:spPr>
          <a:xfrm>
            <a:off x="6565392" y="3822192"/>
            <a:ext cx="182880" cy="164592"/>
          </a:xfrm>
          <a:prstGeom prst="rect">
            <a:avLst/>
          </a:prstGeom>
          <a:noFill/>
          <a:ln/>
        </p:spPr>
        <p:txBody>
          <a:bodyPr wrap="square" lIns="0" tIns="0" rIns="0" bIns="0" rtlCol="0" anchor="ctr"/>
          <a:lstStyle/>
          <a:p>
            <a:pPr marL="0" indent="0">
              <a:buNone/>
            </a:pPr>
            <a:r>
              <a:rPr lang="en-US" sz="1080" b="1" dirty="0">
                <a:solidFill>
                  <a:srgbClr val="FF6B57"/>
                </a:solidFill>
                <a:latin typeface="Arial" pitchFamily="34" charset="0"/>
                <a:ea typeface="Arial" pitchFamily="34" charset="-122"/>
                <a:cs typeface="Arial" pitchFamily="34" charset="-120"/>
              </a:rPr>
              <a:t>•</a:t>
            </a:r>
            <a:endParaRPr lang="en-US" sz="1080" dirty="0"/>
          </a:p>
        </p:txBody>
      </p:sp>
      <p:sp>
        <p:nvSpPr>
          <p:cNvPr id="34" name="Text 30"/>
          <p:cNvSpPr/>
          <p:nvPr/>
        </p:nvSpPr>
        <p:spPr>
          <a:xfrm>
            <a:off x="6784848" y="3813048"/>
            <a:ext cx="4306824" cy="164592"/>
          </a:xfrm>
          <a:prstGeom prst="rect">
            <a:avLst/>
          </a:prstGeom>
          <a:noFill/>
          <a:ln/>
        </p:spPr>
        <p:txBody>
          <a:bodyPr wrap="square" lIns="0" tIns="0" rIns="0" bIns="0" rtlCol="0" anchor="ctr"/>
          <a:lstStyle/>
          <a:p>
            <a:pPr marL="0" indent="0">
              <a:buNone/>
            </a:pPr>
            <a:r>
              <a:rPr lang="en-US" sz="1080" dirty="0">
                <a:solidFill>
                  <a:srgbClr val="243746"/>
                </a:solidFill>
                <a:latin typeface="Arial" pitchFamily="34" charset="0"/>
                <a:ea typeface="Arial" pitchFamily="34" charset="-122"/>
                <a:cs typeface="Arial" pitchFamily="34" charset="-120"/>
              </a:rPr>
              <a:t>Rutas privadas solo accesibles con sesión válida.</a:t>
            </a:r>
            <a:endParaRPr lang="en-US" sz="1080" dirty="0"/>
          </a:p>
        </p:txBody>
      </p:sp>
      <p:sp>
        <p:nvSpPr>
          <p:cNvPr id="35" name="Text 31"/>
          <p:cNvSpPr/>
          <p:nvPr/>
        </p:nvSpPr>
        <p:spPr>
          <a:xfrm>
            <a:off x="6565392" y="4123944"/>
            <a:ext cx="182880" cy="164592"/>
          </a:xfrm>
          <a:prstGeom prst="rect">
            <a:avLst/>
          </a:prstGeom>
          <a:noFill/>
          <a:ln/>
        </p:spPr>
        <p:txBody>
          <a:bodyPr wrap="square" lIns="0" tIns="0" rIns="0" bIns="0" rtlCol="0" anchor="ctr"/>
          <a:lstStyle/>
          <a:p>
            <a:pPr marL="0" indent="0">
              <a:buNone/>
            </a:pPr>
            <a:r>
              <a:rPr lang="en-US" sz="1080" b="1" dirty="0">
                <a:solidFill>
                  <a:srgbClr val="FF6B57"/>
                </a:solidFill>
                <a:latin typeface="Arial" pitchFamily="34" charset="0"/>
                <a:ea typeface="Arial" pitchFamily="34" charset="-122"/>
                <a:cs typeface="Arial" pitchFamily="34" charset="-120"/>
              </a:rPr>
              <a:t>•</a:t>
            </a:r>
            <a:endParaRPr lang="en-US" sz="1080" dirty="0"/>
          </a:p>
        </p:txBody>
      </p:sp>
      <p:sp>
        <p:nvSpPr>
          <p:cNvPr id="36" name="Text 32"/>
          <p:cNvSpPr/>
          <p:nvPr/>
        </p:nvSpPr>
        <p:spPr>
          <a:xfrm>
            <a:off x="6784848" y="4114800"/>
            <a:ext cx="4306824" cy="164592"/>
          </a:xfrm>
          <a:prstGeom prst="rect">
            <a:avLst/>
          </a:prstGeom>
          <a:noFill/>
          <a:ln/>
        </p:spPr>
        <p:txBody>
          <a:bodyPr wrap="square" lIns="0" tIns="0" rIns="0" bIns="0" rtlCol="0" anchor="ctr"/>
          <a:lstStyle/>
          <a:p>
            <a:pPr marL="0" indent="0">
              <a:buNone/>
            </a:pPr>
            <a:r>
              <a:rPr lang="en-US" sz="1080" dirty="0">
                <a:solidFill>
                  <a:srgbClr val="243746"/>
                </a:solidFill>
                <a:latin typeface="Arial" pitchFamily="34" charset="0"/>
                <a:ea typeface="Arial" pitchFamily="34" charset="-122"/>
                <a:cs typeface="Arial" pitchFamily="34" charset="-120"/>
              </a:rPr>
              <a:t>Refresh token persistido para renovar acceso sin cortar el flujo.</a:t>
            </a:r>
            <a:endParaRPr lang="en-US" sz="1080" dirty="0"/>
          </a:p>
        </p:txBody>
      </p:sp>
      <p:sp>
        <p:nvSpPr>
          <p:cNvPr id="37" name="Text 33"/>
          <p:cNvSpPr/>
          <p:nvPr/>
        </p:nvSpPr>
        <p:spPr>
          <a:xfrm>
            <a:off x="6565392" y="4425696"/>
            <a:ext cx="182880" cy="164592"/>
          </a:xfrm>
          <a:prstGeom prst="rect">
            <a:avLst/>
          </a:prstGeom>
          <a:noFill/>
          <a:ln/>
        </p:spPr>
        <p:txBody>
          <a:bodyPr wrap="square" lIns="0" tIns="0" rIns="0" bIns="0" rtlCol="0" anchor="ctr"/>
          <a:lstStyle/>
          <a:p>
            <a:pPr marL="0" indent="0">
              <a:buNone/>
            </a:pPr>
            <a:r>
              <a:rPr lang="en-US" sz="1080" b="1" dirty="0">
                <a:solidFill>
                  <a:srgbClr val="FF6B57"/>
                </a:solidFill>
                <a:latin typeface="Arial" pitchFamily="34" charset="0"/>
                <a:ea typeface="Arial" pitchFamily="34" charset="-122"/>
                <a:cs typeface="Arial" pitchFamily="34" charset="-120"/>
              </a:rPr>
              <a:t>•</a:t>
            </a:r>
            <a:endParaRPr lang="en-US" sz="1080" dirty="0"/>
          </a:p>
        </p:txBody>
      </p:sp>
      <p:sp>
        <p:nvSpPr>
          <p:cNvPr id="38" name="Text 34"/>
          <p:cNvSpPr/>
          <p:nvPr/>
        </p:nvSpPr>
        <p:spPr>
          <a:xfrm>
            <a:off x="6784848" y="4416552"/>
            <a:ext cx="4306824" cy="164592"/>
          </a:xfrm>
          <a:prstGeom prst="rect">
            <a:avLst/>
          </a:prstGeom>
          <a:noFill/>
          <a:ln/>
        </p:spPr>
        <p:txBody>
          <a:bodyPr wrap="square" lIns="0" tIns="0" rIns="0" bIns="0" rtlCol="0" anchor="ctr"/>
          <a:lstStyle/>
          <a:p>
            <a:pPr marL="0" indent="0">
              <a:buNone/>
            </a:pPr>
            <a:r>
              <a:rPr lang="en-US" sz="1080" dirty="0">
                <a:solidFill>
                  <a:srgbClr val="243746"/>
                </a:solidFill>
                <a:latin typeface="Arial" pitchFamily="34" charset="0"/>
                <a:ea typeface="Arial" pitchFamily="34" charset="-122"/>
                <a:cs typeface="Arial" pitchFamily="34" charset="-120"/>
              </a:rPr>
              <a:t>Logout explícito que revoca la continuidad de la sesión.</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Proyectos y miembros</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usuario crea espacios de trabajo compartidos y asigna colaboración con permisos sencillos.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8</a:t>
            </a:r>
            <a:endParaRPr lang="en-US" sz="950" dirty="0"/>
          </a:p>
        </p:txBody>
      </p:sp>
      <p:sp>
        <p:nvSpPr>
          <p:cNvPr id="11" name="Shape 8"/>
          <p:cNvSpPr/>
          <p:nvPr/>
        </p:nvSpPr>
        <p:spPr>
          <a:xfrm>
            <a:off x="640080" y="1755648"/>
            <a:ext cx="5486400" cy="3822192"/>
          </a:xfrm>
          <a:prstGeom prst="roundRect">
            <a:avLst>
              <a:gd name="adj" fmla="val 1914"/>
            </a:avLst>
          </a:prstGeom>
          <a:solidFill>
            <a:srgbClr val="FFFFFF"/>
          </a:solidFill>
          <a:ln w="12700">
            <a:solidFill>
              <a:srgbClr val="D6DFE8"/>
            </a:solidFill>
            <a:prstDash val="solid"/>
          </a:ln>
        </p:spPr>
        <p:txBody>
          <a:bodyPr/>
          <a:lstStyle/>
          <a:p>
            <a:endParaRPr lang="en-ES"/>
          </a:p>
        </p:txBody>
      </p:sp>
      <p:pic>
        <p:nvPicPr>
          <p:cNvPr id="12" name="Image 0" descr="docs/presentation/assets/03-projects.png"/>
          <p:cNvPicPr>
            <a:picLocks noChangeAspect="1"/>
          </p:cNvPicPr>
          <p:nvPr/>
        </p:nvPicPr>
        <p:blipFill>
          <a:blip r:embed="rId3"/>
          <a:stretch>
            <a:fillRect/>
          </a:stretch>
        </p:blipFill>
        <p:spPr>
          <a:xfrm>
            <a:off x="713232" y="1828800"/>
            <a:ext cx="5340096" cy="3456432"/>
          </a:xfrm>
          <a:prstGeom prst="rect">
            <a:avLst/>
          </a:prstGeom>
        </p:spPr>
      </p:pic>
      <p:sp>
        <p:nvSpPr>
          <p:cNvPr id="13" name="Shape 9"/>
          <p:cNvSpPr/>
          <p:nvPr/>
        </p:nvSpPr>
        <p:spPr>
          <a:xfrm>
            <a:off x="640080" y="5266944"/>
            <a:ext cx="5486400" cy="0"/>
          </a:xfrm>
          <a:prstGeom prst="line">
            <a:avLst/>
          </a:prstGeom>
          <a:noFill/>
          <a:ln w="12700">
            <a:solidFill>
              <a:srgbClr val="D6DFE8"/>
            </a:solidFill>
            <a:prstDash val="solid"/>
          </a:ln>
        </p:spPr>
        <p:txBody>
          <a:bodyPr/>
          <a:lstStyle/>
          <a:p>
            <a:endParaRPr lang="en-ES"/>
          </a:p>
        </p:txBody>
      </p:sp>
      <p:sp>
        <p:nvSpPr>
          <p:cNvPr id="14" name="Text 10"/>
          <p:cNvSpPr/>
          <p:nvPr/>
        </p:nvSpPr>
        <p:spPr>
          <a:xfrm>
            <a:off x="749808" y="5321808"/>
            <a:ext cx="526694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Vista de proyectos con acceso al espacio de trabajo principal.</a:t>
            </a:r>
            <a:endParaRPr lang="en-US" sz="900" dirty="0"/>
          </a:p>
        </p:txBody>
      </p:sp>
      <p:sp>
        <p:nvSpPr>
          <p:cNvPr id="15" name="Shape 11"/>
          <p:cNvSpPr/>
          <p:nvPr/>
        </p:nvSpPr>
        <p:spPr>
          <a:xfrm>
            <a:off x="6355080" y="1755648"/>
            <a:ext cx="5212080" cy="3822192"/>
          </a:xfrm>
          <a:prstGeom prst="roundRect">
            <a:avLst>
              <a:gd name="adj" fmla="val 1914"/>
            </a:avLst>
          </a:prstGeom>
          <a:solidFill>
            <a:srgbClr val="FFFFFF"/>
          </a:solidFill>
          <a:ln w="12700">
            <a:solidFill>
              <a:srgbClr val="D6DFE8"/>
            </a:solidFill>
            <a:prstDash val="solid"/>
          </a:ln>
        </p:spPr>
        <p:txBody>
          <a:bodyPr/>
          <a:lstStyle/>
          <a:p>
            <a:endParaRPr lang="en-ES"/>
          </a:p>
        </p:txBody>
      </p:sp>
      <p:pic>
        <p:nvPicPr>
          <p:cNvPr id="16" name="Image 1" descr="docs/presentation/assets/04-project-members.png"/>
          <p:cNvPicPr>
            <a:picLocks noChangeAspect="1"/>
          </p:cNvPicPr>
          <p:nvPr/>
        </p:nvPicPr>
        <p:blipFill>
          <a:blip r:embed="rId4"/>
          <a:stretch>
            <a:fillRect/>
          </a:stretch>
        </p:blipFill>
        <p:spPr>
          <a:xfrm>
            <a:off x="6428232" y="1828800"/>
            <a:ext cx="5065776" cy="3456432"/>
          </a:xfrm>
          <a:prstGeom prst="rect">
            <a:avLst/>
          </a:prstGeom>
        </p:spPr>
      </p:pic>
      <p:sp>
        <p:nvSpPr>
          <p:cNvPr id="17" name="Shape 12"/>
          <p:cNvSpPr/>
          <p:nvPr/>
        </p:nvSpPr>
        <p:spPr>
          <a:xfrm>
            <a:off x="6355080" y="5266944"/>
            <a:ext cx="5212080" cy="0"/>
          </a:xfrm>
          <a:prstGeom prst="line">
            <a:avLst/>
          </a:prstGeom>
          <a:noFill/>
          <a:ln w="12700">
            <a:solidFill>
              <a:srgbClr val="D6DFE8"/>
            </a:solidFill>
            <a:prstDash val="solid"/>
          </a:ln>
        </p:spPr>
        <p:txBody>
          <a:bodyPr/>
          <a:lstStyle/>
          <a:p>
            <a:endParaRPr lang="en-ES"/>
          </a:p>
        </p:txBody>
      </p:sp>
      <p:sp>
        <p:nvSpPr>
          <p:cNvPr id="18" name="Text 13"/>
          <p:cNvSpPr/>
          <p:nvPr/>
        </p:nvSpPr>
        <p:spPr>
          <a:xfrm>
            <a:off x="6464808" y="5321808"/>
            <a:ext cx="499262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Modal de miembros para compartir el proyecto con colaboradores.</a:t>
            </a:r>
            <a:endParaRPr lang="en-US" sz="900" dirty="0"/>
          </a:p>
        </p:txBody>
      </p:sp>
      <p:sp>
        <p:nvSpPr>
          <p:cNvPr id="19" name="Shape 14"/>
          <p:cNvSpPr/>
          <p:nvPr/>
        </p:nvSpPr>
        <p:spPr>
          <a:xfrm>
            <a:off x="841248" y="5440680"/>
            <a:ext cx="3383280" cy="694944"/>
          </a:xfrm>
          <a:prstGeom prst="roundRect">
            <a:avLst>
              <a:gd name="adj" fmla="val 10526"/>
            </a:avLst>
          </a:prstGeom>
          <a:solidFill>
            <a:srgbClr val="EEF5FB"/>
          </a:solidFill>
          <a:ln w="12700">
            <a:solidFill>
              <a:srgbClr val="D6DFE8"/>
            </a:solidFill>
            <a:prstDash val="solid"/>
          </a:ln>
        </p:spPr>
        <p:txBody>
          <a:bodyPr/>
          <a:lstStyle/>
          <a:p>
            <a:endParaRPr lang="en-ES"/>
          </a:p>
        </p:txBody>
      </p:sp>
      <p:sp>
        <p:nvSpPr>
          <p:cNvPr id="20" name="Shape 15"/>
          <p:cNvSpPr/>
          <p:nvPr/>
        </p:nvSpPr>
        <p:spPr>
          <a:xfrm>
            <a:off x="841248" y="5440680"/>
            <a:ext cx="91440" cy="694944"/>
          </a:xfrm>
          <a:prstGeom prst="rect">
            <a:avLst/>
          </a:prstGeom>
          <a:solidFill>
            <a:srgbClr val="183B56"/>
          </a:solidFill>
          <a:ln w="12700">
            <a:solidFill>
              <a:srgbClr val="183B56"/>
            </a:solidFill>
            <a:prstDash val="solid"/>
          </a:ln>
        </p:spPr>
        <p:txBody>
          <a:bodyPr/>
          <a:lstStyle/>
          <a:p>
            <a:endParaRPr lang="en-ES"/>
          </a:p>
        </p:txBody>
      </p:sp>
      <p:sp>
        <p:nvSpPr>
          <p:cNvPr id="21" name="Text 16"/>
          <p:cNvSpPr/>
          <p:nvPr/>
        </p:nvSpPr>
        <p:spPr>
          <a:xfrm>
            <a:off x="1060704" y="5605272"/>
            <a:ext cx="307238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Alta</a:t>
            </a:r>
            <a:endParaRPr lang="en-US" sz="1300" dirty="0"/>
          </a:p>
        </p:txBody>
      </p:sp>
      <p:sp>
        <p:nvSpPr>
          <p:cNvPr id="22" name="Text 17"/>
          <p:cNvSpPr/>
          <p:nvPr/>
        </p:nvSpPr>
        <p:spPr>
          <a:xfrm>
            <a:off x="1060704" y="5879592"/>
            <a:ext cx="3072384" cy="164592"/>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Crear proyecto y fijar un contexto común de trabajo.</a:t>
            </a:r>
            <a:endParaRPr lang="en-US" sz="1150" dirty="0"/>
          </a:p>
        </p:txBody>
      </p:sp>
      <p:sp>
        <p:nvSpPr>
          <p:cNvPr id="23" name="Shape 18"/>
          <p:cNvSpPr/>
          <p:nvPr/>
        </p:nvSpPr>
        <p:spPr>
          <a:xfrm>
            <a:off x="4407408" y="5440680"/>
            <a:ext cx="3383280" cy="694944"/>
          </a:xfrm>
          <a:prstGeom prst="roundRect">
            <a:avLst>
              <a:gd name="adj" fmla="val 10526"/>
            </a:avLst>
          </a:prstGeom>
          <a:solidFill>
            <a:srgbClr val="FFF1EE"/>
          </a:solidFill>
          <a:ln w="12700">
            <a:solidFill>
              <a:srgbClr val="D6DFE8"/>
            </a:solidFill>
            <a:prstDash val="solid"/>
          </a:ln>
        </p:spPr>
        <p:txBody>
          <a:bodyPr/>
          <a:lstStyle/>
          <a:p>
            <a:endParaRPr lang="en-ES"/>
          </a:p>
        </p:txBody>
      </p:sp>
      <p:sp>
        <p:nvSpPr>
          <p:cNvPr id="24" name="Shape 19"/>
          <p:cNvSpPr/>
          <p:nvPr/>
        </p:nvSpPr>
        <p:spPr>
          <a:xfrm>
            <a:off x="4407408" y="5440680"/>
            <a:ext cx="91440" cy="694944"/>
          </a:xfrm>
          <a:prstGeom prst="rect">
            <a:avLst/>
          </a:prstGeom>
          <a:solidFill>
            <a:srgbClr val="FF6B57"/>
          </a:solidFill>
          <a:ln w="12700">
            <a:solidFill>
              <a:srgbClr val="FF6B57"/>
            </a:solidFill>
            <a:prstDash val="solid"/>
          </a:ln>
        </p:spPr>
        <p:txBody>
          <a:bodyPr/>
          <a:lstStyle/>
          <a:p>
            <a:endParaRPr lang="en-ES"/>
          </a:p>
        </p:txBody>
      </p:sp>
      <p:sp>
        <p:nvSpPr>
          <p:cNvPr id="25" name="Text 20"/>
          <p:cNvSpPr/>
          <p:nvPr/>
        </p:nvSpPr>
        <p:spPr>
          <a:xfrm>
            <a:off x="4626864" y="5605272"/>
            <a:ext cx="307238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Colaboración</a:t>
            </a:r>
            <a:endParaRPr lang="en-US" sz="1300" dirty="0"/>
          </a:p>
        </p:txBody>
      </p:sp>
      <p:sp>
        <p:nvSpPr>
          <p:cNvPr id="26" name="Text 21"/>
          <p:cNvSpPr/>
          <p:nvPr/>
        </p:nvSpPr>
        <p:spPr>
          <a:xfrm>
            <a:off x="4626864" y="5879592"/>
            <a:ext cx="3072384" cy="164592"/>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Añadir miembros para repartir edición y revisión.</a:t>
            </a:r>
            <a:endParaRPr lang="en-US" sz="1150" dirty="0"/>
          </a:p>
        </p:txBody>
      </p:sp>
      <p:sp>
        <p:nvSpPr>
          <p:cNvPr id="27" name="Shape 22"/>
          <p:cNvSpPr/>
          <p:nvPr/>
        </p:nvSpPr>
        <p:spPr>
          <a:xfrm>
            <a:off x="7973568" y="5440680"/>
            <a:ext cx="3383280" cy="694944"/>
          </a:xfrm>
          <a:prstGeom prst="roundRect">
            <a:avLst>
              <a:gd name="adj" fmla="val 10526"/>
            </a:avLst>
          </a:prstGeom>
          <a:solidFill>
            <a:srgbClr val="EDF8F2"/>
          </a:solidFill>
          <a:ln w="12700">
            <a:solidFill>
              <a:srgbClr val="D6DFE8"/>
            </a:solidFill>
            <a:prstDash val="solid"/>
          </a:ln>
        </p:spPr>
        <p:txBody>
          <a:bodyPr/>
          <a:lstStyle/>
          <a:p>
            <a:endParaRPr lang="en-ES"/>
          </a:p>
        </p:txBody>
      </p:sp>
      <p:sp>
        <p:nvSpPr>
          <p:cNvPr id="28" name="Shape 23"/>
          <p:cNvSpPr/>
          <p:nvPr/>
        </p:nvSpPr>
        <p:spPr>
          <a:xfrm>
            <a:off x="7973568" y="5440680"/>
            <a:ext cx="91440" cy="694944"/>
          </a:xfrm>
          <a:prstGeom prst="rect">
            <a:avLst/>
          </a:prstGeom>
          <a:solidFill>
            <a:srgbClr val="2FA36B"/>
          </a:solidFill>
          <a:ln w="12700">
            <a:solidFill>
              <a:srgbClr val="2FA36B"/>
            </a:solidFill>
            <a:prstDash val="solid"/>
          </a:ln>
        </p:spPr>
        <p:txBody>
          <a:bodyPr/>
          <a:lstStyle/>
          <a:p>
            <a:endParaRPr lang="en-ES"/>
          </a:p>
        </p:txBody>
      </p:sp>
      <p:sp>
        <p:nvSpPr>
          <p:cNvPr id="29" name="Text 24"/>
          <p:cNvSpPr/>
          <p:nvPr/>
        </p:nvSpPr>
        <p:spPr>
          <a:xfrm>
            <a:off x="8193024" y="5605272"/>
            <a:ext cx="307238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Permisos</a:t>
            </a:r>
            <a:endParaRPr lang="en-US" sz="1300" dirty="0"/>
          </a:p>
        </p:txBody>
      </p:sp>
      <p:sp>
        <p:nvSpPr>
          <p:cNvPr id="30" name="Text 25"/>
          <p:cNvSpPr/>
          <p:nvPr/>
        </p:nvSpPr>
        <p:spPr>
          <a:xfrm>
            <a:off x="8193024" y="5879592"/>
            <a:ext cx="3072384" cy="164592"/>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Owner gestiona el espacio y Member opera dentro del alcance asignado.</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Páginas y versiones</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jerarquía permite agrupar recursos por pantalla y separar trabajo en borrador de la versión de referencia.</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9</a:t>
            </a:r>
            <a:endParaRPr lang="en-US" sz="950" dirty="0"/>
          </a:p>
        </p:txBody>
      </p:sp>
      <p:sp>
        <p:nvSpPr>
          <p:cNvPr id="11" name="Shape 8"/>
          <p:cNvSpPr/>
          <p:nvPr/>
        </p:nvSpPr>
        <p:spPr>
          <a:xfrm>
            <a:off x="640080" y="1755648"/>
            <a:ext cx="5486400" cy="3822192"/>
          </a:xfrm>
          <a:prstGeom prst="roundRect">
            <a:avLst>
              <a:gd name="adj" fmla="val 1914"/>
            </a:avLst>
          </a:prstGeom>
          <a:solidFill>
            <a:srgbClr val="FFFFFF"/>
          </a:solidFill>
          <a:ln w="12700">
            <a:solidFill>
              <a:srgbClr val="D6DFE8"/>
            </a:solidFill>
            <a:prstDash val="solid"/>
          </a:ln>
        </p:spPr>
        <p:txBody>
          <a:bodyPr/>
          <a:lstStyle/>
          <a:p>
            <a:endParaRPr lang="en-ES"/>
          </a:p>
        </p:txBody>
      </p:sp>
      <p:pic>
        <p:nvPicPr>
          <p:cNvPr id="12" name="Image 0" descr="docs/presentation/assets/05-pages.png"/>
          <p:cNvPicPr>
            <a:picLocks noChangeAspect="1"/>
          </p:cNvPicPr>
          <p:nvPr/>
        </p:nvPicPr>
        <p:blipFill>
          <a:blip r:embed="rId3"/>
          <a:stretch>
            <a:fillRect/>
          </a:stretch>
        </p:blipFill>
        <p:spPr>
          <a:xfrm>
            <a:off x="713232" y="1828800"/>
            <a:ext cx="5340096" cy="3456432"/>
          </a:xfrm>
          <a:prstGeom prst="rect">
            <a:avLst/>
          </a:prstGeom>
        </p:spPr>
      </p:pic>
      <p:sp>
        <p:nvSpPr>
          <p:cNvPr id="13" name="Shape 9"/>
          <p:cNvSpPr/>
          <p:nvPr/>
        </p:nvSpPr>
        <p:spPr>
          <a:xfrm>
            <a:off x="640080" y="5266944"/>
            <a:ext cx="5486400" cy="0"/>
          </a:xfrm>
          <a:prstGeom prst="line">
            <a:avLst/>
          </a:prstGeom>
          <a:noFill/>
          <a:ln w="12700">
            <a:solidFill>
              <a:srgbClr val="D6DFE8"/>
            </a:solidFill>
            <a:prstDash val="solid"/>
          </a:ln>
        </p:spPr>
        <p:txBody>
          <a:bodyPr/>
          <a:lstStyle/>
          <a:p>
            <a:endParaRPr lang="en-ES"/>
          </a:p>
        </p:txBody>
      </p:sp>
      <p:sp>
        <p:nvSpPr>
          <p:cNvPr id="14" name="Text 10"/>
          <p:cNvSpPr/>
          <p:nvPr/>
        </p:nvSpPr>
        <p:spPr>
          <a:xfrm>
            <a:off x="749808" y="5321808"/>
            <a:ext cx="526694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Lista de páginas asociadas al proyecto seleccionado.</a:t>
            </a:r>
            <a:endParaRPr lang="en-US" sz="900" dirty="0"/>
          </a:p>
        </p:txBody>
      </p:sp>
      <p:sp>
        <p:nvSpPr>
          <p:cNvPr id="15" name="Shape 11"/>
          <p:cNvSpPr/>
          <p:nvPr/>
        </p:nvSpPr>
        <p:spPr>
          <a:xfrm>
            <a:off x="6355080" y="1755648"/>
            <a:ext cx="5212080" cy="3822192"/>
          </a:xfrm>
          <a:prstGeom prst="roundRect">
            <a:avLst>
              <a:gd name="adj" fmla="val 1914"/>
            </a:avLst>
          </a:prstGeom>
          <a:solidFill>
            <a:srgbClr val="FFFFFF"/>
          </a:solidFill>
          <a:ln w="12700">
            <a:solidFill>
              <a:srgbClr val="D6DFE8"/>
            </a:solidFill>
            <a:prstDash val="solid"/>
          </a:ln>
        </p:spPr>
        <p:txBody>
          <a:bodyPr/>
          <a:lstStyle/>
          <a:p>
            <a:endParaRPr lang="en-ES"/>
          </a:p>
        </p:txBody>
      </p:sp>
      <p:pic>
        <p:nvPicPr>
          <p:cNvPr id="16" name="Image 1" descr="docs/presentation/assets/06-page-versions.png"/>
          <p:cNvPicPr>
            <a:picLocks noChangeAspect="1"/>
          </p:cNvPicPr>
          <p:nvPr/>
        </p:nvPicPr>
        <p:blipFill>
          <a:blip r:embed="rId4"/>
          <a:stretch>
            <a:fillRect/>
          </a:stretch>
        </p:blipFill>
        <p:spPr>
          <a:xfrm>
            <a:off x="6428232" y="1828800"/>
            <a:ext cx="5065776" cy="3456432"/>
          </a:xfrm>
          <a:prstGeom prst="rect">
            <a:avLst/>
          </a:prstGeom>
        </p:spPr>
      </p:pic>
      <p:sp>
        <p:nvSpPr>
          <p:cNvPr id="17" name="Shape 12"/>
          <p:cNvSpPr/>
          <p:nvPr/>
        </p:nvSpPr>
        <p:spPr>
          <a:xfrm>
            <a:off x="6355080" y="5266944"/>
            <a:ext cx="5212080" cy="0"/>
          </a:xfrm>
          <a:prstGeom prst="line">
            <a:avLst/>
          </a:prstGeom>
          <a:noFill/>
          <a:ln w="12700">
            <a:solidFill>
              <a:srgbClr val="D6DFE8"/>
            </a:solidFill>
            <a:prstDash val="solid"/>
          </a:ln>
        </p:spPr>
        <p:txBody>
          <a:bodyPr/>
          <a:lstStyle/>
          <a:p>
            <a:endParaRPr lang="en-ES"/>
          </a:p>
        </p:txBody>
      </p:sp>
      <p:sp>
        <p:nvSpPr>
          <p:cNvPr id="18" name="Text 13"/>
          <p:cNvSpPr/>
          <p:nvPr/>
        </p:nvSpPr>
        <p:spPr>
          <a:xfrm>
            <a:off x="6464808" y="5321808"/>
            <a:ext cx="499262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Gestión de versiones con indicación de la predeterminada.</a:t>
            </a:r>
            <a:endParaRPr lang="en-US" sz="900" dirty="0"/>
          </a:p>
        </p:txBody>
      </p:sp>
      <p:sp>
        <p:nvSpPr>
          <p:cNvPr id="19" name="Shape 14"/>
          <p:cNvSpPr/>
          <p:nvPr/>
        </p:nvSpPr>
        <p:spPr>
          <a:xfrm>
            <a:off x="822960" y="5440680"/>
            <a:ext cx="10561320" cy="676656"/>
          </a:xfrm>
          <a:prstGeom prst="roundRect">
            <a:avLst>
              <a:gd name="adj" fmla="val 10811"/>
            </a:avLst>
          </a:prstGeom>
          <a:solidFill>
            <a:srgbClr val="EEF3F8"/>
          </a:solidFill>
          <a:ln w="12700">
            <a:solidFill>
              <a:srgbClr val="D6DFE8"/>
            </a:solidFill>
            <a:prstDash val="solid"/>
          </a:ln>
        </p:spPr>
        <p:txBody>
          <a:bodyPr/>
          <a:lstStyle/>
          <a:p>
            <a:endParaRPr lang="en-ES"/>
          </a:p>
        </p:txBody>
      </p:sp>
      <p:sp>
        <p:nvSpPr>
          <p:cNvPr id="20" name="Text 15"/>
          <p:cNvSpPr/>
          <p:nvPr/>
        </p:nvSpPr>
        <p:spPr>
          <a:xfrm>
            <a:off x="1078992" y="5650992"/>
            <a:ext cx="10058400" cy="182880"/>
          </a:xfrm>
          <a:prstGeom prst="rect">
            <a:avLst/>
          </a:prstGeom>
          <a:noFill/>
          <a:ln/>
        </p:spPr>
        <p:txBody>
          <a:bodyPr wrap="square" lIns="0" tIns="0" rIns="0" bIns="0" rtlCol="0" anchor="ctr"/>
          <a:lstStyle/>
          <a:p>
            <a:pPr marL="0" indent="0" algn="ctr">
              <a:buNone/>
            </a:pPr>
            <a:r>
              <a:rPr lang="en-US" sz="1080" dirty="0">
                <a:solidFill>
                  <a:srgbClr val="183B56"/>
                </a:solidFill>
                <a:latin typeface="Arial" pitchFamily="34" charset="0"/>
                <a:ea typeface="Arial" pitchFamily="34" charset="-122"/>
                <a:cs typeface="Arial" pitchFamily="34" charset="-120"/>
              </a:rPr>
              <a:t>Regla clave: una versión puede editarse y otra marcarse como predeterminada para estabilizar el conjunto de recursos activo.</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Recursos e idiomas activos</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Cada recurso mantiene una clave única y un conjunto de traducciones ligado a los idiomas disponibles del proyecto.</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10</a:t>
            </a:r>
            <a:endParaRPr lang="en-US" sz="950" dirty="0"/>
          </a:p>
        </p:txBody>
      </p:sp>
      <p:sp>
        <p:nvSpPr>
          <p:cNvPr id="11" name="Shape 8"/>
          <p:cNvSpPr/>
          <p:nvPr/>
        </p:nvSpPr>
        <p:spPr>
          <a:xfrm>
            <a:off x="640080" y="1755648"/>
            <a:ext cx="5486400" cy="3840480"/>
          </a:xfrm>
          <a:prstGeom prst="roundRect">
            <a:avLst>
              <a:gd name="adj" fmla="val 1905"/>
            </a:avLst>
          </a:prstGeom>
          <a:solidFill>
            <a:srgbClr val="FFFFFF"/>
          </a:solidFill>
          <a:ln w="12700">
            <a:solidFill>
              <a:srgbClr val="D6DFE8"/>
            </a:solidFill>
            <a:prstDash val="solid"/>
          </a:ln>
        </p:spPr>
        <p:txBody>
          <a:bodyPr/>
          <a:lstStyle/>
          <a:p>
            <a:endParaRPr lang="en-ES"/>
          </a:p>
        </p:txBody>
      </p:sp>
      <p:pic>
        <p:nvPicPr>
          <p:cNvPr id="12" name="Image 0" descr="docs/presentation/assets/07-resources.png"/>
          <p:cNvPicPr>
            <a:picLocks noChangeAspect="1"/>
          </p:cNvPicPr>
          <p:nvPr/>
        </p:nvPicPr>
        <p:blipFill>
          <a:blip r:embed="rId3"/>
          <a:stretch>
            <a:fillRect/>
          </a:stretch>
        </p:blipFill>
        <p:spPr>
          <a:xfrm>
            <a:off x="713232" y="1828800"/>
            <a:ext cx="5340096" cy="3474720"/>
          </a:xfrm>
          <a:prstGeom prst="rect">
            <a:avLst/>
          </a:prstGeom>
        </p:spPr>
      </p:pic>
      <p:sp>
        <p:nvSpPr>
          <p:cNvPr id="13" name="Shape 9"/>
          <p:cNvSpPr/>
          <p:nvPr/>
        </p:nvSpPr>
        <p:spPr>
          <a:xfrm>
            <a:off x="640080" y="5285232"/>
            <a:ext cx="5486400" cy="0"/>
          </a:xfrm>
          <a:prstGeom prst="line">
            <a:avLst/>
          </a:prstGeom>
          <a:noFill/>
          <a:ln w="12700">
            <a:solidFill>
              <a:srgbClr val="D6DFE8"/>
            </a:solidFill>
            <a:prstDash val="solid"/>
          </a:ln>
        </p:spPr>
        <p:txBody>
          <a:bodyPr/>
          <a:lstStyle/>
          <a:p>
            <a:endParaRPr lang="en-ES"/>
          </a:p>
        </p:txBody>
      </p:sp>
      <p:sp>
        <p:nvSpPr>
          <p:cNvPr id="14" name="Text 10"/>
          <p:cNvSpPr/>
          <p:nvPr/>
        </p:nvSpPr>
        <p:spPr>
          <a:xfrm>
            <a:off x="749808" y="5340096"/>
            <a:ext cx="526694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Recursos de la versión con clave y descripción orientadas a desarrollo.</a:t>
            </a:r>
            <a:endParaRPr lang="en-US" sz="900" dirty="0"/>
          </a:p>
        </p:txBody>
      </p:sp>
      <p:sp>
        <p:nvSpPr>
          <p:cNvPr id="15" name="Shape 11"/>
          <p:cNvSpPr/>
          <p:nvPr/>
        </p:nvSpPr>
        <p:spPr>
          <a:xfrm>
            <a:off x="6355080" y="1755648"/>
            <a:ext cx="5212080" cy="3840480"/>
          </a:xfrm>
          <a:prstGeom prst="roundRect">
            <a:avLst>
              <a:gd name="adj" fmla="val 1905"/>
            </a:avLst>
          </a:prstGeom>
          <a:solidFill>
            <a:srgbClr val="FFFFFF"/>
          </a:solidFill>
          <a:ln w="12700">
            <a:solidFill>
              <a:srgbClr val="D6DFE8"/>
            </a:solidFill>
            <a:prstDash val="solid"/>
          </a:ln>
        </p:spPr>
        <p:txBody>
          <a:bodyPr/>
          <a:lstStyle/>
          <a:p>
            <a:endParaRPr lang="en-ES"/>
          </a:p>
        </p:txBody>
      </p:sp>
      <p:pic>
        <p:nvPicPr>
          <p:cNvPr id="16" name="Image 1" descr="docs/presentation/assets/08-translations.png"/>
          <p:cNvPicPr>
            <a:picLocks noChangeAspect="1"/>
          </p:cNvPicPr>
          <p:nvPr/>
        </p:nvPicPr>
        <p:blipFill>
          <a:blip r:embed="rId4"/>
          <a:stretch>
            <a:fillRect/>
          </a:stretch>
        </p:blipFill>
        <p:spPr>
          <a:xfrm>
            <a:off x="6428232" y="1828800"/>
            <a:ext cx="5065776" cy="3474720"/>
          </a:xfrm>
          <a:prstGeom prst="rect">
            <a:avLst/>
          </a:prstGeom>
        </p:spPr>
      </p:pic>
      <p:sp>
        <p:nvSpPr>
          <p:cNvPr id="17" name="Shape 12"/>
          <p:cNvSpPr/>
          <p:nvPr/>
        </p:nvSpPr>
        <p:spPr>
          <a:xfrm>
            <a:off x="6355080" y="5285232"/>
            <a:ext cx="5212080" cy="0"/>
          </a:xfrm>
          <a:prstGeom prst="line">
            <a:avLst/>
          </a:prstGeom>
          <a:noFill/>
          <a:ln w="12700">
            <a:solidFill>
              <a:srgbClr val="D6DFE8"/>
            </a:solidFill>
            <a:prstDash val="solid"/>
          </a:ln>
        </p:spPr>
        <p:txBody>
          <a:bodyPr/>
          <a:lstStyle/>
          <a:p>
            <a:endParaRPr lang="en-ES"/>
          </a:p>
        </p:txBody>
      </p:sp>
      <p:sp>
        <p:nvSpPr>
          <p:cNvPr id="18" name="Text 13"/>
          <p:cNvSpPr/>
          <p:nvPr/>
        </p:nvSpPr>
        <p:spPr>
          <a:xfrm>
            <a:off x="6464808" y="5340096"/>
            <a:ext cx="499262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Traducciones existentes para pt-br, es-es y en-uk.</a:t>
            </a:r>
            <a:endParaRPr lang="en-US" sz="900" dirty="0"/>
          </a:p>
        </p:txBody>
      </p:sp>
      <p:sp>
        <p:nvSpPr>
          <p:cNvPr id="19" name="Shape 14"/>
          <p:cNvSpPr/>
          <p:nvPr/>
        </p:nvSpPr>
        <p:spPr>
          <a:xfrm>
            <a:off x="932688" y="5468112"/>
            <a:ext cx="1554480" cy="256032"/>
          </a:xfrm>
          <a:prstGeom prst="roundRect">
            <a:avLst>
              <a:gd name="adj" fmla="val 25000"/>
            </a:avLst>
          </a:prstGeom>
          <a:solidFill>
            <a:srgbClr val="F7F9FC"/>
          </a:solidFill>
          <a:ln w="12700">
            <a:solidFill>
              <a:srgbClr val="183B56"/>
            </a:solidFill>
            <a:prstDash val="solid"/>
          </a:ln>
        </p:spPr>
        <p:txBody>
          <a:bodyPr/>
          <a:lstStyle/>
          <a:p>
            <a:endParaRPr lang="en-ES"/>
          </a:p>
        </p:txBody>
      </p:sp>
      <p:sp>
        <p:nvSpPr>
          <p:cNvPr id="20" name="Text 15"/>
          <p:cNvSpPr/>
          <p:nvPr/>
        </p:nvSpPr>
        <p:spPr>
          <a:xfrm>
            <a:off x="932688" y="5513832"/>
            <a:ext cx="15544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Idiomas soportados</a:t>
            </a:r>
            <a:endParaRPr lang="en-US" sz="950" dirty="0"/>
          </a:p>
        </p:txBody>
      </p:sp>
      <p:sp>
        <p:nvSpPr>
          <p:cNvPr id="21" name="Shape 16"/>
          <p:cNvSpPr/>
          <p:nvPr/>
        </p:nvSpPr>
        <p:spPr>
          <a:xfrm>
            <a:off x="2852928" y="5468112"/>
            <a:ext cx="914400" cy="256032"/>
          </a:xfrm>
          <a:prstGeom prst="roundRect">
            <a:avLst>
              <a:gd name="adj" fmla="val 25000"/>
            </a:avLst>
          </a:prstGeom>
          <a:solidFill>
            <a:srgbClr val="EDF8F2"/>
          </a:solidFill>
          <a:ln w="12700">
            <a:solidFill>
              <a:srgbClr val="2FA36B"/>
            </a:solidFill>
            <a:prstDash val="solid"/>
          </a:ln>
        </p:spPr>
        <p:txBody>
          <a:bodyPr/>
          <a:lstStyle/>
          <a:p>
            <a:endParaRPr lang="en-ES"/>
          </a:p>
        </p:txBody>
      </p:sp>
      <p:sp>
        <p:nvSpPr>
          <p:cNvPr id="22" name="Text 17"/>
          <p:cNvSpPr/>
          <p:nvPr/>
        </p:nvSpPr>
        <p:spPr>
          <a:xfrm>
            <a:off x="2852928" y="5513832"/>
            <a:ext cx="91440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pt-br</a:t>
            </a:r>
            <a:endParaRPr lang="en-US" sz="950" dirty="0"/>
          </a:p>
        </p:txBody>
      </p:sp>
      <p:sp>
        <p:nvSpPr>
          <p:cNvPr id="23" name="Shape 18"/>
          <p:cNvSpPr/>
          <p:nvPr/>
        </p:nvSpPr>
        <p:spPr>
          <a:xfrm>
            <a:off x="3977640" y="5468112"/>
            <a:ext cx="914400" cy="256032"/>
          </a:xfrm>
          <a:prstGeom prst="roundRect">
            <a:avLst>
              <a:gd name="adj" fmla="val 25000"/>
            </a:avLst>
          </a:prstGeom>
          <a:solidFill>
            <a:srgbClr val="FFF1EE"/>
          </a:solidFill>
          <a:ln w="12700">
            <a:solidFill>
              <a:srgbClr val="FF6B57"/>
            </a:solidFill>
            <a:prstDash val="solid"/>
          </a:ln>
        </p:spPr>
        <p:txBody>
          <a:bodyPr/>
          <a:lstStyle/>
          <a:p>
            <a:endParaRPr lang="en-ES"/>
          </a:p>
        </p:txBody>
      </p:sp>
      <p:sp>
        <p:nvSpPr>
          <p:cNvPr id="24" name="Text 19"/>
          <p:cNvSpPr/>
          <p:nvPr/>
        </p:nvSpPr>
        <p:spPr>
          <a:xfrm>
            <a:off x="3977640" y="5513832"/>
            <a:ext cx="91440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es-es</a:t>
            </a:r>
            <a:endParaRPr lang="en-US" sz="950" dirty="0"/>
          </a:p>
        </p:txBody>
      </p:sp>
      <p:sp>
        <p:nvSpPr>
          <p:cNvPr id="25" name="Shape 20"/>
          <p:cNvSpPr/>
          <p:nvPr/>
        </p:nvSpPr>
        <p:spPr>
          <a:xfrm>
            <a:off x="5102352" y="5468112"/>
            <a:ext cx="914400" cy="256032"/>
          </a:xfrm>
          <a:prstGeom prst="roundRect">
            <a:avLst>
              <a:gd name="adj" fmla="val 25000"/>
            </a:avLst>
          </a:prstGeom>
          <a:solidFill>
            <a:srgbClr val="EEF5FB"/>
          </a:solidFill>
          <a:ln w="12700">
            <a:solidFill>
              <a:srgbClr val="183B56"/>
            </a:solidFill>
            <a:prstDash val="solid"/>
          </a:ln>
        </p:spPr>
        <p:txBody>
          <a:bodyPr/>
          <a:lstStyle/>
          <a:p>
            <a:endParaRPr lang="en-ES"/>
          </a:p>
        </p:txBody>
      </p:sp>
      <p:sp>
        <p:nvSpPr>
          <p:cNvPr id="26" name="Text 21"/>
          <p:cNvSpPr/>
          <p:nvPr/>
        </p:nvSpPr>
        <p:spPr>
          <a:xfrm>
            <a:off x="5102352" y="5513832"/>
            <a:ext cx="91440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en-uk</a:t>
            </a:r>
            <a:endParaRPr lang="en-US" sz="950" dirty="0"/>
          </a:p>
        </p:txBody>
      </p:sp>
      <p:sp>
        <p:nvSpPr>
          <p:cNvPr id="27" name="Text 22"/>
          <p:cNvSpPr/>
          <p:nvPr/>
        </p:nvSpPr>
        <p:spPr>
          <a:xfrm>
            <a:off x="6537960" y="5486400"/>
            <a:ext cx="2377440" cy="164592"/>
          </a:xfrm>
          <a:prstGeom prst="rect">
            <a:avLst/>
          </a:prstGeom>
          <a:noFill/>
          <a:ln/>
        </p:spPr>
        <p:txBody>
          <a:bodyPr wrap="square" lIns="0" tIns="0" rIns="0" bIns="0" rtlCol="0" anchor="ctr"/>
          <a:lstStyle/>
          <a:p>
            <a:pPr marL="0" indent="0">
              <a:buNone/>
            </a:pPr>
            <a:r>
              <a:rPr lang="en-US" sz="1020" b="1" dirty="0">
                <a:solidFill>
                  <a:srgbClr val="183B56"/>
                </a:solidFill>
                <a:latin typeface="Arial" pitchFamily="34" charset="0"/>
                <a:ea typeface="Arial" pitchFamily="34" charset="-122"/>
                <a:cs typeface="Arial" pitchFamily="34" charset="-120"/>
              </a:rPr>
              <a:t>Ejemplo de clave: checkout.pay_button</a:t>
            </a:r>
            <a:endParaRPr lang="en-US" sz="1020" dirty="0"/>
          </a:p>
        </p:txBody>
      </p:sp>
      <p:sp>
        <p:nvSpPr>
          <p:cNvPr id="28" name="Text 23"/>
          <p:cNvSpPr/>
          <p:nvPr/>
        </p:nvSpPr>
        <p:spPr>
          <a:xfrm>
            <a:off x="8997696" y="5486400"/>
            <a:ext cx="2194560" cy="164592"/>
          </a:xfrm>
          <a:prstGeom prst="rect">
            <a:avLst/>
          </a:prstGeom>
          <a:noFill/>
          <a:ln/>
        </p:spPr>
        <p:txBody>
          <a:bodyPr wrap="square" lIns="0" tIns="0" rIns="0" bIns="0" rtlCol="0" anchor="ctr"/>
          <a:lstStyle/>
          <a:p>
            <a:pPr marL="0" indent="0" algn="r">
              <a:buNone/>
            </a:pPr>
            <a:r>
              <a:rPr lang="en-US" sz="1020" dirty="0">
                <a:solidFill>
                  <a:srgbClr val="5B6B7B"/>
                </a:solidFill>
                <a:latin typeface="Arial" pitchFamily="34" charset="0"/>
                <a:ea typeface="Arial" pitchFamily="34" charset="-122"/>
                <a:cs typeface="Arial" pitchFamily="34" charset="-120"/>
              </a:rPr>
              <a:t>Descripción: botón principal del flujo de pago.</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Traducción automática con guardado atómico</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herramienta calcula idiomas pendientes, consulta Structured Outputs y persiste el resultado como una sola operación.</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11</a:t>
            </a:r>
            <a:endParaRPr lang="en-US" sz="950" dirty="0"/>
          </a:p>
        </p:txBody>
      </p:sp>
      <p:sp>
        <p:nvSpPr>
          <p:cNvPr id="11" name="Shape 8"/>
          <p:cNvSpPr/>
          <p:nvPr/>
        </p:nvSpPr>
        <p:spPr>
          <a:xfrm>
            <a:off x="640080" y="1773936"/>
            <a:ext cx="5806440" cy="4169664"/>
          </a:xfrm>
          <a:prstGeom prst="roundRect">
            <a:avLst>
              <a:gd name="adj" fmla="val 1754"/>
            </a:avLst>
          </a:prstGeom>
          <a:solidFill>
            <a:srgbClr val="FFFFFF"/>
          </a:solidFill>
          <a:ln w="12700">
            <a:solidFill>
              <a:srgbClr val="D6DFE8"/>
            </a:solidFill>
            <a:prstDash val="solid"/>
          </a:ln>
        </p:spPr>
        <p:txBody>
          <a:bodyPr/>
          <a:lstStyle/>
          <a:p>
            <a:endParaRPr lang="en-ES"/>
          </a:p>
        </p:txBody>
      </p:sp>
      <p:pic>
        <p:nvPicPr>
          <p:cNvPr id="12" name="Image 0" descr="docs/presentation/assets/09-automatic-translations.png"/>
          <p:cNvPicPr>
            <a:picLocks noChangeAspect="1"/>
          </p:cNvPicPr>
          <p:nvPr/>
        </p:nvPicPr>
        <p:blipFill>
          <a:blip r:embed="rId3"/>
          <a:stretch>
            <a:fillRect/>
          </a:stretch>
        </p:blipFill>
        <p:spPr>
          <a:xfrm>
            <a:off x="713232" y="1847088"/>
            <a:ext cx="5660136" cy="3803904"/>
          </a:xfrm>
          <a:prstGeom prst="rect">
            <a:avLst/>
          </a:prstGeom>
        </p:spPr>
      </p:pic>
      <p:sp>
        <p:nvSpPr>
          <p:cNvPr id="13" name="Shape 9"/>
          <p:cNvSpPr/>
          <p:nvPr/>
        </p:nvSpPr>
        <p:spPr>
          <a:xfrm>
            <a:off x="640080" y="5632704"/>
            <a:ext cx="5806440" cy="0"/>
          </a:xfrm>
          <a:prstGeom prst="line">
            <a:avLst/>
          </a:prstGeom>
          <a:noFill/>
          <a:ln w="12700">
            <a:solidFill>
              <a:srgbClr val="D6DFE8"/>
            </a:solidFill>
            <a:prstDash val="solid"/>
          </a:ln>
        </p:spPr>
        <p:txBody>
          <a:bodyPr/>
          <a:lstStyle/>
          <a:p>
            <a:endParaRPr lang="en-ES"/>
          </a:p>
        </p:txBody>
      </p:sp>
      <p:sp>
        <p:nvSpPr>
          <p:cNvPr id="14" name="Text 10"/>
          <p:cNvSpPr/>
          <p:nvPr/>
        </p:nvSpPr>
        <p:spPr>
          <a:xfrm>
            <a:off x="749808" y="5687568"/>
            <a:ext cx="5586984" cy="164592"/>
          </a:xfrm>
          <a:prstGeom prst="rect">
            <a:avLst/>
          </a:prstGeom>
          <a:noFill/>
          <a:ln/>
        </p:spPr>
        <p:txBody>
          <a:bodyPr wrap="square" lIns="0" tIns="0" rIns="0" bIns="0" rtlCol="0" anchor="ctr"/>
          <a:lstStyle/>
          <a:p>
            <a:pPr marL="0" indent="0">
              <a:buNone/>
            </a:pPr>
            <a:r>
              <a:rPr lang="en-US" sz="900" dirty="0">
                <a:solidFill>
                  <a:srgbClr val="183B56"/>
                </a:solidFill>
                <a:latin typeface="Arial" pitchFamily="34" charset="0"/>
                <a:ea typeface="Arial" pitchFamily="34" charset="-122"/>
                <a:cs typeface="Arial" pitchFamily="34" charset="-120"/>
              </a:rPr>
              <a:t>Captura real · Modal de traducciones automáticas con idioma origen y destinos pendientes.</a:t>
            </a:r>
            <a:endParaRPr lang="en-US" sz="900" dirty="0"/>
          </a:p>
        </p:txBody>
      </p:sp>
      <p:sp>
        <p:nvSpPr>
          <p:cNvPr id="15" name="Shape 11"/>
          <p:cNvSpPr/>
          <p:nvPr/>
        </p:nvSpPr>
        <p:spPr>
          <a:xfrm>
            <a:off x="6812280" y="1828800"/>
            <a:ext cx="4572000" cy="786384"/>
          </a:xfrm>
          <a:prstGeom prst="roundRect">
            <a:avLst>
              <a:gd name="adj" fmla="val 9302"/>
            </a:avLst>
          </a:prstGeom>
          <a:solidFill>
            <a:srgbClr val="FFFFFF"/>
          </a:solidFill>
          <a:ln w="12700">
            <a:solidFill>
              <a:srgbClr val="D6DFE8"/>
            </a:solidFill>
            <a:prstDash val="solid"/>
          </a:ln>
        </p:spPr>
        <p:txBody>
          <a:bodyPr/>
          <a:lstStyle/>
          <a:p>
            <a:endParaRPr lang="en-ES"/>
          </a:p>
        </p:txBody>
      </p:sp>
      <p:sp>
        <p:nvSpPr>
          <p:cNvPr id="16" name="Shape 12"/>
          <p:cNvSpPr/>
          <p:nvPr/>
        </p:nvSpPr>
        <p:spPr>
          <a:xfrm>
            <a:off x="6976872" y="1975104"/>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17" name="Text 13"/>
          <p:cNvSpPr/>
          <p:nvPr/>
        </p:nvSpPr>
        <p:spPr>
          <a:xfrm>
            <a:off x="6976872" y="2020824"/>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01</a:t>
            </a:r>
            <a:endParaRPr lang="en-US" sz="950" dirty="0"/>
          </a:p>
        </p:txBody>
      </p:sp>
      <p:sp>
        <p:nvSpPr>
          <p:cNvPr id="18" name="Text 14"/>
          <p:cNvSpPr/>
          <p:nvPr/>
        </p:nvSpPr>
        <p:spPr>
          <a:xfrm>
            <a:off x="6976872" y="2304288"/>
            <a:ext cx="42428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Seleccionar origen</a:t>
            </a:r>
            <a:endParaRPr lang="en-US" sz="1250" dirty="0"/>
          </a:p>
        </p:txBody>
      </p:sp>
      <p:sp>
        <p:nvSpPr>
          <p:cNvPr id="19" name="Text 15"/>
          <p:cNvSpPr/>
          <p:nvPr/>
        </p:nvSpPr>
        <p:spPr>
          <a:xfrm>
            <a:off x="6976872" y="2578608"/>
            <a:ext cx="4242816" cy="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El usuario elige una traducción existente como base semántica.</a:t>
            </a:r>
            <a:endParaRPr lang="en-US" sz="1050" dirty="0"/>
          </a:p>
        </p:txBody>
      </p:sp>
      <p:sp>
        <p:nvSpPr>
          <p:cNvPr id="20" name="Shape 16"/>
          <p:cNvSpPr/>
          <p:nvPr/>
        </p:nvSpPr>
        <p:spPr>
          <a:xfrm>
            <a:off x="6812280" y="2798064"/>
            <a:ext cx="4572000" cy="786384"/>
          </a:xfrm>
          <a:prstGeom prst="roundRect">
            <a:avLst>
              <a:gd name="adj" fmla="val 9302"/>
            </a:avLst>
          </a:prstGeom>
          <a:solidFill>
            <a:srgbClr val="FFFFFF"/>
          </a:solidFill>
          <a:ln w="12700">
            <a:solidFill>
              <a:srgbClr val="D6DFE8"/>
            </a:solidFill>
            <a:prstDash val="solid"/>
          </a:ln>
        </p:spPr>
        <p:txBody>
          <a:bodyPr/>
          <a:lstStyle/>
          <a:p>
            <a:endParaRPr lang="en-ES"/>
          </a:p>
        </p:txBody>
      </p:sp>
      <p:sp>
        <p:nvSpPr>
          <p:cNvPr id="21" name="Shape 17"/>
          <p:cNvSpPr/>
          <p:nvPr/>
        </p:nvSpPr>
        <p:spPr>
          <a:xfrm>
            <a:off x="6976872" y="2944368"/>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22" name="Text 18"/>
          <p:cNvSpPr/>
          <p:nvPr/>
        </p:nvSpPr>
        <p:spPr>
          <a:xfrm>
            <a:off x="6976872" y="2990088"/>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02</a:t>
            </a:r>
            <a:endParaRPr lang="en-US" sz="950" dirty="0"/>
          </a:p>
        </p:txBody>
      </p:sp>
      <p:sp>
        <p:nvSpPr>
          <p:cNvPr id="23" name="Text 19"/>
          <p:cNvSpPr/>
          <p:nvPr/>
        </p:nvSpPr>
        <p:spPr>
          <a:xfrm>
            <a:off x="6976872" y="3273552"/>
            <a:ext cx="42428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Calcular pendientes</a:t>
            </a:r>
            <a:endParaRPr lang="en-US" sz="1250" dirty="0"/>
          </a:p>
        </p:txBody>
      </p:sp>
      <p:sp>
        <p:nvSpPr>
          <p:cNvPr id="24" name="Text 20"/>
          <p:cNvSpPr/>
          <p:nvPr/>
        </p:nvSpPr>
        <p:spPr>
          <a:xfrm>
            <a:off x="6976872" y="3547872"/>
            <a:ext cx="4242816" cy="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Se respetan los idiomas activos y se preserva el orden canónico pt-br, es-es, en-uk.</a:t>
            </a:r>
            <a:endParaRPr lang="en-US" sz="1050" dirty="0"/>
          </a:p>
        </p:txBody>
      </p:sp>
      <p:sp>
        <p:nvSpPr>
          <p:cNvPr id="25" name="Shape 21"/>
          <p:cNvSpPr/>
          <p:nvPr/>
        </p:nvSpPr>
        <p:spPr>
          <a:xfrm>
            <a:off x="6812280" y="3767328"/>
            <a:ext cx="4572000" cy="786384"/>
          </a:xfrm>
          <a:prstGeom prst="roundRect">
            <a:avLst>
              <a:gd name="adj" fmla="val 9302"/>
            </a:avLst>
          </a:prstGeom>
          <a:solidFill>
            <a:srgbClr val="FFFFFF"/>
          </a:solidFill>
          <a:ln w="12700">
            <a:solidFill>
              <a:srgbClr val="D6DFE8"/>
            </a:solidFill>
            <a:prstDash val="solid"/>
          </a:ln>
        </p:spPr>
        <p:txBody>
          <a:bodyPr/>
          <a:lstStyle/>
          <a:p>
            <a:endParaRPr lang="en-ES"/>
          </a:p>
        </p:txBody>
      </p:sp>
      <p:sp>
        <p:nvSpPr>
          <p:cNvPr id="26" name="Shape 22"/>
          <p:cNvSpPr/>
          <p:nvPr/>
        </p:nvSpPr>
        <p:spPr>
          <a:xfrm>
            <a:off x="6976872" y="3913632"/>
            <a:ext cx="640080" cy="256032"/>
          </a:xfrm>
          <a:prstGeom prst="roundRect">
            <a:avLst>
              <a:gd name="adj" fmla="val 25000"/>
            </a:avLst>
          </a:prstGeom>
          <a:solidFill>
            <a:srgbClr val="FFFFFF"/>
          </a:solidFill>
          <a:ln w="12700">
            <a:solidFill>
              <a:srgbClr val="2FA36B"/>
            </a:solidFill>
            <a:prstDash val="solid"/>
          </a:ln>
        </p:spPr>
        <p:txBody>
          <a:bodyPr/>
          <a:lstStyle/>
          <a:p>
            <a:endParaRPr lang="en-ES"/>
          </a:p>
        </p:txBody>
      </p:sp>
      <p:sp>
        <p:nvSpPr>
          <p:cNvPr id="27" name="Text 23"/>
          <p:cNvSpPr/>
          <p:nvPr/>
        </p:nvSpPr>
        <p:spPr>
          <a:xfrm>
            <a:off x="6976872" y="3959352"/>
            <a:ext cx="64008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03</a:t>
            </a:r>
            <a:endParaRPr lang="en-US" sz="950" dirty="0"/>
          </a:p>
        </p:txBody>
      </p:sp>
      <p:sp>
        <p:nvSpPr>
          <p:cNvPr id="28" name="Text 24"/>
          <p:cNvSpPr/>
          <p:nvPr/>
        </p:nvSpPr>
        <p:spPr>
          <a:xfrm>
            <a:off x="6976872" y="4242816"/>
            <a:ext cx="42428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Structured Outputs</a:t>
            </a:r>
            <a:endParaRPr lang="en-US" sz="1250" dirty="0"/>
          </a:p>
        </p:txBody>
      </p:sp>
      <p:sp>
        <p:nvSpPr>
          <p:cNvPr id="29" name="Text 25"/>
          <p:cNvSpPr/>
          <p:nvPr/>
        </p:nvSpPr>
        <p:spPr>
          <a:xfrm>
            <a:off x="6976872" y="4517136"/>
            <a:ext cx="4242816" cy="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La API solicita a OpenAI un resultado estructurado y validable.</a:t>
            </a:r>
            <a:endParaRPr lang="en-US" sz="1050" dirty="0"/>
          </a:p>
        </p:txBody>
      </p:sp>
      <p:sp>
        <p:nvSpPr>
          <p:cNvPr id="30" name="Shape 26"/>
          <p:cNvSpPr/>
          <p:nvPr/>
        </p:nvSpPr>
        <p:spPr>
          <a:xfrm>
            <a:off x="6812280" y="4736592"/>
            <a:ext cx="4572000" cy="786384"/>
          </a:xfrm>
          <a:prstGeom prst="roundRect">
            <a:avLst>
              <a:gd name="adj" fmla="val 9302"/>
            </a:avLst>
          </a:prstGeom>
          <a:solidFill>
            <a:srgbClr val="FFFFFF"/>
          </a:solidFill>
          <a:ln w="12700">
            <a:solidFill>
              <a:srgbClr val="D6DFE8"/>
            </a:solidFill>
            <a:prstDash val="solid"/>
          </a:ln>
        </p:spPr>
        <p:txBody>
          <a:bodyPr/>
          <a:lstStyle/>
          <a:p>
            <a:endParaRPr lang="en-ES"/>
          </a:p>
        </p:txBody>
      </p:sp>
      <p:sp>
        <p:nvSpPr>
          <p:cNvPr id="31" name="Shape 27"/>
          <p:cNvSpPr/>
          <p:nvPr/>
        </p:nvSpPr>
        <p:spPr>
          <a:xfrm>
            <a:off x="6976872" y="4882896"/>
            <a:ext cx="640080" cy="256032"/>
          </a:xfrm>
          <a:prstGeom prst="roundRect">
            <a:avLst>
              <a:gd name="adj" fmla="val 25000"/>
            </a:avLst>
          </a:prstGeom>
          <a:solidFill>
            <a:srgbClr val="FFFFFF"/>
          </a:solidFill>
          <a:ln w="12700">
            <a:solidFill>
              <a:srgbClr val="C58A2B"/>
            </a:solidFill>
            <a:prstDash val="solid"/>
          </a:ln>
        </p:spPr>
        <p:txBody>
          <a:bodyPr/>
          <a:lstStyle/>
          <a:p>
            <a:endParaRPr lang="en-ES"/>
          </a:p>
        </p:txBody>
      </p:sp>
      <p:sp>
        <p:nvSpPr>
          <p:cNvPr id="32" name="Text 28"/>
          <p:cNvSpPr/>
          <p:nvPr/>
        </p:nvSpPr>
        <p:spPr>
          <a:xfrm>
            <a:off x="6976872" y="4928616"/>
            <a:ext cx="640080" cy="109728"/>
          </a:xfrm>
          <a:prstGeom prst="rect">
            <a:avLst/>
          </a:prstGeom>
          <a:noFill/>
          <a:ln/>
        </p:spPr>
        <p:txBody>
          <a:bodyPr wrap="square" lIns="0" tIns="0" rIns="0" bIns="0" rtlCol="0" anchor="ctr"/>
          <a:lstStyle/>
          <a:p>
            <a:pPr marL="0" indent="0" algn="ctr">
              <a:buNone/>
            </a:pPr>
            <a:r>
              <a:rPr lang="en-US" sz="950" b="1" dirty="0">
                <a:solidFill>
                  <a:srgbClr val="C58A2B"/>
                </a:solidFill>
                <a:latin typeface="Arial" pitchFamily="34" charset="0"/>
                <a:ea typeface="Arial" pitchFamily="34" charset="-122"/>
                <a:cs typeface="Arial" pitchFamily="34" charset="-120"/>
              </a:rPr>
              <a:t>04</a:t>
            </a:r>
            <a:endParaRPr lang="en-US" sz="950" dirty="0"/>
          </a:p>
        </p:txBody>
      </p:sp>
      <p:sp>
        <p:nvSpPr>
          <p:cNvPr id="33" name="Text 29"/>
          <p:cNvSpPr/>
          <p:nvPr/>
        </p:nvSpPr>
        <p:spPr>
          <a:xfrm>
            <a:off x="6976872" y="5212080"/>
            <a:ext cx="42428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Persistir</a:t>
            </a:r>
            <a:endParaRPr lang="en-US" sz="1250" dirty="0"/>
          </a:p>
        </p:txBody>
      </p:sp>
      <p:sp>
        <p:nvSpPr>
          <p:cNvPr id="34" name="Text 30"/>
          <p:cNvSpPr/>
          <p:nvPr/>
        </p:nvSpPr>
        <p:spPr>
          <a:xfrm>
            <a:off x="6976872" y="5486400"/>
            <a:ext cx="4242816" cy="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Las nuevas traducciones se guardan o se cancelan en bloque.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Exportación JSON/XML</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salida final está diseñada, pero se presenta como alcance funcional porque no forma parte de las capturas implementadas.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12</a:t>
            </a:r>
            <a:endParaRPr lang="en-US" sz="950" dirty="0"/>
          </a:p>
        </p:txBody>
      </p:sp>
      <p:sp>
        <p:nvSpPr>
          <p:cNvPr id="11" name="Shape 8"/>
          <p:cNvSpPr/>
          <p:nvPr/>
        </p:nvSpPr>
        <p:spPr>
          <a:xfrm>
            <a:off x="9646920" y="841248"/>
            <a:ext cx="1737360" cy="256032"/>
          </a:xfrm>
          <a:prstGeom prst="roundRect">
            <a:avLst>
              <a:gd name="adj" fmla="val 25000"/>
            </a:avLst>
          </a:prstGeom>
          <a:solidFill>
            <a:srgbClr val="FFF1EE"/>
          </a:solidFill>
          <a:ln w="12700">
            <a:solidFill>
              <a:srgbClr val="FF6B57"/>
            </a:solidFill>
            <a:prstDash val="solid"/>
          </a:ln>
        </p:spPr>
        <p:txBody>
          <a:bodyPr/>
          <a:lstStyle/>
          <a:p>
            <a:endParaRPr lang="en-ES"/>
          </a:p>
        </p:txBody>
      </p:sp>
      <p:sp>
        <p:nvSpPr>
          <p:cNvPr id="12" name="Text 9"/>
          <p:cNvSpPr/>
          <p:nvPr/>
        </p:nvSpPr>
        <p:spPr>
          <a:xfrm>
            <a:off x="9646920" y="886968"/>
            <a:ext cx="173736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Alcance funcional</a:t>
            </a:r>
            <a:endParaRPr lang="en-US" sz="950" dirty="0"/>
          </a:p>
        </p:txBody>
      </p:sp>
      <p:sp>
        <p:nvSpPr>
          <p:cNvPr id="13" name="Shape 10"/>
          <p:cNvSpPr/>
          <p:nvPr/>
        </p:nvSpPr>
        <p:spPr>
          <a:xfrm>
            <a:off x="658368" y="1828800"/>
            <a:ext cx="5394960" cy="3154680"/>
          </a:xfrm>
          <a:prstGeom prst="roundRect">
            <a:avLst>
              <a:gd name="adj" fmla="val 2319"/>
            </a:avLst>
          </a:prstGeom>
          <a:solidFill>
            <a:srgbClr val="F7F9FC"/>
          </a:solidFill>
          <a:ln w="12700">
            <a:solidFill>
              <a:srgbClr val="D6DFE8"/>
            </a:solidFill>
            <a:prstDash val="solid"/>
          </a:ln>
        </p:spPr>
        <p:txBody>
          <a:bodyPr/>
          <a:lstStyle/>
          <a:p>
            <a:endParaRPr lang="en-ES"/>
          </a:p>
        </p:txBody>
      </p:sp>
      <p:sp>
        <p:nvSpPr>
          <p:cNvPr id="14" name="Text 11"/>
          <p:cNvSpPr/>
          <p:nvPr/>
        </p:nvSpPr>
        <p:spPr>
          <a:xfrm>
            <a:off x="822960" y="1975104"/>
            <a:ext cx="5065776" cy="164592"/>
          </a:xfrm>
          <a:prstGeom prst="rect">
            <a:avLst/>
          </a:prstGeom>
          <a:noFill/>
          <a:ln/>
        </p:spPr>
        <p:txBody>
          <a:bodyPr wrap="square" lIns="0" tIns="0" rIns="0" bIns="0" rtlCol="0" anchor="ctr"/>
          <a:lstStyle/>
          <a:p>
            <a:pPr marL="0" indent="0">
              <a:buNone/>
            </a:pPr>
            <a:r>
              <a:rPr lang="en-US" sz="1100" b="1" dirty="0">
                <a:solidFill>
                  <a:srgbClr val="183B56"/>
                </a:solidFill>
                <a:latin typeface="Arial" pitchFamily="34" charset="0"/>
                <a:ea typeface="Arial" pitchFamily="34" charset="-122"/>
                <a:cs typeface="Arial" pitchFamily="34" charset="-120"/>
              </a:rPr>
              <a:t>Salida JSON</a:t>
            </a:r>
            <a:endParaRPr lang="en-US" sz="1100" dirty="0"/>
          </a:p>
        </p:txBody>
      </p:sp>
      <p:sp>
        <p:nvSpPr>
          <p:cNvPr id="15" name="Text 12"/>
          <p:cNvSpPr/>
          <p:nvPr/>
        </p:nvSpPr>
        <p:spPr>
          <a:xfrm>
            <a:off x="822960" y="2267712"/>
            <a:ext cx="5065776" cy="2587752"/>
          </a:xfrm>
          <a:prstGeom prst="rect">
            <a:avLst/>
          </a:prstGeom>
          <a:noFill/>
          <a:ln/>
        </p:spPr>
        <p:txBody>
          <a:bodyPr wrap="square" lIns="0" tIns="0" rIns="0" bIns="0" rtlCol="0" anchor="ctr">
            <a:normAutofit/>
          </a:bodyPr>
          <a:lstStyle/>
          <a:p>
            <a:pPr marL="0" indent="0">
              <a:buNone/>
            </a:pPr>
            <a:r>
              <a:rPr lang="en-US" sz="950" dirty="0">
                <a:solidFill>
                  <a:srgbClr val="243746"/>
                </a:solidFill>
                <a:latin typeface="Arial" pitchFamily="34" charset="0"/>
                <a:ea typeface="Arial" pitchFamily="34" charset="-122"/>
                <a:cs typeface="Arial" pitchFamily="34" charset="-120"/>
              </a:rPr>
              <a:t>{</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  "checkout.pay_button": {</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    "es-es": "Pagar ahora",</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    "en-uk": "Pay now",</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    "pt-br": "Pagar agora"</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  }</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a:t>
            </a:r>
            <a:endParaRPr lang="en-US" sz="950" dirty="0"/>
          </a:p>
        </p:txBody>
      </p:sp>
      <p:sp>
        <p:nvSpPr>
          <p:cNvPr id="16" name="Shape 13"/>
          <p:cNvSpPr/>
          <p:nvPr/>
        </p:nvSpPr>
        <p:spPr>
          <a:xfrm>
            <a:off x="6327648" y="1828800"/>
            <a:ext cx="5212080" cy="3154680"/>
          </a:xfrm>
          <a:prstGeom prst="roundRect">
            <a:avLst>
              <a:gd name="adj" fmla="val 2319"/>
            </a:avLst>
          </a:prstGeom>
          <a:solidFill>
            <a:srgbClr val="F7F9FC"/>
          </a:solidFill>
          <a:ln w="12700">
            <a:solidFill>
              <a:srgbClr val="D6DFE8"/>
            </a:solidFill>
            <a:prstDash val="solid"/>
          </a:ln>
        </p:spPr>
        <p:txBody>
          <a:bodyPr/>
          <a:lstStyle/>
          <a:p>
            <a:endParaRPr lang="en-ES"/>
          </a:p>
        </p:txBody>
      </p:sp>
      <p:sp>
        <p:nvSpPr>
          <p:cNvPr id="17" name="Text 14"/>
          <p:cNvSpPr/>
          <p:nvPr/>
        </p:nvSpPr>
        <p:spPr>
          <a:xfrm>
            <a:off x="6492240" y="1975104"/>
            <a:ext cx="4882896" cy="164592"/>
          </a:xfrm>
          <a:prstGeom prst="rect">
            <a:avLst/>
          </a:prstGeom>
          <a:noFill/>
          <a:ln/>
        </p:spPr>
        <p:txBody>
          <a:bodyPr wrap="square" lIns="0" tIns="0" rIns="0" bIns="0" rtlCol="0" anchor="ctr"/>
          <a:lstStyle/>
          <a:p>
            <a:pPr marL="0" indent="0">
              <a:buNone/>
            </a:pPr>
            <a:r>
              <a:rPr lang="en-US" sz="1100" b="1" dirty="0">
                <a:solidFill>
                  <a:srgbClr val="2FA36B"/>
                </a:solidFill>
                <a:latin typeface="Arial" pitchFamily="34" charset="0"/>
                <a:ea typeface="Arial" pitchFamily="34" charset="-122"/>
                <a:cs typeface="Arial" pitchFamily="34" charset="-120"/>
              </a:rPr>
              <a:t>Salida XML</a:t>
            </a:r>
            <a:endParaRPr lang="en-US" sz="1100" dirty="0"/>
          </a:p>
        </p:txBody>
      </p:sp>
      <p:sp>
        <p:nvSpPr>
          <p:cNvPr id="18" name="Text 15"/>
          <p:cNvSpPr/>
          <p:nvPr/>
        </p:nvSpPr>
        <p:spPr>
          <a:xfrm>
            <a:off x="6492240" y="2267712"/>
            <a:ext cx="4882896" cy="2587752"/>
          </a:xfrm>
          <a:prstGeom prst="rect">
            <a:avLst/>
          </a:prstGeom>
          <a:noFill/>
          <a:ln/>
        </p:spPr>
        <p:txBody>
          <a:bodyPr wrap="square" lIns="0" tIns="0" rIns="0" bIns="0" rtlCol="0" anchor="ctr">
            <a:normAutofit/>
          </a:bodyPr>
          <a:lstStyle/>
          <a:p>
            <a:pPr marL="0" indent="0">
              <a:buNone/>
            </a:pPr>
            <a:r>
              <a:rPr lang="en-US" sz="950" dirty="0">
                <a:solidFill>
                  <a:srgbClr val="243746"/>
                </a:solidFill>
                <a:latin typeface="Arial" pitchFamily="34" charset="0"/>
                <a:ea typeface="Arial" pitchFamily="34" charset="-122"/>
                <a:cs typeface="Arial" pitchFamily="34" charset="-120"/>
              </a:rPr>
              <a:t>&lt;resource key="checkout.pay_button"&gt;</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  &lt;value language="es-es"&gt;Pagar ahora&lt;/value&gt;</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  &lt;value language="en-uk"&gt;Pay now&lt;/value&gt;</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  &lt;value language="pt-br"&gt;Pagar agora&lt;/value&gt;</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&lt;/resource&gt;</a:t>
            </a:r>
            <a:endParaRPr lang="en-US" sz="950" dirty="0"/>
          </a:p>
        </p:txBody>
      </p:sp>
      <p:sp>
        <p:nvSpPr>
          <p:cNvPr id="19" name="Shape 16"/>
          <p:cNvSpPr/>
          <p:nvPr/>
        </p:nvSpPr>
        <p:spPr>
          <a:xfrm>
            <a:off x="749808" y="5303520"/>
            <a:ext cx="3401568" cy="658368"/>
          </a:xfrm>
          <a:prstGeom prst="roundRect">
            <a:avLst>
              <a:gd name="adj" fmla="val 11111"/>
            </a:avLst>
          </a:prstGeom>
          <a:solidFill>
            <a:srgbClr val="EEF5FB"/>
          </a:solidFill>
          <a:ln w="12700">
            <a:solidFill>
              <a:srgbClr val="D6DFE8"/>
            </a:solidFill>
            <a:prstDash val="solid"/>
          </a:ln>
        </p:spPr>
        <p:txBody>
          <a:bodyPr/>
          <a:lstStyle/>
          <a:p>
            <a:endParaRPr lang="en-ES"/>
          </a:p>
        </p:txBody>
      </p:sp>
      <p:sp>
        <p:nvSpPr>
          <p:cNvPr id="20" name="Shape 17"/>
          <p:cNvSpPr/>
          <p:nvPr/>
        </p:nvSpPr>
        <p:spPr>
          <a:xfrm>
            <a:off x="749808" y="5303520"/>
            <a:ext cx="91440" cy="658368"/>
          </a:xfrm>
          <a:prstGeom prst="rect">
            <a:avLst/>
          </a:prstGeom>
          <a:solidFill>
            <a:srgbClr val="183B56"/>
          </a:solidFill>
          <a:ln w="12700">
            <a:solidFill>
              <a:srgbClr val="183B56"/>
            </a:solidFill>
            <a:prstDash val="solid"/>
          </a:ln>
        </p:spPr>
        <p:txBody>
          <a:bodyPr/>
          <a:lstStyle/>
          <a:p>
            <a:endParaRPr lang="en-ES"/>
          </a:p>
        </p:txBody>
      </p:sp>
      <p:sp>
        <p:nvSpPr>
          <p:cNvPr id="21" name="Text 18"/>
          <p:cNvSpPr/>
          <p:nvPr/>
        </p:nvSpPr>
        <p:spPr>
          <a:xfrm>
            <a:off x="969264" y="546811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Ámbito proyecto</a:t>
            </a:r>
            <a:endParaRPr lang="en-US" sz="1300" dirty="0"/>
          </a:p>
        </p:txBody>
      </p:sp>
      <p:sp>
        <p:nvSpPr>
          <p:cNvPr id="22" name="Text 19"/>
          <p:cNvSpPr/>
          <p:nvPr/>
        </p:nvSpPr>
        <p:spPr>
          <a:xfrm>
            <a:off x="969264" y="5742432"/>
            <a:ext cx="3090672" cy="128016"/>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Entrega completa para integraciones amplias.</a:t>
            </a:r>
            <a:endParaRPr lang="en-US" sz="1150" dirty="0"/>
          </a:p>
        </p:txBody>
      </p:sp>
      <p:sp>
        <p:nvSpPr>
          <p:cNvPr id="23" name="Shape 20"/>
          <p:cNvSpPr/>
          <p:nvPr/>
        </p:nvSpPr>
        <p:spPr>
          <a:xfrm>
            <a:off x="4407408" y="5303520"/>
            <a:ext cx="3401568" cy="658368"/>
          </a:xfrm>
          <a:prstGeom prst="roundRect">
            <a:avLst>
              <a:gd name="adj" fmla="val 11111"/>
            </a:avLst>
          </a:prstGeom>
          <a:solidFill>
            <a:srgbClr val="FFF1EE"/>
          </a:solidFill>
          <a:ln w="12700">
            <a:solidFill>
              <a:srgbClr val="D6DFE8"/>
            </a:solidFill>
            <a:prstDash val="solid"/>
          </a:ln>
        </p:spPr>
        <p:txBody>
          <a:bodyPr/>
          <a:lstStyle/>
          <a:p>
            <a:endParaRPr lang="en-ES"/>
          </a:p>
        </p:txBody>
      </p:sp>
      <p:sp>
        <p:nvSpPr>
          <p:cNvPr id="24" name="Shape 21"/>
          <p:cNvSpPr/>
          <p:nvPr/>
        </p:nvSpPr>
        <p:spPr>
          <a:xfrm>
            <a:off x="4407408" y="5303520"/>
            <a:ext cx="91440" cy="658368"/>
          </a:xfrm>
          <a:prstGeom prst="rect">
            <a:avLst/>
          </a:prstGeom>
          <a:solidFill>
            <a:srgbClr val="FF6B57"/>
          </a:solidFill>
          <a:ln w="12700">
            <a:solidFill>
              <a:srgbClr val="FF6B57"/>
            </a:solidFill>
            <a:prstDash val="solid"/>
          </a:ln>
        </p:spPr>
        <p:txBody>
          <a:bodyPr/>
          <a:lstStyle/>
          <a:p>
            <a:endParaRPr lang="en-ES"/>
          </a:p>
        </p:txBody>
      </p:sp>
      <p:sp>
        <p:nvSpPr>
          <p:cNvPr id="25" name="Text 22"/>
          <p:cNvSpPr/>
          <p:nvPr/>
        </p:nvSpPr>
        <p:spPr>
          <a:xfrm>
            <a:off x="4626864" y="546811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Ámbito página</a:t>
            </a:r>
            <a:endParaRPr lang="en-US" sz="1300" dirty="0"/>
          </a:p>
        </p:txBody>
      </p:sp>
      <p:sp>
        <p:nvSpPr>
          <p:cNvPr id="26" name="Text 23"/>
          <p:cNvSpPr/>
          <p:nvPr/>
        </p:nvSpPr>
        <p:spPr>
          <a:xfrm>
            <a:off x="4626864" y="5742432"/>
            <a:ext cx="3090672" cy="128016"/>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Salida acotada a un módulo funcional concreto.</a:t>
            </a:r>
            <a:endParaRPr lang="en-US" sz="1150" dirty="0"/>
          </a:p>
        </p:txBody>
      </p:sp>
      <p:sp>
        <p:nvSpPr>
          <p:cNvPr id="27" name="Shape 24"/>
          <p:cNvSpPr/>
          <p:nvPr/>
        </p:nvSpPr>
        <p:spPr>
          <a:xfrm>
            <a:off x="8065008" y="5303520"/>
            <a:ext cx="3401568" cy="658368"/>
          </a:xfrm>
          <a:prstGeom prst="roundRect">
            <a:avLst>
              <a:gd name="adj" fmla="val 11111"/>
            </a:avLst>
          </a:prstGeom>
          <a:solidFill>
            <a:srgbClr val="EDF8F2"/>
          </a:solidFill>
          <a:ln w="12700">
            <a:solidFill>
              <a:srgbClr val="D6DFE8"/>
            </a:solidFill>
            <a:prstDash val="solid"/>
          </a:ln>
        </p:spPr>
        <p:txBody>
          <a:bodyPr/>
          <a:lstStyle/>
          <a:p>
            <a:endParaRPr lang="en-ES"/>
          </a:p>
        </p:txBody>
      </p:sp>
      <p:sp>
        <p:nvSpPr>
          <p:cNvPr id="28" name="Shape 25"/>
          <p:cNvSpPr/>
          <p:nvPr/>
        </p:nvSpPr>
        <p:spPr>
          <a:xfrm>
            <a:off x="8065008" y="5303520"/>
            <a:ext cx="91440" cy="658368"/>
          </a:xfrm>
          <a:prstGeom prst="rect">
            <a:avLst/>
          </a:prstGeom>
          <a:solidFill>
            <a:srgbClr val="2FA36B"/>
          </a:solidFill>
          <a:ln w="12700">
            <a:solidFill>
              <a:srgbClr val="2FA36B"/>
            </a:solidFill>
            <a:prstDash val="solid"/>
          </a:ln>
        </p:spPr>
        <p:txBody>
          <a:bodyPr/>
          <a:lstStyle/>
          <a:p>
            <a:endParaRPr lang="en-ES"/>
          </a:p>
        </p:txBody>
      </p:sp>
      <p:sp>
        <p:nvSpPr>
          <p:cNvPr id="29" name="Text 26"/>
          <p:cNvSpPr/>
          <p:nvPr/>
        </p:nvSpPr>
        <p:spPr>
          <a:xfrm>
            <a:off x="8284464" y="546811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Ámbito versión</a:t>
            </a:r>
            <a:endParaRPr lang="en-US" sz="1300" dirty="0"/>
          </a:p>
        </p:txBody>
      </p:sp>
      <p:sp>
        <p:nvSpPr>
          <p:cNvPr id="30" name="Text 27"/>
          <p:cNvSpPr/>
          <p:nvPr/>
        </p:nvSpPr>
        <p:spPr>
          <a:xfrm>
            <a:off x="8284464" y="5742432"/>
            <a:ext cx="3090672" cy="128016"/>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Base estable para publicar una iteración específica.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Modelo de dominio</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Siete entidades sostienen la jerarquía de trabajo y la seguridad de acceso dentro del producto.</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13</a:t>
            </a:r>
            <a:endParaRPr lang="en-US" sz="950" dirty="0"/>
          </a:p>
        </p:txBody>
      </p:sp>
      <p:sp>
        <p:nvSpPr>
          <p:cNvPr id="11" name="Shape 8"/>
          <p:cNvSpPr/>
          <p:nvPr/>
        </p:nvSpPr>
        <p:spPr>
          <a:xfrm>
            <a:off x="658368" y="1874520"/>
            <a:ext cx="1508760" cy="1024128"/>
          </a:xfrm>
          <a:prstGeom prst="roundRect">
            <a:avLst>
              <a:gd name="adj" fmla="val 7143"/>
            </a:avLst>
          </a:prstGeom>
          <a:solidFill>
            <a:srgbClr val="EEF5FB"/>
          </a:solidFill>
          <a:ln w="12700">
            <a:solidFill>
              <a:srgbClr val="D6DFE8"/>
            </a:solidFill>
            <a:prstDash val="solid"/>
          </a:ln>
        </p:spPr>
        <p:txBody>
          <a:bodyPr/>
          <a:lstStyle/>
          <a:p>
            <a:endParaRPr lang="en-ES"/>
          </a:p>
        </p:txBody>
      </p:sp>
      <p:sp>
        <p:nvSpPr>
          <p:cNvPr id="12" name="Text 9"/>
          <p:cNvSpPr/>
          <p:nvPr/>
        </p:nvSpPr>
        <p:spPr>
          <a:xfrm>
            <a:off x="768096" y="2002536"/>
            <a:ext cx="1289304" cy="164592"/>
          </a:xfrm>
          <a:prstGeom prst="rect">
            <a:avLst/>
          </a:prstGeom>
          <a:noFill/>
          <a:ln/>
        </p:spPr>
        <p:txBody>
          <a:bodyPr wrap="square" lIns="0" tIns="0" rIns="0" bIns="0" rtlCol="0" anchor="ctr"/>
          <a:lstStyle/>
          <a:p>
            <a:pPr marL="0" indent="0" algn="ctr">
              <a:buNone/>
            </a:pPr>
            <a:r>
              <a:rPr lang="en-US" sz="1150" b="1" dirty="0">
                <a:solidFill>
                  <a:srgbClr val="183B56"/>
                </a:solidFill>
                <a:latin typeface="Arial" pitchFamily="34" charset="0"/>
                <a:ea typeface="Arial" pitchFamily="34" charset="-122"/>
                <a:cs typeface="Arial" pitchFamily="34" charset="-120"/>
              </a:rPr>
              <a:t>User</a:t>
            </a:r>
            <a:endParaRPr lang="en-US" sz="1150" dirty="0"/>
          </a:p>
        </p:txBody>
      </p:sp>
      <p:sp>
        <p:nvSpPr>
          <p:cNvPr id="13" name="Shape 10"/>
          <p:cNvSpPr/>
          <p:nvPr/>
        </p:nvSpPr>
        <p:spPr>
          <a:xfrm>
            <a:off x="658368" y="2240280"/>
            <a:ext cx="1508760" cy="0"/>
          </a:xfrm>
          <a:prstGeom prst="line">
            <a:avLst/>
          </a:prstGeom>
          <a:noFill/>
          <a:ln w="12700">
            <a:solidFill>
              <a:srgbClr val="D6DFE8"/>
            </a:solidFill>
            <a:prstDash val="solid"/>
          </a:ln>
        </p:spPr>
        <p:txBody>
          <a:bodyPr/>
          <a:lstStyle/>
          <a:p>
            <a:endParaRPr lang="en-ES"/>
          </a:p>
        </p:txBody>
      </p:sp>
      <p:sp>
        <p:nvSpPr>
          <p:cNvPr id="14" name="Text 11"/>
          <p:cNvSpPr/>
          <p:nvPr/>
        </p:nvSpPr>
        <p:spPr>
          <a:xfrm>
            <a:off x="768096" y="2331720"/>
            <a:ext cx="1289304" cy="475488"/>
          </a:xfrm>
          <a:prstGeom prst="rect">
            <a:avLst/>
          </a:prstGeom>
          <a:noFill/>
          <a:ln/>
        </p:spPr>
        <p:txBody>
          <a:bodyPr wrap="square" lIns="0" tIns="0" rIns="0" bIns="0" rtlCol="0" anchor="ctr">
            <a:normAutofit/>
          </a:bodyPr>
          <a:lstStyle/>
          <a:p>
            <a:pPr marL="0" indent="0" algn="ctr">
              <a:buNone/>
            </a:pPr>
            <a:r>
              <a:rPr lang="en-US" sz="930" dirty="0">
                <a:solidFill>
                  <a:srgbClr val="5B6B7B"/>
                </a:solidFill>
                <a:latin typeface="Arial" pitchFamily="34" charset="0"/>
                <a:ea typeface="Arial" pitchFamily="34" charset="-122"/>
                <a:cs typeface="Arial" pitchFamily="34" charset="-120"/>
              </a:rPr>
              <a:t>Identidad social</a:t>
            </a:r>
            <a:endParaRPr lang="en-US" sz="930" dirty="0"/>
          </a:p>
          <a:p>
            <a:pPr marL="0" indent="0" algn="ctr">
              <a:buNone/>
            </a:pPr>
            <a:r>
              <a:rPr lang="en-US" sz="930" dirty="0">
                <a:solidFill>
                  <a:srgbClr val="5B6B7B"/>
                </a:solidFill>
                <a:latin typeface="Arial" pitchFamily="34" charset="0"/>
                <a:ea typeface="Arial" pitchFamily="34" charset="-122"/>
                <a:cs typeface="Arial" pitchFamily="34" charset="-120"/>
              </a:rPr>
              <a:t>Sesiones</a:t>
            </a:r>
            <a:endParaRPr lang="en-US" sz="930" dirty="0"/>
          </a:p>
        </p:txBody>
      </p:sp>
      <p:sp>
        <p:nvSpPr>
          <p:cNvPr id="15" name="Shape 12"/>
          <p:cNvSpPr/>
          <p:nvPr/>
        </p:nvSpPr>
        <p:spPr>
          <a:xfrm>
            <a:off x="2514600" y="1874520"/>
            <a:ext cx="1691640" cy="1024128"/>
          </a:xfrm>
          <a:prstGeom prst="roundRect">
            <a:avLst>
              <a:gd name="adj" fmla="val 7143"/>
            </a:avLst>
          </a:prstGeom>
          <a:solidFill>
            <a:srgbClr val="FFFFFF"/>
          </a:solidFill>
          <a:ln w="12700">
            <a:solidFill>
              <a:srgbClr val="D6DFE8"/>
            </a:solidFill>
            <a:prstDash val="solid"/>
          </a:ln>
        </p:spPr>
        <p:txBody>
          <a:bodyPr/>
          <a:lstStyle/>
          <a:p>
            <a:endParaRPr lang="en-ES"/>
          </a:p>
        </p:txBody>
      </p:sp>
      <p:sp>
        <p:nvSpPr>
          <p:cNvPr id="16" name="Text 13"/>
          <p:cNvSpPr/>
          <p:nvPr/>
        </p:nvSpPr>
        <p:spPr>
          <a:xfrm>
            <a:off x="2624328" y="2002536"/>
            <a:ext cx="1472184" cy="164592"/>
          </a:xfrm>
          <a:prstGeom prst="rect">
            <a:avLst/>
          </a:prstGeom>
          <a:noFill/>
          <a:ln/>
        </p:spPr>
        <p:txBody>
          <a:bodyPr wrap="square" lIns="0" tIns="0" rIns="0" bIns="0" rtlCol="0" anchor="ctr"/>
          <a:lstStyle/>
          <a:p>
            <a:pPr marL="0" indent="0" algn="ctr">
              <a:buNone/>
            </a:pPr>
            <a:r>
              <a:rPr lang="en-US" sz="1150" b="1" dirty="0">
                <a:solidFill>
                  <a:srgbClr val="183B56"/>
                </a:solidFill>
                <a:latin typeface="Arial" pitchFamily="34" charset="0"/>
                <a:ea typeface="Arial" pitchFamily="34" charset="-122"/>
                <a:cs typeface="Arial" pitchFamily="34" charset="-120"/>
              </a:rPr>
              <a:t>Project</a:t>
            </a:r>
            <a:endParaRPr lang="en-US" sz="1150" dirty="0"/>
          </a:p>
        </p:txBody>
      </p:sp>
      <p:sp>
        <p:nvSpPr>
          <p:cNvPr id="17" name="Shape 14"/>
          <p:cNvSpPr/>
          <p:nvPr/>
        </p:nvSpPr>
        <p:spPr>
          <a:xfrm>
            <a:off x="2514600" y="2240280"/>
            <a:ext cx="1691640" cy="0"/>
          </a:xfrm>
          <a:prstGeom prst="line">
            <a:avLst/>
          </a:prstGeom>
          <a:noFill/>
          <a:ln w="12700">
            <a:solidFill>
              <a:srgbClr val="D6DFE8"/>
            </a:solidFill>
            <a:prstDash val="solid"/>
          </a:ln>
        </p:spPr>
        <p:txBody>
          <a:bodyPr/>
          <a:lstStyle/>
          <a:p>
            <a:endParaRPr lang="en-ES"/>
          </a:p>
        </p:txBody>
      </p:sp>
      <p:sp>
        <p:nvSpPr>
          <p:cNvPr id="18" name="Text 15"/>
          <p:cNvSpPr/>
          <p:nvPr/>
        </p:nvSpPr>
        <p:spPr>
          <a:xfrm>
            <a:off x="2624328" y="2331720"/>
            <a:ext cx="1472184" cy="475488"/>
          </a:xfrm>
          <a:prstGeom prst="rect">
            <a:avLst/>
          </a:prstGeom>
          <a:noFill/>
          <a:ln/>
        </p:spPr>
        <p:txBody>
          <a:bodyPr wrap="square" lIns="0" tIns="0" rIns="0" bIns="0" rtlCol="0" anchor="ctr">
            <a:normAutofit/>
          </a:bodyPr>
          <a:lstStyle/>
          <a:p>
            <a:pPr marL="0" indent="0" algn="ctr">
              <a:buNone/>
            </a:pPr>
            <a:r>
              <a:rPr lang="en-US" sz="930" dirty="0">
                <a:solidFill>
                  <a:srgbClr val="5B6B7B"/>
                </a:solidFill>
                <a:latin typeface="Arial" pitchFamily="34" charset="0"/>
                <a:ea typeface="Arial" pitchFamily="34" charset="-122"/>
                <a:cs typeface="Arial" pitchFamily="34" charset="-120"/>
              </a:rPr>
              <a:t>Nombre</a:t>
            </a:r>
            <a:endParaRPr lang="en-US" sz="930" dirty="0"/>
          </a:p>
          <a:p>
            <a:pPr marL="0" indent="0" algn="ctr">
              <a:buNone/>
            </a:pPr>
            <a:r>
              <a:rPr lang="en-US" sz="930" dirty="0">
                <a:solidFill>
                  <a:srgbClr val="5B6B7B"/>
                </a:solidFill>
                <a:latin typeface="Arial" pitchFamily="34" charset="0"/>
                <a:ea typeface="Arial" pitchFamily="34" charset="-122"/>
                <a:cs typeface="Arial" pitchFamily="34" charset="-120"/>
              </a:rPr>
              <a:t>Idiomas activos</a:t>
            </a:r>
            <a:endParaRPr lang="en-US" sz="930" dirty="0"/>
          </a:p>
        </p:txBody>
      </p:sp>
      <p:sp>
        <p:nvSpPr>
          <p:cNvPr id="19" name="Shape 16"/>
          <p:cNvSpPr/>
          <p:nvPr/>
        </p:nvSpPr>
        <p:spPr>
          <a:xfrm>
            <a:off x="2514600" y="3319272"/>
            <a:ext cx="1691640" cy="1024128"/>
          </a:xfrm>
          <a:prstGeom prst="roundRect">
            <a:avLst>
              <a:gd name="adj" fmla="val 7143"/>
            </a:avLst>
          </a:prstGeom>
          <a:solidFill>
            <a:srgbClr val="FFFFFF"/>
          </a:solidFill>
          <a:ln w="12700">
            <a:solidFill>
              <a:srgbClr val="D6DFE8"/>
            </a:solidFill>
            <a:prstDash val="solid"/>
          </a:ln>
        </p:spPr>
        <p:txBody>
          <a:bodyPr/>
          <a:lstStyle/>
          <a:p>
            <a:endParaRPr lang="en-ES"/>
          </a:p>
        </p:txBody>
      </p:sp>
      <p:sp>
        <p:nvSpPr>
          <p:cNvPr id="20" name="Text 17"/>
          <p:cNvSpPr/>
          <p:nvPr/>
        </p:nvSpPr>
        <p:spPr>
          <a:xfrm>
            <a:off x="2624328" y="3447288"/>
            <a:ext cx="1472184" cy="164592"/>
          </a:xfrm>
          <a:prstGeom prst="rect">
            <a:avLst/>
          </a:prstGeom>
          <a:noFill/>
          <a:ln/>
        </p:spPr>
        <p:txBody>
          <a:bodyPr wrap="square" lIns="0" tIns="0" rIns="0" bIns="0" rtlCol="0" anchor="ctr"/>
          <a:lstStyle/>
          <a:p>
            <a:pPr marL="0" indent="0" algn="ctr">
              <a:buNone/>
            </a:pPr>
            <a:r>
              <a:rPr lang="en-US" sz="1150" b="1" dirty="0">
                <a:solidFill>
                  <a:srgbClr val="FF6B57"/>
                </a:solidFill>
                <a:latin typeface="Arial" pitchFamily="34" charset="0"/>
                <a:ea typeface="Arial" pitchFamily="34" charset="-122"/>
                <a:cs typeface="Arial" pitchFamily="34" charset="-120"/>
              </a:rPr>
              <a:t>ProjectMember</a:t>
            </a:r>
            <a:endParaRPr lang="en-US" sz="1150" dirty="0"/>
          </a:p>
        </p:txBody>
      </p:sp>
      <p:sp>
        <p:nvSpPr>
          <p:cNvPr id="21" name="Shape 18"/>
          <p:cNvSpPr/>
          <p:nvPr/>
        </p:nvSpPr>
        <p:spPr>
          <a:xfrm>
            <a:off x="2514600" y="3685032"/>
            <a:ext cx="1691640" cy="0"/>
          </a:xfrm>
          <a:prstGeom prst="line">
            <a:avLst/>
          </a:prstGeom>
          <a:noFill/>
          <a:ln w="12700">
            <a:solidFill>
              <a:srgbClr val="D6DFE8"/>
            </a:solidFill>
            <a:prstDash val="solid"/>
          </a:ln>
        </p:spPr>
        <p:txBody>
          <a:bodyPr/>
          <a:lstStyle/>
          <a:p>
            <a:endParaRPr lang="en-ES"/>
          </a:p>
        </p:txBody>
      </p:sp>
      <p:sp>
        <p:nvSpPr>
          <p:cNvPr id="22" name="Text 19"/>
          <p:cNvSpPr/>
          <p:nvPr/>
        </p:nvSpPr>
        <p:spPr>
          <a:xfrm>
            <a:off x="2624328" y="3776472"/>
            <a:ext cx="1472184" cy="475488"/>
          </a:xfrm>
          <a:prstGeom prst="rect">
            <a:avLst/>
          </a:prstGeom>
          <a:noFill/>
          <a:ln/>
        </p:spPr>
        <p:txBody>
          <a:bodyPr wrap="square" lIns="0" tIns="0" rIns="0" bIns="0" rtlCol="0" anchor="ctr">
            <a:normAutofit/>
          </a:bodyPr>
          <a:lstStyle/>
          <a:p>
            <a:pPr marL="0" indent="0" algn="ctr">
              <a:buNone/>
            </a:pPr>
            <a:r>
              <a:rPr lang="en-US" sz="930" dirty="0">
                <a:solidFill>
                  <a:srgbClr val="5B6B7B"/>
                </a:solidFill>
                <a:latin typeface="Arial" pitchFamily="34" charset="0"/>
                <a:ea typeface="Arial" pitchFamily="34" charset="-122"/>
                <a:cs typeface="Arial" pitchFamily="34" charset="-120"/>
              </a:rPr>
              <a:t>Rol</a:t>
            </a:r>
            <a:endParaRPr lang="en-US" sz="930" dirty="0"/>
          </a:p>
          <a:p>
            <a:pPr marL="0" indent="0" algn="ctr">
              <a:buNone/>
            </a:pPr>
            <a:r>
              <a:rPr lang="en-US" sz="930" dirty="0">
                <a:solidFill>
                  <a:srgbClr val="5B6B7B"/>
                </a:solidFill>
                <a:latin typeface="Arial" pitchFamily="34" charset="0"/>
                <a:ea typeface="Arial" pitchFamily="34" charset="-122"/>
                <a:cs typeface="Arial" pitchFamily="34" charset="-120"/>
              </a:rPr>
              <a:t>Relación usuario-proyecto</a:t>
            </a:r>
            <a:endParaRPr lang="en-US" sz="930" dirty="0"/>
          </a:p>
        </p:txBody>
      </p:sp>
      <p:sp>
        <p:nvSpPr>
          <p:cNvPr id="23" name="Shape 20"/>
          <p:cNvSpPr/>
          <p:nvPr/>
        </p:nvSpPr>
        <p:spPr>
          <a:xfrm>
            <a:off x="4617720" y="1874520"/>
            <a:ext cx="1691640" cy="1024128"/>
          </a:xfrm>
          <a:prstGeom prst="roundRect">
            <a:avLst>
              <a:gd name="adj" fmla="val 7143"/>
            </a:avLst>
          </a:prstGeom>
          <a:solidFill>
            <a:srgbClr val="FFFFFF"/>
          </a:solidFill>
          <a:ln w="12700">
            <a:solidFill>
              <a:srgbClr val="D6DFE8"/>
            </a:solidFill>
            <a:prstDash val="solid"/>
          </a:ln>
        </p:spPr>
        <p:txBody>
          <a:bodyPr/>
          <a:lstStyle/>
          <a:p>
            <a:endParaRPr lang="en-ES"/>
          </a:p>
        </p:txBody>
      </p:sp>
      <p:sp>
        <p:nvSpPr>
          <p:cNvPr id="24" name="Text 21"/>
          <p:cNvSpPr/>
          <p:nvPr/>
        </p:nvSpPr>
        <p:spPr>
          <a:xfrm>
            <a:off x="4727448" y="2002536"/>
            <a:ext cx="1472184" cy="164592"/>
          </a:xfrm>
          <a:prstGeom prst="rect">
            <a:avLst/>
          </a:prstGeom>
          <a:noFill/>
          <a:ln/>
        </p:spPr>
        <p:txBody>
          <a:bodyPr wrap="square" lIns="0" tIns="0" rIns="0" bIns="0" rtlCol="0" anchor="ctr"/>
          <a:lstStyle/>
          <a:p>
            <a:pPr marL="0" indent="0" algn="ctr">
              <a:buNone/>
            </a:pPr>
            <a:r>
              <a:rPr lang="en-US" sz="1150" b="1" dirty="0">
                <a:solidFill>
                  <a:srgbClr val="FF6B57"/>
                </a:solidFill>
                <a:latin typeface="Arial" pitchFamily="34" charset="0"/>
                <a:ea typeface="Arial" pitchFamily="34" charset="-122"/>
                <a:cs typeface="Arial" pitchFamily="34" charset="-120"/>
              </a:rPr>
              <a:t>Page</a:t>
            </a:r>
            <a:endParaRPr lang="en-US" sz="1150" dirty="0"/>
          </a:p>
        </p:txBody>
      </p:sp>
      <p:sp>
        <p:nvSpPr>
          <p:cNvPr id="25" name="Shape 22"/>
          <p:cNvSpPr/>
          <p:nvPr/>
        </p:nvSpPr>
        <p:spPr>
          <a:xfrm>
            <a:off x="4617720" y="2240280"/>
            <a:ext cx="1691640" cy="0"/>
          </a:xfrm>
          <a:prstGeom prst="line">
            <a:avLst/>
          </a:prstGeom>
          <a:noFill/>
          <a:ln w="12700">
            <a:solidFill>
              <a:srgbClr val="D6DFE8"/>
            </a:solidFill>
            <a:prstDash val="solid"/>
          </a:ln>
        </p:spPr>
        <p:txBody>
          <a:bodyPr/>
          <a:lstStyle/>
          <a:p>
            <a:endParaRPr lang="en-ES"/>
          </a:p>
        </p:txBody>
      </p:sp>
      <p:sp>
        <p:nvSpPr>
          <p:cNvPr id="26" name="Text 23"/>
          <p:cNvSpPr/>
          <p:nvPr/>
        </p:nvSpPr>
        <p:spPr>
          <a:xfrm>
            <a:off x="4727448" y="2331720"/>
            <a:ext cx="1472184" cy="475488"/>
          </a:xfrm>
          <a:prstGeom prst="rect">
            <a:avLst/>
          </a:prstGeom>
          <a:noFill/>
          <a:ln/>
        </p:spPr>
        <p:txBody>
          <a:bodyPr wrap="square" lIns="0" tIns="0" rIns="0" bIns="0" rtlCol="0" anchor="ctr">
            <a:normAutofit/>
          </a:bodyPr>
          <a:lstStyle/>
          <a:p>
            <a:pPr marL="0" indent="0" algn="ctr">
              <a:buNone/>
            </a:pPr>
            <a:r>
              <a:rPr lang="en-US" sz="930" dirty="0">
                <a:solidFill>
                  <a:srgbClr val="5B6B7B"/>
                </a:solidFill>
                <a:latin typeface="Arial" pitchFamily="34" charset="0"/>
                <a:ea typeface="Arial" pitchFamily="34" charset="-122"/>
                <a:cs typeface="Arial" pitchFamily="34" charset="-120"/>
              </a:rPr>
              <a:t>Título</a:t>
            </a:r>
            <a:endParaRPr lang="en-US" sz="930" dirty="0"/>
          </a:p>
          <a:p>
            <a:pPr marL="0" indent="0" algn="ctr">
              <a:buNone/>
            </a:pPr>
            <a:r>
              <a:rPr lang="en-US" sz="930" dirty="0">
                <a:solidFill>
                  <a:srgbClr val="5B6B7B"/>
                </a:solidFill>
                <a:latin typeface="Arial" pitchFamily="34" charset="0"/>
                <a:ea typeface="Arial" pitchFamily="34" charset="-122"/>
                <a:cs typeface="Arial" pitchFamily="34" charset="-120"/>
              </a:rPr>
              <a:t>Ámbito funcional</a:t>
            </a:r>
            <a:endParaRPr lang="en-US" sz="930" dirty="0"/>
          </a:p>
        </p:txBody>
      </p:sp>
      <p:sp>
        <p:nvSpPr>
          <p:cNvPr id="27" name="Shape 24"/>
          <p:cNvSpPr/>
          <p:nvPr/>
        </p:nvSpPr>
        <p:spPr>
          <a:xfrm>
            <a:off x="6720840" y="1874520"/>
            <a:ext cx="1691640" cy="1024128"/>
          </a:xfrm>
          <a:prstGeom prst="roundRect">
            <a:avLst>
              <a:gd name="adj" fmla="val 7143"/>
            </a:avLst>
          </a:prstGeom>
          <a:solidFill>
            <a:srgbClr val="EDF8F2"/>
          </a:solidFill>
          <a:ln w="12700">
            <a:solidFill>
              <a:srgbClr val="D6DFE8"/>
            </a:solidFill>
            <a:prstDash val="solid"/>
          </a:ln>
        </p:spPr>
        <p:txBody>
          <a:bodyPr/>
          <a:lstStyle/>
          <a:p>
            <a:endParaRPr lang="en-ES"/>
          </a:p>
        </p:txBody>
      </p:sp>
      <p:sp>
        <p:nvSpPr>
          <p:cNvPr id="28" name="Text 25"/>
          <p:cNvSpPr/>
          <p:nvPr/>
        </p:nvSpPr>
        <p:spPr>
          <a:xfrm>
            <a:off x="6830568" y="2002536"/>
            <a:ext cx="1472184" cy="164592"/>
          </a:xfrm>
          <a:prstGeom prst="rect">
            <a:avLst/>
          </a:prstGeom>
          <a:noFill/>
          <a:ln/>
        </p:spPr>
        <p:txBody>
          <a:bodyPr wrap="square" lIns="0" tIns="0" rIns="0" bIns="0" rtlCol="0" anchor="ctr"/>
          <a:lstStyle/>
          <a:p>
            <a:pPr marL="0" indent="0" algn="ctr">
              <a:buNone/>
            </a:pPr>
            <a:r>
              <a:rPr lang="en-US" sz="1150" b="1" dirty="0">
                <a:solidFill>
                  <a:srgbClr val="2FA36B"/>
                </a:solidFill>
                <a:latin typeface="Arial" pitchFamily="34" charset="0"/>
                <a:ea typeface="Arial" pitchFamily="34" charset="-122"/>
                <a:cs typeface="Arial" pitchFamily="34" charset="-120"/>
              </a:rPr>
              <a:t>PageVersion</a:t>
            </a:r>
            <a:endParaRPr lang="en-US" sz="1150" dirty="0"/>
          </a:p>
        </p:txBody>
      </p:sp>
      <p:sp>
        <p:nvSpPr>
          <p:cNvPr id="29" name="Shape 26"/>
          <p:cNvSpPr/>
          <p:nvPr/>
        </p:nvSpPr>
        <p:spPr>
          <a:xfrm>
            <a:off x="6720840" y="2240280"/>
            <a:ext cx="1691640" cy="0"/>
          </a:xfrm>
          <a:prstGeom prst="line">
            <a:avLst/>
          </a:prstGeom>
          <a:noFill/>
          <a:ln w="12700">
            <a:solidFill>
              <a:srgbClr val="D6DFE8"/>
            </a:solidFill>
            <a:prstDash val="solid"/>
          </a:ln>
        </p:spPr>
        <p:txBody>
          <a:bodyPr/>
          <a:lstStyle/>
          <a:p>
            <a:endParaRPr lang="en-ES"/>
          </a:p>
        </p:txBody>
      </p:sp>
      <p:sp>
        <p:nvSpPr>
          <p:cNvPr id="30" name="Text 27"/>
          <p:cNvSpPr/>
          <p:nvPr/>
        </p:nvSpPr>
        <p:spPr>
          <a:xfrm>
            <a:off x="6830568" y="2331720"/>
            <a:ext cx="1472184" cy="475488"/>
          </a:xfrm>
          <a:prstGeom prst="rect">
            <a:avLst/>
          </a:prstGeom>
          <a:noFill/>
          <a:ln/>
        </p:spPr>
        <p:txBody>
          <a:bodyPr wrap="square" lIns="0" tIns="0" rIns="0" bIns="0" rtlCol="0" anchor="ctr">
            <a:normAutofit/>
          </a:bodyPr>
          <a:lstStyle/>
          <a:p>
            <a:pPr marL="0" indent="0" algn="ctr">
              <a:buNone/>
            </a:pPr>
            <a:r>
              <a:rPr lang="en-US" sz="930" dirty="0">
                <a:solidFill>
                  <a:srgbClr val="5B6B7B"/>
                </a:solidFill>
                <a:latin typeface="Arial" pitchFamily="34" charset="0"/>
                <a:ea typeface="Arial" pitchFamily="34" charset="-122"/>
                <a:cs typeface="Arial" pitchFamily="34" charset="-120"/>
              </a:rPr>
              <a:t>Nombre</a:t>
            </a:r>
            <a:endParaRPr lang="en-US" sz="930" dirty="0"/>
          </a:p>
          <a:p>
            <a:pPr marL="0" indent="0" algn="ctr">
              <a:buNone/>
            </a:pPr>
            <a:r>
              <a:rPr lang="en-US" sz="930" dirty="0">
                <a:solidFill>
                  <a:srgbClr val="5B6B7B"/>
                </a:solidFill>
                <a:latin typeface="Arial" pitchFamily="34" charset="0"/>
                <a:ea typeface="Arial" pitchFamily="34" charset="-122"/>
                <a:cs typeface="Arial" pitchFamily="34" charset="-120"/>
              </a:rPr>
              <a:t>Predeterminada</a:t>
            </a:r>
            <a:endParaRPr lang="en-US" sz="930" dirty="0"/>
          </a:p>
        </p:txBody>
      </p:sp>
      <p:sp>
        <p:nvSpPr>
          <p:cNvPr id="31" name="Shape 28"/>
          <p:cNvSpPr/>
          <p:nvPr/>
        </p:nvSpPr>
        <p:spPr>
          <a:xfrm>
            <a:off x="4617720" y="3319272"/>
            <a:ext cx="1691640" cy="1024128"/>
          </a:xfrm>
          <a:prstGeom prst="roundRect">
            <a:avLst>
              <a:gd name="adj" fmla="val 7143"/>
            </a:avLst>
          </a:prstGeom>
          <a:solidFill>
            <a:srgbClr val="FFFFFF"/>
          </a:solidFill>
          <a:ln w="12700">
            <a:solidFill>
              <a:srgbClr val="D6DFE8"/>
            </a:solidFill>
            <a:prstDash val="solid"/>
          </a:ln>
        </p:spPr>
        <p:txBody>
          <a:bodyPr/>
          <a:lstStyle/>
          <a:p>
            <a:endParaRPr lang="en-ES"/>
          </a:p>
        </p:txBody>
      </p:sp>
      <p:sp>
        <p:nvSpPr>
          <p:cNvPr id="32" name="Text 29"/>
          <p:cNvSpPr/>
          <p:nvPr/>
        </p:nvSpPr>
        <p:spPr>
          <a:xfrm>
            <a:off x="4727448" y="3447288"/>
            <a:ext cx="1472184" cy="164592"/>
          </a:xfrm>
          <a:prstGeom prst="rect">
            <a:avLst/>
          </a:prstGeom>
          <a:noFill/>
          <a:ln/>
        </p:spPr>
        <p:txBody>
          <a:bodyPr wrap="square" lIns="0" tIns="0" rIns="0" bIns="0" rtlCol="0" anchor="ctr"/>
          <a:lstStyle/>
          <a:p>
            <a:pPr marL="0" indent="0" algn="ctr">
              <a:buNone/>
            </a:pPr>
            <a:r>
              <a:rPr lang="en-US" sz="1150" b="1" dirty="0">
                <a:solidFill>
                  <a:srgbClr val="C58A2B"/>
                </a:solidFill>
                <a:latin typeface="Arial" pitchFamily="34" charset="0"/>
                <a:ea typeface="Arial" pitchFamily="34" charset="-122"/>
                <a:cs typeface="Arial" pitchFamily="34" charset="-120"/>
              </a:rPr>
              <a:t>Resource</a:t>
            </a:r>
            <a:endParaRPr lang="en-US" sz="1150" dirty="0"/>
          </a:p>
        </p:txBody>
      </p:sp>
      <p:sp>
        <p:nvSpPr>
          <p:cNvPr id="33" name="Shape 30"/>
          <p:cNvSpPr/>
          <p:nvPr/>
        </p:nvSpPr>
        <p:spPr>
          <a:xfrm>
            <a:off x="4617720" y="3685032"/>
            <a:ext cx="1691640" cy="0"/>
          </a:xfrm>
          <a:prstGeom prst="line">
            <a:avLst/>
          </a:prstGeom>
          <a:noFill/>
          <a:ln w="12700">
            <a:solidFill>
              <a:srgbClr val="D6DFE8"/>
            </a:solidFill>
            <a:prstDash val="solid"/>
          </a:ln>
        </p:spPr>
        <p:txBody>
          <a:bodyPr/>
          <a:lstStyle/>
          <a:p>
            <a:endParaRPr lang="en-ES"/>
          </a:p>
        </p:txBody>
      </p:sp>
      <p:sp>
        <p:nvSpPr>
          <p:cNvPr id="34" name="Text 31"/>
          <p:cNvSpPr/>
          <p:nvPr/>
        </p:nvSpPr>
        <p:spPr>
          <a:xfrm>
            <a:off x="4727448" y="3776472"/>
            <a:ext cx="1472184" cy="475488"/>
          </a:xfrm>
          <a:prstGeom prst="rect">
            <a:avLst/>
          </a:prstGeom>
          <a:noFill/>
          <a:ln/>
        </p:spPr>
        <p:txBody>
          <a:bodyPr wrap="square" lIns="0" tIns="0" rIns="0" bIns="0" rtlCol="0" anchor="ctr">
            <a:normAutofit/>
          </a:bodyPr>
          <a:lstStyle/>
          <a:p>
            <a:pPr marL="0" indent="0" algn="ctr">
              <a:buNone/>
            </a:pPr>
            <a:r>
              <a:rPr lang="en-US" sz="930" dirty="0">
                <a:solidFill>
                  <a:srgbClr val="5B6B7B"/>
                </a:solidFill>
                <a:latin typeface="Arial" pitchFamily="34" charset="0"/>
                <a:ea typeface="Arial" pitchFamily="34" charset="-122"/>
                <a:cs typeface="Arial" pitchFamily="34" charset="-120"/>
              </a:rPr>
              <a:t>Clave</a:t>
            </a:r>
            <a:endParaRPr lang="en-US" sz="930" dirty="0"/>
          </a:p>
          <a:p>
            <a:pPr marL="0" indent="0" algn="ctr">
              <a:buNone/>
            </a:pPr>
            <a:r>
              <a:rPr lang="en-US" sz="930" dirty="0">
                <a:solidFill>
                  <a:srgbClr val="5B6B7B"/>
                </a:solidFill>
                <a:latin typeface="Arial" pitchFamily="34" charset="0"/>
                <a:ea typeface="Arial" pitchFamily="34" charset="-122"/>
                <a:cs typeface="Arial" pitchFamily="34" charset="-120"/>
              </a:rPr>
              <a:t>Descripción</a:t>
            </a:r>
            <a:endParaRPr lang="en-US" sz="930" dirty="0"/>
          </a:p>
        </p:txBody>
      </p:sp>
      <p:sp>
        <p:nvSpPr>
          <p:cNvPr id="35" name="Shape 32"/>
          <p:cNvSpPr/>
          <p:nvPr/>
        </p:nvSpPr>
        <p:spPr>
          <a:xfrm>
            <a:off x="6720840" y="3319272"/>
            <a:ext cx="1691640" cy="1024128"/>
          </a:xfrm>
          <a:prstGeom prst="roundRect">
            <a:avLst>
              <a:gd name="adj" fmla="val 7143"/>
            </a:avLst>
          </a:prstGeom>
          <a:solidFill>
            <a:srgbClr val="FFFFFF"/>
          </a:solidFill>
          <a:ln w="12700">
            <a:solidFill>
              <a:srgbClr val="D6DFE8"/>
            </a:solidFill>
            <a:prstDash val="solid"/>
          </a:ln>
        </p:spPr>
        <p:txBody>
          <a:bodyPr/>
          <a:lstStyle/>
          <a:p>
            <a:endParaRPr lang="en-ES"/>
          </a:p>
        </p:txBody>
      </p:sp>
      <p:sp>
        <p:nvSpPr>
          <p:cNvPr id="36" name="Text 33"/>
          <p:cNvSpPr/>
          <p:nvPr/>
        </p:nvSpPr>
        <p:spPr>
          <a:xfrm>
            <a:off x="6830568" y="3447288"/>
            <a:ext cx="1472184" cy="164592"/>
          </a:xfrm>
          <a:prstGeom prst="rect">
            <a:avLst/>
          </a:prstGeom>
          <a:noFill/>
          <a:ln/>
        </p:spPr>
        <p:txBody>
          <a:bodyPr wrap="square" lIns="0" tIns="0" rIns="0" bIns="0" rtlCol="0" anchor="ctr"/>
          <a:lstStyle/>
          <a:p>
            <a:pPr marL="0" indent="0" algn="ctr">
              <a:buNone/>
            </a:pPr>
            <a:r>
              <a:rPr lang="en-US" sz="1150" b="1" dirty="0">
                <a:solidFill>
                  <a:srgbClr val="2FA36B"/>
                </a:solidFill>
                <a:latin typeface="Arial" pitchFamily="34" charset="0"/>
                <a:ea typeface="Arial" pitchFamily="34" charset="-122"/>
                <a:cs typeface="Arial" pitchFamily="34" charset="-120"/>
              </a:rPr>
              <a:t>ResourceVersion</a:t>
            </a:r>
            <a:endParaRPr lang="en-US" sz="1150" dirty="0"/>
          </a:p>
        </p:txBody>
      </p:sp>
      <p:sp>
        <p:nvSpPr>
          <p:cNvPr id="37" name="Shape 34"/>
          <p:cNvSpPr/>
          <p:nvPr/>
        </p:nvSpPr>
        <p:spPr>
          <a:xfrm>
            <a:off x="6720840" y="3685032"/>
            <a:ext cx="1691640" cy="0"/>
          </a:xfrm>
          <a:prstGeom prst="line">
            <a:avLst/>
          </a:prstGeom>
          <a:noFill/>
          <a:ln w="12700">
            <a:solidFill>
              <a:srgbClr val="D6DFE8"/>
            </a:solidFill>
            <a:prstDash val="solid"/>
          </a:ln>
        </p:spPr>
        <p:txBody>
          <a:bodyPr/>
          <a:lstStyle/>
          <a:p>
            <a:endParaRPr lang="en-ES"/>
          </a:p>
        </p:txBody>
      </p:sp>
      <p:sp>
        <p:nvSpPr>
          <p:cNvPr id="38" name="Text 35"/>
          <p:cNvSpPr/>
          <p:nvPr/>
        </p:nvSpPr>
        <p:spPr>
          <a:xfrm>
            <a:off x="6830568" y="3776472"/>
            <a:ext cx="1472184" cy="475488"/>
          </a:xfrm>
          <a:prstGeom prst="rect">
            <a:avLst/>
          </a:prstGeom>
          <a:noFill/>
          <a:ln/>
        </p:spPr>
        <p:txBody>
          <a:bodyPr wrap="square" lIns="0" tIns="0" rIns="0" bIns="0" rtlCol="0" anchor="ctr">
            <a:normAutofit/>
          </a:bodyPr>
          <a:lstStyle/>
          <a:p>
            <a:pPr marL="0" indent="0" algn="ctr">
              <a:buNone/>
            </a:pPr>
            <a:r>
              <a:rPr lang="en-US" sz="930" dirty="0">
                <a:solidFill>
                  <a:srgbClr val="5B6B7B"/>
                </a:solidFill>
                <a:latin typeface="Arial" pitchFamily="34" charset="0"/>
                <a:ea typeface="Arial" pitchFamily="34" charset="-122"/>
                <a:cs typeface="Arial" pitchFamily="34" charset="-120"/>
              </a:rPr>
              <a:t>Idioma</a:t>
            </a:r>
            <a:endParaRPr lang="en-US" sz="930" dirty="0"/>
          </a:p>
          <a:p>
            <a:pPr marL="0" indent="0" algn="ctr">
              <a:buNone/>
            </a:pPr>
            <a:r>
              <a:rPr lang="en-US" sz="930" dirty="0">
                <a:solidFill>
                  <a:srgbClr val="5B6B7B"/>
                </a:solidFill>
                <a:latin typeface="Arial" pitchFamily="34" charset="0"/>
                <a:ea typeface="Arial" pitchFamily="34" charset="-122"/>
                <a:cs typeface="Arial" pitchFamily="34" charset="-120"/>
              </a:rPr>
              <a:t>Valor traducido</a:t>
            </a:r>
            <a:endParaRPr lang="en-US" sz="930" dirty="0"/>
          </a:p>
        </p:txBody>
      </p:sp>
      <p:sp>
        <p:nvSpPr>
          <p:cNvPr id="39" name="Shape 36"/>
          <p:cNvSpPr/>
          <p:nvPr/>
        </p:nvSpPr>
        <p:spPr>
          <a:xfrm>
            <a:off x="2167128" y="2386584"/>
            <a:ext cx="338328" cy="0"/>
          </a:xfrm>
          <a:prstGeom prst="line">
            <a:avLst/>
          </a:prstGeom>
          <a:noFill/>
          <a:ln w="12700">
            <a:solidFill>
              <a:srgbClr val="D6DFE8"/>
            </a:solidFill>
            <a:prstDash val="solid"/>
            <a:tailEnd type="triangle"/>
          </a:ln>
        </p:spPr>
        <p:txBody>
          <a:bodyPr/>
          <a:lstStyle/>
          <a:p>
            <a:endParaRPr lang="en-ES"/>
          </a:p>
        </p:txBody>
      </p:sp>
      <p:sp>
        <p:nvSpPr>
          <p:cNvPr id="40" name="Text 37"/>
          <p:cNvSpPr/>
          <p:nvPr/>
        </p:nvSpPr>
        <p:spPr>
          <a:xfrm>
            <a:off x="2231136" y="2157984"/>
            <a:ext cx="411480" cy="128016"/>
          </a:xfrm>
          <a:prstGeom prst="rect">
            <a:avLst/>
          </a:prstGeom>
          <a:noFill/>
          <a:ln/>
        </p:spPr>
        <p:txBody>
          <a:bodyPr wrap="square" lIns="0" tIns="0" rIns="0" bIns="0" rtlCol="0" anchor="ctr"/>
          <a:lstStyle/>
          <a:p>
            <a:pPr marL="0" indent="0" algn="ctr">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1" name="Shape 38"/>
          <p:cNvSpPr/>
          <p:nvPr/>
        </p:nvSpPr>
        <p:spPr>
          <a:xfrm>
            <a:off x="3355848" y="2907792"/>
            <a:ext cx="0" cy="402336"/>
          </a:xfrm>
          <a:prstGeom prst="line">
            <a:avLst/>
          </a:prstGeom>
          <a:noFill/>
          <a:ln w="12700">
            <a:solidFill>
              <a:srgbClr val="D6DFE8"/>
            </a:solidFill>
            <a:prstDash val="solid"/>
            <a:tailEnd type="none"/>
          </a:ln>
        </p:spPr>
        <p:txBody>
          <a:bodyPr/>
          <a:lstStyle/>
          <a:p>
            <a:endParaRPr lang="en-ES"/>
          </a:p>
        </p:txBody>
      </p:sp>
      <p:sp>
        <p:nvSpPr>
          <p:cNvPr id="42" name="Text 39"/>
          <p:cNvSpPr/>
          <p:nvPr/>
        </p:nvSpPr>
        <p:spPr>
          <a:xfrm>
            <a:off x="3154680" y="3035808"/>
            <a:ext cx="457200" cy="128016"/>
          </a:xfrm>
          <a:prstGeom prst="rect">
            <a:avLst/>
          </a:prstGeom>
          <a:noFill/>
          <a:ln/>
        </p:spPr>
        <p:txBody>
          <a:bodyPr wrap="square" lIns="0" tIns="0" rIns="0" bIns="0" rtlCol="0" anchor="ctr"/>
          <a:lstStyle/>
          <a:p>
            <a:pPr marL="0" indent="0" algn="ctr">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3" name="Shape 40"/>
          <p:cNvSpPr/>
          <p:nvPr/>
        </p:nvSpPr>
        <p:spPr>
          <a:xfrm>
            <a:off x="4215384" y="2386584"/>
            <a:ext cx="393192" cy="0"/>
          </a:xfrm>
          <a:prstGeom prst="line">
            <a:avLst/>
          </a:prstGeom>
          <a:noFill/>
          <a:ln w="12700">
            <a:solidFill>
              <a:srgbClr val="D6DFE8"/>
            </a:solidFill>
            <a:prstDash val="solid"/>
            <a:tailEnd type="triangle"/>
          </a:ln>
        </p:spPr>
        <p:txBody>
          <a:bodyPr/>
          <a:lstStyle/>
          <a:p>
            <a:endParaRPr lang="en-ES"/>
          </a:p>
        </p:txBody>
      </p:sp>
      <p:sp>
        <p:nvSpPr>
          <p:cNvPr id="44" name="Text 41"/>
          <p:cNvSpPr/>
          <p:nvPr/>
        </p:nvSpPr>
        <p:spPr>
          <a:xfrm>
            <a:off x="4288536" y="2157984"/>
            <a:ext cx="411480" cy="128016"/>
          </a:xfrm>
          <a:prstGeom prst="rect">
            <a:avLst/>
          </a:prstGeom>
          <a:noFill/>
          <a:ln/>
        </p:spPr>
        <p:txBody>
          <a:bodyPr wrap="square" lIns="0" tIns="0" rIns="0" bIns="0" rtlCol="0" anchor="ctr"/>
          <a:lstStyle/>
          <a:p>
            <a:pPr marL="0" indent="0" algn="ctr">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5" name="Shape 42"/>
          <p:cNvSpPr/>
          <p:nvPr/>
        </p:nvSpPr>
        <p:spPr>
          <a:xfrm>
            <a:off x="6318504" y="2386584"/>
            <a:ext cx="393192" cy="0"/>
          </a:xfrm>
          <a:prstGeom prst="line">
            <a:avLst/>
          </a:prstGeom>
          <a:noFill/>
          <a:ln w="12700">
            <a:solidFill>
              <a:srgbClr val="D6DFE8"/>
            </a:solidFill>
            <a:prstDash val="solid"/>
            <a:tailEnd type="triangle"/>
          </a:ln>
        </p:spPr>
        <p:txBody>
          <a:bodyPr/>
          <a:lstStyle/>
          <a:p>
            <a:endParaRPr lang="en-ES"/>
          </a:p>
        </p:txBody>
      </p:sp>
      <p:sp>
        <p:nvSpPr>
          <p:cNvPr id="46" name="Text 43"/>
          <p:cNvSpPr/>
          <p:nvPr/>
        </p:nvSpPr>
        <p:spPr>
          <a:xfrm>
            <a:off x="6400800" y="2157984"/>
            <a:ext cx="411480" cy="128016"/>
          </a:xfrm>
          <a:prstGeom prst="rect">
            <a:avLst/>
          </a:prstGeom>
          <a:noFill/>
          <a:ln/>
        </p:spPr>
        <p:txBody>
          <a:bodyPr wrap="square" lIns="0" tIns="0" rIns="0" bIns="0" rtlCol="0" anchor="ctr"/>
          <a:lstStyle/>
          <a:p>
            <a:pPr marL="0" indent="0" algn="ctr">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7" name="Shape 44"/>
          <p:cNvSpPr/>
          <p:nvPr/>
        </p:nvSpPr>
        <p:spPr>
          <a:xfrm>
            <a:off x="5468112" y="2907792"/>
            <a:ext cx="0" cy="402336"/>
          </a:xfrm>
          <a:prstGeom prst="line">
            <a:avLst/>
          </a:prstGeom>
          <a:noFill/>
          <a:ln w="12700">
            <a:solidFill>
              <a:srgbClr val="D6DFE8"/>
            </a:solidFill>
            <a:prstDash val="solid"/>
            <a:tailEnd type="none"/>
          </a:ln>
        </p:spPr>
        <p:txBody>
          <a:bodyPr/>
          <a:lstStyle/>
          <a:p>
            <a:endParaRPr lang="en-ES"/>
          </a:p>
        </p:txBody>
      </p:sp>
      <p:sp>
        <p:nvSpPr>
          <p:cNvPr id="48" name="Text 45"/>
          <p:cNvSpPr/>
          <p:nvPr/>
        </p:nvSpPr>
        <p:spPr>
          <a:xfrm>
            <a:off x="5266944" y="3035808"/>
            <a:ext cx="457200" cy="128016"/>
          </a:xfrm>
          <a:prstGeom prst="rect">
            <a:avLst/>
          </a:prstGeom>
          <a:noFill/>
          <a:ln/>
        </p:spPr>
        <p:txBody>
          <a:bodyPr wrap="square" lIns="0" tIns="0" rIns="0" bIns="0" rtlCol="0" anchor="ctr"/>
          <a:lstStyle/>
          <a:p>
            <a:pPr marL="0" indent="0" algn="ctr">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9" name="Shape 46"/>
          <p:cNvSpPr/>
          <p:nvPr/>
        </p:nvSpPr>
        <p:spPr>
          <a:xfrm>
            <a:off x="6318504" y="3831336"/>
            <a:ext cx="393192" cy="0"/>
          </a:xfrm>
          <a:prstGeom prst="line">
            <a:avLst/>
          </a:prstGeom>
          <a:noFill/>
          <a:ln w="12700">
            <a:solidFill>
              <a:srgbClr val="D6DFE8"/>
            </a:solidFill>
            <a:prstDash val="solid"/>
            <a:tailEnd type="triangle"/>
          </a:ln>
        </p:spPr>
        <p:txBody>
          <a:bodyPr/>
          <a:lstStyle/>
          <a:p>
            <a:endParaRPr lang="en-ES"/>
          </a:p>
        </p:txBody>
      </p:sp>
      <p:sp>
        <p:nvSpPr>
          <p:cNvPr id="50" name="Text 47"/>
          <p:cNvSpPr/>
          <p:nvPr/>
        </p:nvSpPr>
        <p:spPr>
          <a:xfrm>
            <a:off x="6400800" y="3602736"/>
            <a:ext cx="411480" cy="128016"/>
          </a:xfrm>
          <a:prstGeom prst="rect">
            <a:avLst/>
          </a:prstGeom>
          <a:noFill/>
          <a:ln/>
        </p:spPr>
        <p:txBody>
          <a:bodyPr wrap="square" lIns="0" tIns="0" rIns="0" bIns="0" rtlCol="0" anchor="ctr"/>
          <a:lstStyle/>
          <a:p>
            <a:pPr marL="0" indent="0" algn="ctr">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51" name="Shape 48"/>
          <p:cNvSpPr/>
          <p:nvPr/>
        </p:nvSpPr>
        <p:spPr>
          <a:xfrm>
            <a:off x="8915400" y="1847088"/>
            <a:ext cx="2514600" cy="2706624"/>
          </a:xfrm>
          <a:prstGeom prst="roundRect">
            <a:avLst>
              <a:gd name="adj" fmla="val 2909"/>
            </a:avLst>
          </a:prstGeom>
          <a:solidFill>
            <a:srgbClr val="F7F9FC"/>
          </a:solidFill>
          <a:ln w="12700">
            <a:solidFill>
              <a:srgbClr val="D6DFE8"/>
            </a:solidFill>
            <a:prstDash val="solid"/>
          </a:ln>
        </p:spPr>
        <p:txBody>
          <a:bodyPr/>
          <a:lstStyle/>
          <a:p>
            <a:endParaRPr lang="en-ES"/>
          </a:p>
        </p:txBody>
      </p:sp>
      <p:sp>
        <p:nvSpPr>
          <p:cNvPr id="52" name="Text 49"/>
          <p:cNvSpPr/>
          <p:nvPr/>
        </p:nvSpPr>
        <p:spPr>
          <a:xfrm>
            <a:off x="9144000" y="2048256"/>
            <a:ext cx="2011680" cy="164592"/>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Lectura del modelo</a:t>
            </a:r>
            <a:endParaRPr lang="en-US" sz="1300" dirty="0"/>
          </a:p>
        </p:txBody>
      </p:sp>
      <p:sp>
        <p:nvSpPr>
          <p:cNvPr id="53" name="Text 50"/>
          <p:cNvSpPr/>
          <p:nvPr/>
        </p:nvSpPr>
        <p:spPr>
          <a:xfrm>
            <a:off x="9144000" y="2395728"/>
            <a:ext cx="182880" cy="164592"/>
          </a:xfrm>
          <a:prstGeom prst="rect">
            <a:avLst/>
          </a:prstGeom>
          <a:noFill/>
          <a:ln/>
        </p:spPr>
        <p:txBody>
          <a:bodyPr wrap="square" lIns="0" tIns="0" rIns="0" bIns="0" rtlCol="0" anchor="ctr"/>
          <a:lstStyle/>
          <a:p>
            <a:pPr marL="0" indent="0">
              <a:buNone/>
            </a:pPr>
            <a:r>
              <a:rPr lang="en-US" sz="980" b="1" dirty="0">
                <a:solidFill>
                  <a:srgbClr val="FF6B57"/>
                </a:solidFill>
                <a:latin typeface="Arial" pitchFamily="34" charset="0"/>
                <a:ea typeface="Arial" pitchFamily="34" charset="-122"/>
                <a:cs typeface="Arial" pitchFamily="34" charset="-120"/>
              </a:rPr>
              <a:t>•</a:t>
            </a:r>
            <a:endParaRPr lang="en-US" sz="980" dirty="0"/>
          </a:p>
        </p:txBody>
      </p:sp>
      <p:sp>
        <p:nvSpPr>
          <p:cNvPr id="54" name="Text 51"/>
          <p:cNvSpPr/>
          <p:nvPr/>
        </p:nvSpPr>
        <p:spPr>
          <a:xfrm>
            <a:off x="9363456" y="2386584"/>
            <a:ext cx="1792224" cy="164592"/>
          </a:xfrm>
          <a:prstGeom prst="rect">
            <a:avLst/>
          </a:prstGeom>
          <a:noFill/>
          <a:ln/>
        </p:spPr>
        <p:txBody>
          <a:bodyPr wrap="square" lIns="0" tIns="0" rIns="0" bIns="0" rtlCol="0" anchor="ctr"/>
          <a:lstStyle/>
          <a:p>
            <a:pPr marL="0" indent="0">
              <a:buNone/>
            </a:pPr>
            <a:r>
              <a:rPr lang="en-US" sz="980" dirty="0">
                <a:solidFill>
                  <a:srgbClr val="243746"/>
                </a:solidFill>
                <a:latin typeface="Arial" pitchFamily="34" charset="0"/>
                <a:ea typeface="Arial" pitchFamily="34" charset="-122"/>
                <a:cs typeface="Arial" pitchFamily="34" charset="-120"/>
              </a:rPr>
              <a:t>User se relaciona con Project mediante ProjectMember.</a:t>
            </a:r>
            <a:endParaRPr lang="en-US" sz="980" dirty="0"/>
          </a:p>
        </p:txBody>
      </p:sp>
      <p:sp>
        <p:nvSpPr>
          <p:cNvPr id="55" name="Text 52"/>
          <p:cNvSpPr/>
          <p:nvPr/>
        </p:nvSpPr>
        <p:spPr>
          <a:xfrm>
            <a:off x="9144000" y="2834640"/>
            <a:ext cx="182880" cy="164592"/>
          </a:xfrm>
          <a:prstGeom prst="rect">
            <a:avLst/>
          </a:prstGeom>
          <a:noFill/>
          <a:ln/>
        </p:spPr>
        <p:txBody>
          <a:bodyPr wrap="square" lIns="0" tIns="0" rIns="0" bIns="0" rtlCol="0" anchor="ctr"/>
          <a:lstStyle/>
          <a:p>
            <a:pPr marL="0" indent="0">
              <a:buNone/>
            </a:pPr>
            <a:r>
              <a:rPr lang="en-US" sz="980" b="1" dirty="0">
                <a:solidFill>
                  <a:srgbClr val="FF6B57"/>
                </a:solidFill>
                <a:latin typeface="Arial" pitchFamily="34" charset="0"/>
                <a:ea typeface="Arial" pitchFamily="34" charset="-122"/>
                <a:cs typeface="Arial" pitchFamily="34" charset="-120"/>
              </a:rPr>
              <a:t>•</a:t>
            </a:r>
            <a:endParaRPr lang="en-US" sz="980" dirty="0"/>
          </a:p>
        </p:txBody>
      </p:sp>
      <p:sp>
        <p:nvSpPr>
          <p:cNvPr id="56" name="Text 53"/>
          <p:cNvSpPr/>
          <p:nvPr/>
        </p:nvSpPr>
        <p:spPr>
          <a:xfrm>
            <a:off x="9363456" y="2825496"/>
            <a:ext cx="1792224" cy="164592"/>
          </a:xfrm>
          <a:prstGeom prst="rect">
            <a:avLst/>
          </a:prstGeom>
          <a:noFill/>
          <a:ln/>
        </p:spPr>
        <p:txBody>
          <a:bodyPr wrap="square" lIns="0" tIns="0" rIns="0" bIns="0" rtlCol="0" anchor="ctr"/>
          <a:lstStyle/>
          <a:p>
            <a:pPr marL="0" indent="0">
              <a:buNone/>
            </a:pPr>
            <a:r>
              <a:rPr lang="en-US" sz="980" dirty="0">
                <a:solidFill>
                  <a:srgbClr val="243746"/>
                </a:solidFill>
                <a:latin typeface="Arial" pitchFamily="34" charset="0"/>
                <a:ea typeface="Arial" pitchFamily="34" charset="-122"/>
                <a:cs typeface="Arial" pitchFamily="34" charset="-120"/>
              </a:rPr>
              <a:t>Cada Project agrupa múltiples Page y define idiomas activos.</a:t>
            </a:r>
            <a:endParaRPr lang="en-US" sz="980" dirty="0"/>
          </a:p>
        </p:txBody>
      </p:sp>
      <p:sp>
        <p:nvSpPr>
          <p:cNvPr id="57" name="Text 54"/>
          <p:cNvSpPr/>
          <p:nvPr/>
        </p:nvSpPr>
        <p:spPr>
          <a:xfrm>
            <a:off x="9144000" y="3273552"/>
            <a:ext cx="182880" cy="164592"/>
          </a:xfrm>
          <a:prstGeom prst="rect">
            <a:avLst/>
          </a:prstGeom>
          <a:noFill/>
          <a:ln/>
        </p:spPr>
        <p:txBody>
          <a:bodyPr wrap="square" lIns="0" tIns="0" rIns="0" bIns="0" rtlCol="0" anchor="ctr"/>
          <a:lstStyle/>
          <a:p>
            <a:pPr marL="0" indent="0">
              <a:buNone/>
            </a:pPr>
            <a:r>
              <a:rPr lang="en-US" sz="980" b="1" dirty="0">
                <a:solidFill>
                  <a:srgbClr val="FF6B57"/>
                </a:solidFill>
                <a:latin typeface="Arial" pitchFamily="34" charset="0"/>
                <a:ea typeface="Arial" pitchFamily="34" charset="-122"/>
                <a:cs typeface="Arial" pitchFamily="34" charset="-120"/>
              </a:rPr>
              <a:t>•</a:t>
            </a:r>
            <a:endParaRPr lang="en-US" sz="980" dirty="0"/>
          </a:p>
        </p:txBody>
      </p:sp>
      <p:sp>
        <p:nvSpPr>
          <p:cNvPr id="58" name="Text 55"/>
          <p:cNvSpPr/>
          <p:nvPr/>
        </p:nvSpPr>
        <p:spPr>
          <a:xfrm>
            <a:off x="9363456" y="3264408"/>
            <a:ext cx="1792224" cy="164592"/>
          </a:xfrm>
          <a:prstGeom prst="rect">
            <a:avLst/>
          </a:prstGeom>
          <a:noFill/>
          <a:ln/>
        </p:spPr>
        <p:txBody>
          <a:bodyPr wrap="square" lIns="0" tIns="0" rIns="0" bIns="0" rtlCol="0" anchor="ctr"/>
          <a:lstStyle/>
          <a:p>
            <a:pPr marL="0" indent="0">
              <a:buNone/>
            </a:pPr>
            <a:r>
              <a:rPr lang="en-US" sz="980" dirty="0">
                <a:solidFill>
                  <a:srgbClr val="243746"/>
                </a:solidFill>
                <a:latin typeface="Arial" pitchFamily="34" charset="0"/>
                <a:ea typeface="Arial" pitchFamily="34" charset="-122"/>
                <a:cs typeface="Arial" pitchFamily="34" charset="-120"/>
              </a:rPr>
              <a:t>PageVersion estabiliza el estado funcional antes de tocar Resource.</a:t>
            </a:r>
            <a:endParaRPr lang="en-US" sz="980" dirty="0"/>
          </a:p>
        </p:txBody>
      </p:sp>
      <p:sp>
        <p:nvSpPr>
          <p:cNvPr id="59" name="Text 56"/>
          <p:cNvSpPr/>
          <p:nvPr/>
        </p:nvSpPr>
        <p:spPr>
          <a:xfrm>
            <a:off x="9144000" y="3712464"/>
            <a:ext cx="182880" cy="164592"/>
          </a:xfrm>
          <a:prstGeom prst="rect">
            <a:avLst/>
          </a:prstGeom>
          <a:noFill/>
          <a:ln/>
        </p:spPr>
        <p:txBody>
          <a:bodyPr wrap="square" lIns="0" tIns="0" rIns="0" bIns="0" rtlCol="0" anchor="ctr"/>
          <a:lstStyle/>
          <a:p>
            <a:pPr marL="0" indent="0">
              <a:buNone/>
            </a:pPr>
            <a:r>
              <a:rPr lang="en-US" sz="980" b="1" dirty="0">
                <a:solidFill>
                  <a:srgbClr val="FF6B57"/>
                </a:solidFill>
                <a:latin typeface="Arial" pitchFamily="34" charset="0"/>
                <a:ea typeface="Arial" pitchFamily="34" charset="-122"/>
                <a:cs typeface="Arial" pitchFamily="34" charset="-120"/>
              </a:rPr>
              <a:t>•</a:t>
            </a:r>
            <a:endParaRPr lang="en-US" sz="980" dirty="0"/>
          </a:p>
        </p:txBody>
      </p:sp>
      <p:sp>
        <p:nvSpPr>
          <p:cNvPr id="60" name="Text 57"/>
          <p:cNvSpPr/>
          <p:nvPr/>
        </p:nvSpPr>
        <p:spPr>
          <a:xfrm>
            <a:off x="9363456" y="3703320"/>
            <a:ext cx="1792224" cy="164592"/>
          </a:xfrm>
          <a:prstGeom prst="rect">
            <a:avLst/>
          </a:prstGeom>
          <a:noFill/>
          <a:ln/>
        </p:spPr>
        <p:txBody>
          <a:bodyPr wrap="square" lIns="0" tIns="0" rIns="0" bIns="0" rtlCol="0" anchor="ctr"/>
          <a:lstStyle/>
          <a:p>
            <a:pPr marL="0" indent="0">
              <a:buNone/>
            </a:pPr>
            <a:r>
              <a:rPr lang="en-US" sz="980" dirty="0">
                <a:solidFill>
                  <a:srgbClr val="243746"/>
                </a:solidFill>
                <a:latin typeface="Arial" pitchFamily="34" charset="0"/>
                <a:ea typeface="Arial" pitchFamily="34" charset="-122"/>
                <a:cs typeface="Arial" pitchFamily="34" charset="-120"/>
              </a:rPr>
              <a:t>ResourceVersion materializa cada traducción final por idioma.</a:t>
            </a:r>
            <a:endParaRPr lang="en-US" sz="9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Arquitectura técnica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frontend React/Vite consume una API ASP.NET Core que coordina persistencia EF Core y servicios externos.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14</a:t>
            </a:r>
            <a:endParaRPr lang="en-US" sz="950" dirty="0"/>
          </a:p>
        </p:txBody>
      </p:sp>
      <p:sp>
        <p:nvSpPr>
          <p:cNvPr id="11" name="Shape 8"/>
          <p:cNvSpPr/>
          <p:nvPr/>
        </p:nvSpPr>
        <p:spPr>
          <a:xfrm>
            <a:off x="658368" y="2103120"/>
            <a:ext cx="2148840" cy="1874520"/>
          </a:xfrm>
          <a:prstGeom prst="roundRect">
            <a:avLst>
              <a:gd name="adj" fmla="val 3902"/>
            </a:avLst>
          </a:prstGeom>
          <a:solidFill>
            <a:srgbClr val="EEF5FB"/>
          </a:solidFill>
          <a:ln w="12700">
            <a:solidFill>
              <a:srgbClr val="D6DFE8"/>
            </a:solidFill>
            <a:prstDash val="solid"/>
          </a:ln>
        </p:spPr>
        <p:txBody>
          <a:bodyPr/>
          <a:lstStyle/>
          <a:p>
            <a:endParaRPr lang="en-ES"/>
          </a:p>
        </p:txBody>
      </p:sp>
      <p:sp>
        <p:nvSpPr>
          <p:cNvPr id="12" name="Shape 9"/>
          <p:cNvSpPr/>
          <p:nvPr/>
        </p:nvSpPr>
        <p:spPr>
          <a:xfrm>
            <a:off x="822960" y="2249424"/>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13" name="Text 10"/>
          <p:cNvSpPr/>
          <p:nvPr/>
        </p:nvSpPr>
        <p:spPr>
          <a:xfrm>
            <a:off x="822960" y="2295144"/>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Cliente</a:t>
            </a:r>
            <a:endParaRPr lang="en-US" sz="950" dirty="0"/>
          </a:p>
        </p:txBody>
      </p:sp>
      <p:sp>
        <p:nvSpPr>
          <p:cNvPr id="14" name="Text 11"/>
          <p:cNvSpPr/>
          <p:nvPr/>
        </p:nvSpPr>
        <p:spPr>
          <a:xfrm>
            <a:off x="822960" y="2578608"/>
            <a:ext cx="181965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React + TypeScript + Vite</a:t>
            </a:r>
            <a:endParaRPr lang="en-US" sz="1250" dirty="0"/>
          </a:p>
        </p:txBody>
      </p:sp>
      <p:sp>
        <p:nvSpPr>
          <p:cNvPr id="15" name="Text 12"/>
          <p:cNvSpPr/>
          <p:nvPr/>
        </p:nvSpPr>
        <p:spPr>
          <a:xfrm>
            <a:off x="822960" y="2852928"/>
            <a:ext cx="1819656" cy="96012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Navegación, estado de sesión y formularios de gestión.</a:t>
            </a:r>
            <a:endParaRPr lang="en-US" sz="1050" dirty="0"/>
          </a:p>
        </p:txBody>
      </p:sp>
      <p:sp>
        <p:nvSpPr>
          <p:cNvPr id="16" name="Shape 13"/>
          <p:cNvSpPr/>
          <p:nvPr/>
        </p:nvSpPr>
        <p:spPr>
          <a:xfrm>
            <a:off x="3218688" y="2103120"/>
            <a:ext cx="2331720" cy="1874520"/>
          </a:xfrm>
          <a:prstGeom prst="roundRect">
            <a:avLst>
              <a:gd name="adj" fmla="val 3902"/>
            </a:avLst>
          </a:prstGeom>
          <a:solidFill>
            <a:srgbClr val="FFF1EE"/>
          </a:solidFill>
          <a:ln w="12700">
            <a:solidFill>
              <a:srgbClr val="D6DFE8"/>
            </a:solidFill>
            <a:prstDash val="solid"/>
          </a:ln>
        </p:spPr>
        <p:txBody>
          <a:bodyPr/>
          <a:lstStyle/>
          <a:p>
            <a:endParaRPr lang="en-ES"/>
          </a:p>
        </p:txBody>
      </p:sp>
      <p:sp>
        <p:nvSpPr>
          <p:cNvPr id="17" name="Shape 14"/>
          <p:cNvSpPr/>
          <p:nvPr/>
        </p:nvSpPr>
        <p:spPr>
          <a:xfrm>
            <a:off x="3383280" y="2249424"/>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18" name="Text 15"/>
          <p:cNvSpPr/>
          <p:nvPr/>
        </p:nvSpPr>
        <p:spPr>
          <a:xfrm>
            <a:off x="3383280" y="2295144"/>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API</a:t>
            </a:r>
            <a:endParaRPr lang="en-US" sz="950" dirty="0"/>
          </a:p>
        </p:txBody>
      </p:sp>
      <p:sp>
        <p:nvSpPr>
          <p:cNvPr id="19" name="Text 16"/>
          <p:cNvSpPr/>
          <p:nvPr/>
        </p:nvSpPr>
        <p:spPr>
          <a:xfrm>
            <a:off x="3383280" y="2578608"/>
            <a:ext cx="200253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ASP.NET Core 8</a:t>
            </a:r>
            <a:endParaRPr lang="en-US" sz="1250" dirty="0"/>
          </a:p>
        </p:txBody>
      </p:sp>
      <p:sp>
        <p:nvSpPr>
          <p:cNvPr id="20" name="Text 17"/>
          <p:cNvSpPr/>
          <p:nvPr/>
        </p:nvSpPr>
        <p:spPr>
          <a:xfrm>
            <a:off x="3383280" y="2852928"/>
            <a:ext cx="2002536" cy="96012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Autenticación, validaciones jerárquicas y orquestación funcional.</a:t>
            </a:r>
            <a:endParaRPr lang="en-US" sz="1050" dirty="0"/>
          </a:p>
        </p:txBody>
      </p:sp>
      <p:sp>
        <p:nvSpPr>
          <p:cNvPr id="21" name="Shape 18"/>
          <p:cNvSpPr/>
          <p:nvPr/>
        </p:nvSpPr>
        <p:spPr>
          <a:xfrm>
            <a:off x="5971032" y="2103120"/>
            <a:ext cx="2103120" cy="1874520"/>
          </a:xfrm>
          <a:prstGeom prst="roundRect">
            <a:avLst>
              <a:gd name="adj" fmla="val 3902"/>
            </a:avLst>
          </a:prstGeom>
          <a:solidFill>
            <a:srgbClr val="EDF8F2"/>
          </a:solidFill>
          <a:ln w="12700">
            <a:solidFill>
              <a:srgbClr val="D6DFE8"/>
            </a:solidFill>
            <a:prstDash val="solid"/>
          </a:ln>
        </p:spPr>
        <p:txBody>
          <a:bodyPr/>
          <a:lstStyle/>
          <a:p>
            <a:endParaRPr lang="en-ES"/>
          </a:p>
        </p:txBody>
      </p:sp>
      <p:sp>
        <p:nvSpPr>
          <p:cNvPr id="22" name="Shape 19"/>
          <p:cNvSpPr/>
          <p:nvPr/>
        </p:nvSpPr>
        <p:spPr>
          <a:xfrm>
            <a:off x="6135624" y="2249424"/>
            <a:ext cx="640080" cy="256032"/>
          </a:xfrm>
          <a:prstGeom prst="roundRect">
            <a:avLst>
              <a:gd name="adj" fmla="val 25000"/>
            </a:avLst>
          </a:prstGeom>
          <a:solidFill>
            <a:srgbClr val="FFFFFF"/>
          </a:solidFill>
          <a:ln w="12700">
            <a:solidFill>
              <a:srgbClr val="2FA36B"/>
            </a:solidFill>
            <a:prstDash val="solid"/>
          </a:ln>
        </p:spPr>
        <p:txBody>
          <a:bodyPr/>
          <a:lstStyle/>
          <a:p>
            <a:endParaRPr lang="en-ES"/>
          </a:p>
        </p:txBody>
      </p:sp>
      <p:sp>
        <p:nvSpPr>
          <p:cNvPr id="23" name="Text 20"/>
          <p:cNvSpPr/>
          <p:nvPr/>
        </p:nvSpPr>
        <p:spPr>
          <a:xfrm>
            <a:off x="6135624" y="2295144"/>
            <a:ext cx="64008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Datos</a:t>
            </a:r>
            <a:endParaRPr lang="en-US" sz="950" dirty="0"/>
          </a:p>
        </p:txBody>
      </p:sp>
      <p:sp>
        <p:nvSpPr>
          <p:cNvPr id="24" name="Text 21"/>
          <p:cNvSpPr/>
          <p:nvPr/>
        </p:nvSpPr>
        <p:spPr>
          <a:xfrm>
            <a:off x="6135624" y="2578608"/>
            <a:ext cx="177393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EF Core + MySQL</a:t>
            </a:r>
            <a:endParaRPr lang="en-US" sz="1250" dirty="0"/>
          </a:p>
        </p:txBody>
      </p:sp>
      <p:sp>
        <p:nvSpPr>
          <p:cNvPr id="25" name="Text 22"/>
          <p:cNvSpPr/>
          <p:nvPr/>
        </p:nvSpPr>
        <p:spPr>
          <a:xfrm>
            <a:off x="6135624" y="2852928"/>
            <a:ext cx="1773936" cy="96012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Persistencia relacional y transacciones para cambios atómicos.</a:t>
            </a:r>
            <a:endParaRPr lang="en-US" sz="1050" dirty="0"/>
          </a:p>
        </p:txBody>
      </p:sp>
      <p:sp>
        <p:nvSpPr>
          <p:cNvPr id="26" name="Shape 23"/>
          <p:cNvSpPr/>
          <p:nvPr/>
        </p:nvSpPr>
        <p:spPr>
          <a:xfrm>
            <a:off x="8522208" y="2103120"/>
            <a:ext cx="2423160" cy="1874520"/>
          </a:xfrm>
          <a:prstGeom prst="roundRect">
            <a:avLst>
              <a:gd name="adj" fmla="val 3902"/>
            </a:avLst>
          </a:prstGeom>
          <a:solidFill>
            <a:srgbClr val="FFF7EC"/>
          </a:solidFill>
          <a:ln w="12700">
            <a:solidFill>
              <a:srgbClr val="D6DFE8"/>
            </a:solidFill>
            <a:prstDash val="solid"/>
          </a:ln>
        </p:spPr>
        <p:txBody>
          <a:bodyPr/>
          <a:lstStyle/>
          <a:p>
            <a:endParaRPr lang="en-ES"/>
          </a:p>
        </p:txBody>
      </p:sp>
      <p:sp>
        <p:nvSpPr>
          <p:cNvPr id="27" name="Shape 24"/>
          <p:cNvSpPr/>
          <p:nvPr/>
        </p:nvSpPr>
        <p:spPr>
          <a:xfrm>
            <a:off x="8686800" y="2249424"/>
            <a:ext cx="640080" cy="256032"/>
          </a:xfrm>
          <a:prstGeom prst="roundRect">
            <a:avLst>
              <a:gd name="adj" fmla="val 25000"/>
            </a:avLst>
          </a:prstGeom>
          <a:solidFill>
            <a:srgbClr val="FFFFFF"/>
          </a:solidFill>
          <a:ln w="12700">
            <a:solidFill>
              <a:srgbClr val="C58A2B"/>
            </a:solidFill>
            <a:prstDash val="solid"/>
          </a:ln>
        </p:spPr>
        <p:txBody>
          <a:bodyPr/>
          <a:lstStyle/>
          <a:p>
            <a:endParaRPr lang="en-ES"/>
          </a:p>
        </p:txBody>
      </p:sp>
      <p:sp>
        <p:nvSpPr>
          <p:cNvPr id="28" name="Text 25"/>
          <p:cNvSpPr/>
          <p:nvPr/>
        </p:nvSpPr>
        <p:spPr>
          <a:xfrm>
            <a:off x="8686800" y="2295144"/>
            <a:ext cx="640080" cy="109728"/>
          </a:xfrm>
          <a:prstGeom prst="rect">
            <a:avLst/>
          </a:prstGeom>
          <a:noFill/>
          <a:ln/>
        </p:spPr>
        <p:txBody>
          <a:bodyPr wrap="square" lIns="0" tIns="0" rIns="0" bIns="0" rtlCol="0" anchor="ctr"/>
          <a:lstStyle/>
          <a:p>
            <a:pPr marL="0" indent="0" algn="ctr">
              <a:buNone/>
            </a:pPr>
            <a:r>
              <a:rPr lang="en-US" sz="950" b="1" dirty="0">
                <a:solidFill>
                  <a:srgbClr val="C58A2B"/>
                </a:solidFill>
                <a:latin typeface="Arial" pitchFamily="34" charset="0"/>
                <a:ea typeface="Arial" pitchFamily="34" charset="-122"/>
                <a:cs typeface="Arial" pitchFamily="34" charset="-120"/>
              </a:rPr>
              <a:t>IA</a:t>
            </a:r>
            <a:endParaRPr lang="en-US" sz="950" dirty="0"/>
          </a:p>
        </p:txBody>
      </p:sp>
      <p:sp>
        <p:nvSpPr>
          <p:cNvPr id="29" name="Text 26"/>
          <p:cNvSpPr/>
          <p:nvPr/>
        </p:nvSpPr>
        <p:spPr>
          <a:xfrm>
            <a:off x="8686800" y="2578608"/>
            <a:ext cx="209397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OpenAI vía backend</a:t>
            </a:r>
            <a:endParaRPr lang="en-US" sz="1250" dirty="0"/>
          </a:p>
        </p:txBody>
      </p:sp>
      <p:sp>
        <p:nvSpPr>
          <p:cNvPr id="30" name="Text 27"/>
          <p:cNvSpPr/>
          <p:nvPr/>
        </p:nvSpPr>
        <p:spPr>
          <a:xfrm>
            <a:off x="8686800" y="2852928"/>
            <a:ext cx="2093976" cy="96012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Generación estructurada de traducciones automáticas.</a:t>
            </a:r>
            <a:endParaRPr lang="en-US" sz="1050" dirty="0"/>
          </a:p>
        </p:txBody>
      </p:sp>
      <p:sp>
        <p:nvSpPr>
          <p:cNvPr id="31" name="Shape 28"/>
          <p:cNvSpPr/>
          <p:nvPr/>
        </p:nvSpPr>
        <p:spPr>
          <a:xfrm>
            <a:off x="2816352" y="2999232"/>
            <a:ext cx="374904" cy="0"/>
          </a:xfrm>
          <a:prstGeom prst="line">
            <a:avLst/>
          </a:prstGeom>
          <a:noFill/>
          <a:ln w="12700">
            <a:solidFill>
              <a:srgbClr val="D6DFE8"/>
            </a:solidFill>
            <a:prstDash val="solid"/>
            <a:tailEnd type="triangle"/>
          </a:ln>
        </p:spPr>
        <p:txBody>
          <a:bodyPr/>
          <a:lstStyle/>
          <a:p>
            <a:endParaRPr lang="en-ES"/>
          </a:p>
        </p:txBody>
      </p:sp>
      <p:sp>
        <p:nvSpPr>
          <p:cNvPr id="32" name="Shape 29"/>
          <p:cNvSpPr/>
          <p:nvPr/>
        </p:nvSpPr>
        <p:spPr>
          <a:xfrm>
            <a:off x="5559552" y="2999232"/>
            <a:ext cx="384048" cy="0"/>
          </a:xfrm>
          <a:prstGeom prst="line">
            <a:avLst/>
          </a:prstGeom>
          <a:noFill/>
          <a:ln w="12700">
            <a:solidFill>
              <a:srgbClr val="D6DFE8"/>
            </a:solidFill>
            <a:prstDash val="solid"/>
            <a:tailEnd type="triangle"/>
          </a:ln>
        </p:spPr>
        <p:txBody>
          <a:bodyPr/>
          <a:lstStyle/>
          <a:p>
            <a:endParaRPr lang="en-ES"/>
          </a:p>
        </p:txBody>
      </p:sp>
      <p:sp>
        <p:nvSpPr>
          <p:cNvPr id="33" name="Shape 30"/>
          <p:cNvSpPr/>
          <p:nvPr/>
        </p:nvSpPr>
        <p:spPr>
          <a:xfrm>
            <a:off x="8083296" y="2999232"/>
            <a:ext cx="411480" cy="0"/>
          </a:xfrm>
          <a:prstGeom prst="line">
            <a:avLst/>
          </a:prstGeom>
          <a:noFill/>
          <a:ln w="12700">
            <a:solidFill>
              <a:srgbClr val="D6DFE8"/>
            </a:solidFill>
            <a:prstDash val="solid"/>
            <a:tailEnd type="triangle"/>
          </a:ln>
        </p:spPr>
        <p:txBody>
          <a:bodyPr/>
          <a:lstStyle/>
          <a:p>
            <a:endParaRPr lang="en-ES"/>
          </a:p>
        </p:txBody>
      </p:sp>
      <p:sp>
        <p:nvSpPr>
          <p:cNvPr id="34" name="Shape 31"/>
          <p:cNvSpPr/>
          <p:nvPr/>
        </p:nvSpPr>
        <p:spPr>
          <a:xfrm>
            <a:off x="859536" y="4572000"/>
            <a:ext cx="10469880" cy="658368"/>
          </a:xfrm>
          <a:prstGeom prst="roundRect">
            <a:avLst>
              <a:gd name="adj" fmla="val 11111"/>
            </a:avLst>
          </a:prstGeom>
          <a:solidFill>
            <a:srgbClr val="EEF3F8"/>
          </a:solidFill>
          <a:ln w="12700">
            <a:solidFill>
              <a:srgbClr val="D6DFE8"/>
            </a:solidFill>
            <a:prstDash val="solid"/>
          </a:ln>
        </p:spPr>
        <p:txBody>
          <a:bodyPr/>
          <a:lstStyle/>
          <a:p>
            <a:endParaRPr lang="en-ES"/>
          </a:p>
        </p:txBody>
      </p:sp>
      <p:sp>
        <p:nvSpPr>
          <p:cNvPr id="35" name="Text 32"/>
          <p:cNvSpPr/>
          <p:nvPr/>
        </p:nvSpPr>
        <p:spPr>
          <a:xfrm>
            <a:off x="1078992" y="4791456"/>
            <a:ext cx="10058400" cy="146304"/>
          </a:xfrm>
          <a:prstGeom prst="rect">
            <a:avLst/>
          </a:prstGeom>
          <a:noFill/>
          <a:ln/>
        </p:spPr>
        <p:txBody>
          <a:bodyPr wrap="square" lIns="0" tIns="0" rIns="0" bIns="0" rtlCol="0" anchor="ctr"/>
          <a:lstStyle/>
          <a:p>
            <a:pPr marL="0" indent="0" algn="ctr">
              <a:buNone/>
            </a:pPr>
            <a:r>
              <a:rPr lang="en-US" sz="1080" dirty="0">
                <a:solidFill>
                  <a:srgbClr val="183B56"/>
                </a:solidFill>
                <a:latin typeface="Arial" pitchFamily="34" charset="0"/>
                <a:ea typeface="Arial" pitchFamily="34" charset="-122"/>
                <a:cs typeface="Arial" pitchFamily="34" charset="-120"/>
              </a:rPr>
              <a:t>Flujo principal: UI → API REST → servicios de dominio → EF Core/MySQL, con OpenAI integrado solo cuando el caso de uso lo requiere.</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API jerárquica y consistencia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Las rutas reflejan el dominio y concentran validaciones de pertenencia, duplicados, borrado lógico y transacciones.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15</a:t>
            </a:r>
            <a:endParaRPr lang="en-US" sz="950" dirty="0"/>
          </a:p>
        </p:txBody>
      </p:sp>
      <p:sp>
        <p:nvSpPr>
          <p:cNvPr id="11" name="Shape 8"/>
          <p:cNvSpPr/>
          <p:nvPr/>
        </p:nvSpPr>
        <p:spPr>
          <a:xfrm>
            <a:off x="658368" y="1828800"/>
            <a:ext cx="5577840" cy="3291840"/>
          </a:xfrm>
          <a:prstGeom prst="roundRect">
            <a:avLst>
              <a:gd name="adj" fmla="val 2222"/>
            </a:avLst>
          </a:prstGeom>
          <a:solidFill>
            <a:srgbClr val="F7F9FC"/>
          </a:solidFill>
          <a:ln w="12700">
            <a:solidFill>
              <a:srgbClr val="D6DFE8"/>
            </a:solidFill>
            <a:prstDash val="solid"/>
          </a:ln>
        </p:spPr>
        <p:txBody>
          <a:bodyPr/>
          <a:lstStyle/>
          <a:p>
            <a:endParaRPr lang="en-ES"/>
          </a:p>
        </p:txBody>
      </p:sp>
      <p:sp>
        <p:nvSpPr>
          <p:cNvPr id="12" name="Text 9"/>
          <p:cNvSpPr/>
          <p:nvPr/>
        </p:nvSpPr>
        <p:spPr>
          <a:xfrm>
            <a:off x="822960" y="1975104"/>
            <a:ext cx="5248656" cy="164592"/>
          </a:xfrm>
          <a:prstGeom prst="rect">
            <a:avLst/>
          </a:prstGeom>
          <a:noFill/>
          <a:ln/>
        </p:spPr>
        <p:txBody>
          <a:bodyPr wrap="square" lIns="0" tIns="0" rIns="0" bIns="0" rtlCol="0" anchor="ctr"/>
          <a:lstStyle/>
          <a:p>
            <a:pPr marL="0" indent="0">
              <a:buNone/>
            </a:pPr>
            <a:r>
              <a:rPr lang="en-US" sz="1100" b="1" dirty="0">
                <a:solidFill>
                  <a:srgbClr val="183B56"/>
                </a:solidFill>
                <a:latin typeface="Arial" pitchFamily="34" charset="0"/>
                <a:ea typeface="Arial" pitchFamily="34" charset="-122"/>
                <a:cs typeface="Arial" pitchFamily="34" charset="-120"/>
              </a:rPr>
              <a:t>Ruta representativa</a:t>
            </a:r>
            <a:endParaRPr lang="en-US" sz="1100" dirty="0"/>
          </a:p>
        </p:txBody>
      </p:sp>
      <p:sp>
        <p:nvSpPr>
          <p:cNvPr id="13" name="Text 10"/>
          <p:cNvSpPr/>
          <p:nvPr/>
        </p:nvSpPr>
        <p:spPr>
          <a:xfrm>
            <a:off x="822960" y="2267712"/>
            <a:ext cx="5248656" cy="2724912"/>
          </a:xfrm>
          <a:prstGeom prst="rect">
            <a:avLst/>
          </a:prstGeom>
          <a:noFill/>
          <a:ln/>
        </p:spPr>
        <p:txBody>
          <a:bodyPr wrap="square" lIns="0" tIns="0" rIns="0" bIns="0" rtlCol="0" anchor="ctr">
            <a:normAutofit/>
          </a:bodyPr>
          <a:lstStyle/>
          <a:p>
            <a:pPr marL="0" indent="0">
              <a:buNone/>
            </a:pPr>
            <a:r>
              <a:rPr lang="en-US" sz="950" dirty="0">
                <a:solidFill>
                  <a:srgbClr val="243746"/>
                </a:solidFill>
                <a:latin typeface="Arial" pitchFamily="34" charset="0"/>
                <a:ea typeface="Arial" pitchFamily="34" charset="-122"/>
                <a:cs typeface="Arial" pitchFamily="34" charset="-120"/>
              </a:rPr>
              <a:t>POST /api/v1/projects/{projectId}/pages/{pageId}/versions/{pageVersionId}/resources/{resourceId}/automatic-translations</a:t>
            </a:r>
            <a:endParaRPr lang="en-US" sz="950" dirty="0"/>
          </a:p>
          <a:p>
            <a:pPr marL="0" indent="0">
              <a:buNone/>
            </a:pP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GET  /api/v1/projects/{projectId}/pages/{pageId}</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POST /api/v1/projects/{projectId}/pages/{pageId}/versions</a:t>
            </a:r>
            <a:endParaRPr lang="en-US" sz="950" dirty="0"/>
          </a:p>
          <a:p>
            <a:pPr marL="0" indent="0">
              <a:buNone/>
            </a:pPr>
            <a:r>
              <a:rPr lang="en-US" sz="950" dirty="0">
                <a:solidFill>
                  <a:srgbClr val="243746"/>
                </a:solidFill>
                <a:latin typeface="Arial" pitchFamily="34" charset="0"/>
                <a:ea typeface="Arial" pitchFamily="34" charset="-122"/>
                <a:cs typeface="Arial" pitchFamily="34" charset="-120"/>
              </a:rPr>
              <a:t>PATCH /api/v1/projects/{projectId}/pages/{pageId}/versions/{pageVersionId}</a:t>
            </a:r>
            <a:endParaRPr lang="en-US" sz="950" dirty="0"/>
          </a:p>
        </p:txBody>
      </p:sp>
      <p:sp>
        <p:nvSpPr>
          <p:cNvPr id="14" name="Shape 11"/>
          <p:cNvSpPr/>
          <p:nvPr/>
        </p:nvSpPr>
        <p:spPr>
          <a:xfrm>
            <a:off x="6537960" y="1828800"/>
            <a:ext cx="4754880" cy="713232"/>
          </a:xfrm>
          <a:prstGeom prst="roundRect">
            <a:avLst>
              <a:gd name="adj" fmla="val 10256"/>
            </a:avLst>
          </a:prstGeom>
          <a:solidFill>
            <a:srgbClr val="EEF5FB"/>
          </a:solidFill>
          <a:ln w="12700">
            <a:solidFill>
              <a:srgbClr val="D6DFE8"/>
            </a:solidFill>
            <a:prstDash val="solid"/>
          </a:ln>
        </p:spPr>
        <p:txBody>
          <a:bodyPr/>
          <a:lstStyle/>
          <a:p>
            <a:endParaRPr lang="en-ES"/>
          </a:p>
        </p:txBody>
      </p:sp>
      <p:sp>
        <p:nvSpPr>
          <p:cNvPr id="15" name="Shape 12"/>
          <p:cNvSpPr/>
          <p:nvPr/>
        </p:nvSpPr>
        <p:spPr>
          <a:xfrm>
            <a:off x="6537960" y="1828800"/>
            <a:ext cx="91440" cy="713232"/>
          </a:xfrm>
          <a:prstGeom prst="rect">
            <a:avLst/>
          </a:prstGeom>
          <a:solidFill>
            <a:srgbClr val="183B56"/>
          </a:solidFill>
          <a:ln w="12700">
            <a:solidFill>
              <a:srgbClr val="183B56"/>
            </a:solidFill>
            <a:prstDash val="solid"/>
          </a:ln>
        </p:spPr>
        <p:txBody>
          <a:bodyPr/>
          <a:lstStyle/>
          <a:p>
            <a:endParaRPr lang="en-ES"/>
          </a:p>
        </p:txBody>
      </p:sp>
      <p:sp>
        <p:nvSpPr>
          <p:cNvPr id="16" name="Text 13"/>
          <p:cNvSpPr/>
          <p:nvPr/>
        </p:nvSpPr>
        <p:spPr>
          <a:xfrm>
            <a:off x="6757416" y="1993392"/>
            <a:ext cx="444398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Pertenencia</a:t>
            </a:r>
            <a:endParaRPr lang="en-US" sz="1300" dirty="0"/>
          </a:p>
        </p:txBody>
      </p:sp>
      <p:sp>
        <p:nvSpPr>
          <p:cNvPr id="17" name="Text 14"/>
          <p:cNvSpPr/>
          <p:nvPr/>
        </p:nvSpPr>
        <p:spPr>
          <a:xfrm>
            <a:off x="6757416" y="2267712"/>
            <a:ext cx="4443984" cy="18288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Cada operación verifica que proyecto, página y versión pertenecen al mismo contexto solicitado.</a:t>
            </a:r>
            <a:endParaRPr lang="en-US" sz="1150" dirty="0"/>
          </a:p>
        </p:txBody>
      </p:sp>
      <p:sp>
        <p:nvSpPr>
          <p:cNvPr id="18" name="Shape 15"/>
          <p:cNvSpPr/>
          <p:nvPr/>
        </p:nvSpPr>
        <p:spPr>
          <a:xfrm>
            <a:off x="6537960" y="2697480"/>
            <a:ext cx="4754880" cy="713232"/>
          </a:xfrm>
          <a:prstGeom prst="roundRect">
            <a:avLst>
              <a:gd name="adj" fmla="val 10256"/>
            </a:avLst>
          </a:prstGeom>
          <a:solidFill>
            <a:srgbClr val="FFF1EE"/>
          </a:solidFill>
          <a:ln w="12700">
            <a:solidFill>
              <a:srgbClr val="D6DFE8"/>
            </a:solidFill>
            <a:prstDash val="solid"/>
          </a:ln>
        </p:spPr>
        <p:txBody>
          <a:bodyPr/>
          <a:lstStyle/>
          <a:p>
            <a:endParaRPr lang="en-ES"/>
          </a:p>
        </p:txBody>
      </p:sp>
      <p:sp>
        <p:nvSpPr>
          <p:cNvPr id="19" name="Shape 16"/>
          <p:cNvSpPr/>
          <p:nvPr/>
        </p:nvSpPr>
        <p:spPr>
          <a:xfrm>
            <a:off x="6537960" y="2697480"/>
            <a:ext cx="91440" cy="713232"/>
          </a:xfrm>
          <a:prstGeom prst="rect">
            <a:avLst/>
          </a:prstGeom>
          <a:solidFill>
            <a:srgbClr val="FF6B57"/>
          </a:solidFill>
          <a:ln w="12700">
            <a:solidFill>
              <a:srgbClr val="FF6B57"/>
            </a:solidFill>
            <a:prstDash val="solid"/>
          </a:ln>
        </p:spPr>
        <p:txBody>
          <a:bodyPr/>
          <a:lstStyle/>
          <a:p>
            <a:endParaRPr lang="en-ES"/>
          </a:p>
        </p:txBody>
      </p:sp>
      <p:sp>
        <p:nvSpPr>
          <p:cNvPr id="20" name="Text 17"/>
          <p:cNvSpPr/>
          <p:nvPr/>
        </p:nvSpPr>
        <p:spPr>
          <a:xfrm>
            <a:off x="6757416" y="2862072"/>
            <a:ext cx="444398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Duplicados</a:t>
            </a:r>
            <a:endParaRPr lang="en-US" sz="1300" dirty="0"/>
          </a:p>
        </p:txBody>
      </p:sp>
      <p:sp>
        <p:nvSpPr>
          <p:cNvPr id="21" name="Text 18"/>
          <p:cNvSpPr/>
          <p:nvPr/>
        </p:nvSpPr>
        <p:spPr>
          <a:xfrm>
            <a:off x="6757416" y="3136392"/>
            <a:ext cx="4443984" cy="18288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Se bloquean claves repetidas y conflictos de recursos para mantener consistencia funcional.</a:t>
            </a:r>
            <a:endParaRPr lang="en-US" sz="1150" dirty="0"/>
          </a:p>
        </p:txBody>
      </p:sp>
      <p:sp>
        <p:nvSpPr>
          <p:cNvPr id="22" name="Shape 19"/>
          <p:cNvSpPr/>
          <p:nvPr/>
        </p:nvSpPr>
        <p:spPr>
          <a:xfrm>
            <a:off x="6537960" y="3566160"/>
            <a:ext cx="4754880" cy="713232"/>
          </a:xfrm>
          <a:prstGeom prst="roundRect">
            <a:avLst>
              <a:gd name="adj" fmla="val 10256"/>
            </a:avLst>
          </a:prstGeom>
          <a:solidFill>
            <a:srgbClr val="EDF8F2"/>
          </a:solidFill>
          <a:ln w="12700">
            <a:solidFill>
              <a:srgbClr val="D6DFE8"/>
            </a:solidFill>
            <a:prstDash val="solid"/>
          </a:ln>
        </p:spPr>
        <p:txBody>
          <a:bodyPr/>
          <a:lstStyle/>
          <a:p>
            <a:endParaRPr lang="en-ES"/>
          </a:p>
        </p:txBody>
      </p:sp>
      <p:sp>
        <p:nvSpPr>
          <p:cNvPr id="23" name="Shape 20"/>
          <p:cNvSpPr/>
          <p:nvPr/>
        </p:nvSpPr>
        <p:spPr>
          <a:xfrm>
            <a:off x="6537960" y="3566160"/>
            <a:ext cx="91440" cy="713232"/>
          </a:xfrm>
          <a:prstGeom prst="rect">
            <a:avLst/>
          </a:prstGeom>
          <a:solidFill>
            <a:srgbClr val="2FA36B"/>
          </a:solidFill>
          <a:ln w="12700">
            <a:solidFill>
              <a:srgbClr val="2FA36B"/>
            </a:solidFill>
            <a:prstDash val="solid"/>
          </a:ln>
        </p:spPr>
        <p:txBody>
          <a:bodyPr/>
          <a:lstStyle/>
          <a:p>
            <a:endParaRPr lang="en-ES"/>
          </a:p>
        </p:txBody>
      </p:sp>
      <p:sp>
        <p:nvSpPr>
          <p:cNvPr id="24" name="Text 21"/>
          <p:cNvSpPr/>
          <p:nvPr/>
        </p:nvSpPr>
        <p:spPr>
          <a:xfrm>
            <a:off x="6757416" y="3730752"/>
            <a:ext cx="444398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Soft delete</a:t>
            </a:r>
            <a:endParaRPr lang="en-US" sz="1300" dirty="0"/>
          </a:p>
        </p:txBody>
      </p:sp>
      <p:sp>
        <p:nvSpPr>
          <p:cNvPr id="25" name="Text 22"/>
          <p:cNvSpPr/>
          <p:nvPr/>
        </p:nvSpPr>
        <p:spPr>
          <a:xfrm>
            <a:off x="6757416" y="4005072"/>
            <a:ext cx="4443984" cy="18288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borrado lógico preserva trazabilidad y evita perder historial útil de edición.</a:t>
            </a:r>
            <a:endParaRPr lang="en-US" sz="1150" dirty="0"/>
          </a:p>
        </p:txBody>
      </p:sp>
      <p:sp>
        <p:nvSpPr>
          <p:cNvPr id="26" name="Shape 23"/>
          <p:cNvSpPr/>
          <p:nvPr/>
        </p:nvSpPr>
        <p:spPr>
          <a:xfrm>
            <a:off x="6537960" y="4434840"/>
            <a:ext cx="4754880" cy="713232"/>
          </a:xfrm>
          <a:prstGeom prst="roundRect">
            <a:avLst>
              <a:gd name="adj" fmla="val 10256"/>
            </a:avLst>
          </a:prstGeom>
          <a:solidFill>
            <a:srgbClr val="FFF7EC"/>
          </a:solidFill>
          <a:ln w="12700">
            <a:solidFill>
              <a:srgbClr val="D6DFE8"/>
            </a:solidFill>
            <a:prstDash val="solid"/>
          </a:ln>
        </p:spPr>
        <p:txBody>
          <a:bodyPr/>
          <a:lstStyle/>
          <a:p>
            <a:endParaRPr lang="en-ES"/>
          </a:p>
        </p:txBody>
      </p:sp>
      <p:sp>
        <p:nvSpPr>
          <p:cNvPr id="27" name="Shape 24"/>
          <p:cNvSpPr/>
          <p:nvPr/>
        </p:nvSpPr>
        <p:spPr>
          <a:xfrm>
            <a:off x="6537960" y="4434840"/>
            <a:ext cx="91440" cy="713232"/>
          </a:xfrm>
          <a:prstGeom prst="rect">
            <a:avLst/>
          </a:prstGeom>
          <a:solidFill>
            <a:srgbClr val="C58A2B"/>
          </a:solidFill>
          <a:ln w="12700">
            <a:solidFill>
              <a:srgbClr val="C58A2B"/>
            </a:solidFill>
            <a:prstDash val="solid"/>
          </a:ln>
        </p:spPr>
        <p:txBody>
          <a:bodyPr/>
          <a:lstStyle/>
          <a:p>
            <a:endParaRPr lang="en-ES"/>
          </a:p>
        </p:txBody>
      </p:sp>
      <p:sp>
        <p:nvSpPr>
          <p:cNvPr id="28" name="Text 25"/>
          <p:cNvSpPr/>
          <p:nvPr/>
        </p:nvSpPr>
        <p:spPr>
          <a:xfrm>
            <a:off x="6757416" y="4599432"/>
            <a:ext cx="444398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Transacciones</a:t>
            </a:r>
            <a:endParaRPr lang="en-US" sz="1300" dirty="0"/>
          </a:p>
        </p:txBody>
      </p:sp>
      <p:sp>
        <p:nvSpPr>
          <p:cNvPr id="29" name="Text 26"/>
          <p:cNvSpPr/>
          <p:nvPr/>
        </p:nvSpPr>
        <p:spPr>
          <a:xfrm>
            <a:off x="6757416" y="4873752"/>
            <a:ext cx="4443984" cy="18288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Los cambios críticos, como traducciones automáticas, se completan o revierten de forma atómica.</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Seguridad y frontera de confianza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solución combina autenticación delegada, tokens propios y aislamiento de secretos en el backend y en Azure.</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16</a:t>
            </a:r>
            <a:endParaRPr lang="en-US" sz="950" dirty="0"/>
          </a:p>
        </p:txBody>
      </p:sp>
      <p:sp>
        <p:nvSpPr>
          <p:cNvPr id="11" name="Shape 8"/>
          <p:cNvSpPr/>
          <p:nvPr/>
        </p:nvSpPr>
        <p:spPr>
          <a:xfrm>
            <a:off x="658368" y="1993392"/>
            <a:ext cx="1920240" cy="1298448"/>
          </a:xfrm>
          <a:prstGeom prst="roundRect">
            <a:avLst>
              <a:gd name="adj" fmla="val 5634"/>
            </a:avLst>
          </a:prstGeom>
          <a:solidFill>
            <a:srgbClr val="FFF1EE"/>
          </a:solidFill>
          <a:ln w="12700">
            <a:solidFill>
              <a:srgbClr val="D6DFE8"/>
            </a:solidFill>
            <a:prstDash val="solid"/>
          </a:ln>
        </p:spPr>
        <p:txBody>
          <a:bodyPr/>
          <a:lstStyle/>
          <a:p>
            <a:endParaRPr lang="en-ES"/>
          </a:p>
        </p:txBody>
      </p:sp>
      <p:sp>
        <p:nvSpPr>
          <p:cNvPr id="12" name="Shape 9"/>
          <p:cNvSpPr/>
          <p:nvPr/>
        </p:nvSpPr>
        <p:spPr>
          <a:xfrm>
            <a:off x="822960" y="2139696"/>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13" name="Text 10"/>
          <p:cNvSpPr/>
          <p:nvPr/>
        </p:nvSpPr>
        <p:spPr>
          <a:xfrm>
            <a:off x="822960" y="2185416"/>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1</a:t>
            </a:r>
            <a:endParaRPr lang="en-US" sz="950" dirty="0"/>
          </a:p>
        </p:txBody>
      </p:sp>
      <p:sp>
        <p:nvSpPr>
          <p:cNvPr id="14" name="Text 11"/>
          <p:cNvSpPr/>
          <p:nvPr/>
        </p:nvSpPr>
        <p:spPr>
          <a:xfrm>
            <a:off x="822960" y="2468880"/>
            <a:ext cx="159105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Google OAuth</a:t>
            </a:r>
            <a:endParaRPr lang="en-US" sz="1250" dirty="0"/>
          </a:p>
        </p:txBody>
      </p:sp>
      <p:sp>
        <p:nvSpPr>
          <p:cNvPr id="15" name="Text 12"/>
          <p:cNvSpPr/>
          <p:nvPr/>
        </p:nvSpPr>
        <p:spPr>
          <a:xfrm>
            <a:off x="822960" y="2743200"/>
            <a:ext cx="1591056" cy="3840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Valida la identidad inicial del usuario.</a:t>
            </a:r>
            <a:endParaRPr lang="en-US" sz="1050" dirty="0"/>
          </a:p>
        </p:txBody>
      </p:sp>
      <p:sp>
        <p:nvSpPr>
          <p:cNvPr id="16" name="Shape 13"/>
          <p:cNvSpPr/>
          <p:nvPr/>
        </p:nvSpPr>
        <p:spPr>
          <a:xfrm>
            <a:off x="2880360" y="1993392"/>
            <a:ext cx="2011680" cy="1298448"/>
          </a:xfrm>
          <a:prstGeom prst="roundRect">
            <a:avLst>
              <a:gd name="adj" fmla="val 5634"/>
            </a:avLst>
          </a:prstGeom>
          <a:solidFill>
            <a:srgbClr val="EEF5FB"/>
          </a:solidFill>
          <a:ln w="12700">
            <a:solidFill>
              <a:srgbClr val="D6DFE8"/>
            </a:solidFill>
            <a:prstDash val="solid"/>
          </a:ln>
        </p:spPr>
        <p:txBody>
          <a:bodyPr/>
          <a:lstStyle/>
          <a:p>
            <a:endParaRPr lang="en-ES"/>
          </a:p>
        </p:txBody>
      </p:sp>
      <p:sp>
        <p:nvSpPr>
          <p:cNvPr id="17" name="Shape 14"/>
          <p:cNvSpPr/>
          <p:nvPr/>
        </p:nvSpPr>
        <p:spPr>
          <a:xfrm>
            <a:off x="3044952" y="2139696"/>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18" name="Text 15"/>
          <p:cNvSpPr/>
          <p:nvPr/>
        </p:nvSpPr>
        <p:spPr>
          <a:xfrm>
            <a:off x="3044952" y="2185416"/>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2</a:t>
            </a:r>
            <a:endParaRPr lang="en-US" sz="950" dirty="0"/>
          </a:p>
        </p:txBody>
      </p:sp>
      <p:sp>
        <p:nvSpPr>
          <p:cNvPr id="19" name="Text 16"/>
          <p:cNvSpPr/>
          <p:nvPr/>
        </p:nvSpPr>
        <p:spPr>
          <a:xfrm>
            <a:off x="3044952" y="2468880"/>
            <a:ext cx="168249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Frontend</a:t>
            </a:r>
            <a:endParaRPr lang="en-US" sz="1250" dirty="0"/>
          </a:p>
        </p:txBody>
      </p:sp>
      <p:sp>
        <p:nvSpPr>
          <p:cNvPr id="20" name="Text 17"/>
          <p:cNvSpPr/>
          <p:nvPr/>
        </p:nvSpPr>
        <p:spPr>
          <a:xfrm>
            <a:off x="3044952" y="2743200"/>
            <a:ext cx="1682496" cy="3840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Guarda tokens y llama a rutas protegidas.</a:t>
            </a:r>
            <a:endParaRPr lang="en-US" sz="1050" dirty="0"/>
          </a:p>
        </p:txBody>
      </p:sp>
      <p:sp>
        <p:nvSpPr>
          <p:cNvPr id="21" name="Shape 18"/>
          <p:cNvSpPr/>
          <p:nvPr/>
        </p:nvSpPr>
        <p:spPr>
          <a:xfrm>
            <a:off x="5230368" y="1993392"/>
            <a:ext cx="2176272" cy="1298448"/>
          </a:xfrm>
          <a:prstGeom prst="roundRect">
            <a:avLst>
              <a:gd name="adj" fmla="val 5634"/>
            </a:avLst>
          </a:prstGeom>
          <a:solidFill>
            <a:srgbClr val="EDF8F2"/>
          </a:solidFill>
          <a:ln w="12700">
            <a:solidFill>
              <a:srgbClr val="D6DFE8"/>
            </a:solidFill>
            <a:prstDash val="solid"/>
          </a:ln>
        </p:spPr>
        <p:txBody>
          <a:bodyPr/>
          <a:lstStyle/>
          <a:p>
            <a:endParaRPr lang="en-ES"/>
          </a:p>
        </p:txBody>
      </p:sp>
      <p:sp>
        <p:nvSpPr>
          <p:cNvPr id="22" name="Shape 19"/>
          <p:cNvSpPr/>
          <p:nvPr/>
        </p:nvSpPr>
        <p:spPr>
          <a:xfrm>
            <a:off x="5394960" y="2139696"/>
            <a:ext cx="640080" cy="256032"/>
          </a:xfrm>
          <a:prstGeom prst="roundRect">
            <a:avLst>
              <a:gd name="adj" fmla="val 25000"/>
            </a:avLst>
          </a:prstGeom>
          <a:solidFill>
            <a:srgbClr val="FFFFFF"/>
          </a:solidFill>
          <a:ln w="12700">
            <a:solidFill>
              <a:srgbClr val="2FA36B"/>
            </a:solidFill>
            <a:prstDash val="solid"/>
          </a:ln>
        </p:spPr>
        <p:txBody>
          <a:bodyPr/>
          <a:lstStyle/>
          <a:p>
            <a:endParaRPr lang="en-ES"/>
          </a:p>
        </p:txBody>
      </p:sp>
      <p:sp>
        <p:nvSpPr>
          <p:cNvPr id="23" name="Text 20"/>
          <p:cNvSpPr/>
          <p:nvPr/>
        </p:nvSpPr>
        <p:spPr>
          <a:xfrm>
            <a:off x="5394960" y="2185416"/>
            <a:ext cx="64008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3</a:t>
            </a:r>
            <a:endParaRPr lang="en-US" sz="950" dirty="0"/>
          </a:p>
        </p:txBody>
      </p:sp>
      <p:sp>
        <p:nvSpPr>
          <p:cNvPr id="24" name="Text 21"/>
          <p:cNvSpPr/>
          <p:nvPr/>
        </p:nvSpPr>
        <p:spPr>
          <a:xfrm>
            <a:off x="5394960" y="2468880"/>
            <a:ext cx="1847088"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API</a:t>
            </a:r>
            <a:endParaRPr lang="en-US" sz="1250" dirty="0"/>
          </a:p>
        </p:txBody>
      </p:sp>
      <p:sp>
        <p:nvSpPr>
          <p:cNvPr id="25" name="Text 22"/>
          <p:cNvSpPr/>
          <p:nvPr/>
        </p:nvSpPr>
        <p:spPr>
          <a:xfrm>
            <a:off x="5394960" y="2743200"/>
            <a:ext cx="1847088" cy="3840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Emite JWT y refresh; aplica roles Owner y Member.</a:t>
            </a:r>
            <a:endParaRPr lang="en-US" sz="1050" dirty="0"/>
          </a:p>
        </p:txBody>
      </p:sp>
      <p:sp>
        <p:nvSpPr>
          <p:cNvPr id="26" name="Shape 23"/>
          <p:cNvSpPr/>
          <p:nvPr/>
        </p:nvSpPr>
        <p:spPr>
          <a:xfrm>
            <a:off x="7726680" y="1993392"/>
            <a:ext cx="1737360" cy="1298448"/>
          </a:xfrm>
          <a:prstGeom prst="roundRect">
            <a:avLst>
              <a:gd name="adj" fmla="val 5634"/>
            </a:avLst>
          </a:prstGeom>
          <a:solidFill>
            <a:srgbClr val="FFF7EC"/>
          </a:solidFill>
          <a:ln w="12700">
            <a:solidFill>
              <a:srgbClr val="D6DFE8"/>
            </a:solidFill>
            <a:prstDash val="solid"/>
          </a:ln>
        </p:spPr>
        <p:txBody>
          <a:bodyPr/>
          <a:lstStyle/>
          <a:p>
            <a:endParaRPr lang="en-ES"/>
          </a:p>
        </p:txBody>
      </p:sp>
      <p:sp>
        <p:nvSpPr>
          <p:cNvPr id="27" name="Shape 24"/>
          <p:cNvSpPr/>
          <p:nvPr/>
        </p:nvSpPr>
        <p:spPr>
          <a:xfrm>
            <a:off x="7891272" y="2139696"/>
            <a:ext cx="640080" cy="256032"/>
          </a:xfrm>
          <a:prstGeom prst="roundRect">
            <a:avLst>
              <a:gd name="adj" fmla="val 25000"/>
            </a:avLst>
          </a:prstGeom>
          <a:solidFill>
            <a:srgbClr val="FFFFFF"/>
          </a:solidFill>
          <a:ln w="12700">
            <a:solidFill>
              <a:srgbClr val="C58A2B"/>
            </a:solidFill>
            <a:prstDash val="solid"/>
          </a:ln>
        </p:spPr>
        <p:txBody>
          <a:bodyPr/>
          <a:lstStyle/>
          <a:p>
            <a:endParaRPr lang="en-ES"/>
          </a:p>
        </p:txBody>
      </p:sp>
      <p:sp>
        <p:nvSpPr>
          <p:cNvPr id="28" name="Text 25"/>
          <p:cNvSpPr/>
          <p:nvPr/>
        </p:nvSpPr>
        <p:spPr>
          <a:xfrm>
            <a:off x="7891272" y="2185416"/>
            <a:ext cx="640080" cy="109728"/>
          </a:xfrm>
          <a:prstGeom prst="rect">
            <a:avLst/>
          </a:prstGeom>
          <a:noFill/>
          <a:ln/>
        </p:spPr>
        <p:txBody>
          <a:bodyPr wrap="square" lIns="0" tIns="0" rIns="0" bIns="0" rtlCol="0" anchor="ctr"/>
          <a:lstStyle/>
          <a:p>
            <a:pPr marL="0" indent="0" algn="ctr">
              <a:buNone/>
            </a:pPr>
            <a:r>
              <a:rPr lang="en-US" sz="950" b="1" dirty="0">
                <a:solidFill>
                  <a:srgbClr val="C58A2B"/>
                </a:solidFill>
                <a:latin typeface="Arial" pitchFamily="34" charset="0"/>
                <a:ea typeface="Arial" pitchFamily="34" charset="-122"/>
                <a:cs typeface="Arial" pitchFamily="34" charset="-120"/>
              </a:rPr>
              <a:t>4</a:t>
            </a:r>
            <a:endParaRPr lang="en-US" sz="950" dirty="0"/>
          </a:p>
        </p:txBody>
      </p:sp>
      <p:sp>
        <p:nvSpPr>
          <p:cNvPr id="29" name="Text 26"/>
          <p:cNvSpPr/>
          <p:nvPr/>
        </p:nvSpPr>
        <p:spPr>
          <a:xfrm>
            <a:off x="7891272" y="2468880"/>
            <a:ext cx="140817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MySQL</a:t>
            </a:r>
            <a:endParaRPr lang="en-US" sz="1250" dirty="0"/>
          </a:p>
        </p:txBody>
      </p:sp>
      <p:sp>
        <p:nvSpPr>
          <p:cNvPr id="30" name="Text 27"/>
          <p:cNvSpPr/>
          <p:nvPr/>
        </p:nvSpPr>
        <p:spPr>
          <a:xfrm>
            <a:off x="7891272" y="2743200"/>
            <a:ext cx="1408176" cy="3840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Persistencia y refresh tokens.</a:t>
            </a:r>
            <a:endParaRPr lang="en-US" sz="1050" dirty="0"/>
          </a:p>
        </p:txBody>
      </p:sp>
      <p:sp>
        <p:nvSpPr>
          <p:cNvPr id="31" name="Shape 28"/>
          <p:cNvSpPr/>
          <p:nvPr/>
        </p:nvSpPr>
        <p:spPr>
          <a:xfrm>
            <a:off x="9738360" y="1993392"/>
            <a:ext cx="1737360" cy="1298448"/>
          </a:xfrm>
          <a:prstGeom prst="roundRect">
            <a:avLst>
              <a:gd name="adj" fmla="val 5634"/>
            </a:avLst>
          </a:prstGeom>
          <a:solidFill>
            <a:srgbClr val="FFFFFF"/>
          </a:solidFill>
          <a:ln w="12700">
            <a:solidFill>
              <a:srgbClr val="D6DFE8"/>
            </a:solidFill>
            <a:prstDash val="solid"/>
          </a:ln>
        </p:spPr>
        <p:txBody>
          <a:bodyPr/>
          <a:lstStyle/>
          <a:p>
            <a:endParaRPr lang="en-ES"/>
          </a:p>
        </p:txBody>
      </p:sp>
      <p:sp>
        <p:nvSpPr>
          <p:cNvPr id="32" name="Shape 29"/>
          <p:cNvSpPr/>
          <p:nvPr/>
        </p:nvSpPr>
        <p:spPr>
          <a:xfrm>
            <a:off x="9902952" y="2139696"/>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33" name="Text 30"/>
          <p:cNvSpPr/>
          <p:nvPr/>
        </p:nvSpPr>
        <p:spPr>
          <a:xfrm>
            <a:off x="9902952" y="2185416"/>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5</a:t>
            </a:r>
            <a:endParaRPr lang="en-US" sz="950" dirty="0"/>
          </a:p>
        </p:txBody>
      </p:sp>
      <p:sp>
        <p:nvSpPr>
          <p:cNvPr id="34" name="Text 31"/>
          <p:cNvSpPr/>
          <p:nvPr/>
        </p:nvSpPr>
        <p:spPr>
          <a:xfrm>
            <a:off x="9902952" y="2468880"/>
            <a:ext cx="140817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OpenAI</a:t>
            </a:r>
            <a:endParaRPr lang="en-US" sz="1250" dirty="0"/>
          </a:p>
        </p:txBody>
      </p:sp>
      <p:sp>
        <p:nvSpPr>
          <p:cNvPr id="35" name="Text 32"/>
          <p:cNvSpPr/>
          <p:nvPr/>
        </p:nvSpPr>
        <p:spPr>
          <a:xfrm>
            <a:off x="9902952" y="2743200"/>
            <a:ext cx="1408176" cy="3840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Solo accesible desde backend.</a:t>
            </a:r>
            <a:endParaRPr lang="en-US" sz="1050" dirty="0"/>
          </a:p>
        </p:txBody>
      </p:sp>
      <p:sp>
        <p:nvSpPr>
          <p:cNvPr id="36" name="Shape 33"/>
          <p:cNvSpPr/>
          <p:nvPr/>
        </p:nvSpPr>
        <p:spPr>
          <a:xfrm>
            <a:off x="2596896" y="2670048"/>
            <a:ext cx="256032" cy="0"/>
          </a:xfrm>
          <a:prstGeom prst="line">
            <a:avLst/>
          </a:prstGeom>
          <a:noFill/>
          <a:ln w="12700">
            <a:solidFill>
              <a:srgbClr val="D6DFE8"/>
            </a:solidFill>
            <a:prstDash val="solid"/>
            <a:tailEnd type="triangle"/>
          </a:ln>
        </p:spPr>
        <p:txBody>
          <a:bodyPr/>
          <a:lstStyle/>
          <a:p>
            <a:endParaRPr lang="en-ES"/>
          </a:p>
        </p:txBody>
      </p:sp>
      <p:sp>
        <p:nvSpPr>
          <p:cNvPr id="37" name="Shape 34"/>
          <p:cNvSpPr/>
          <p:nvPr/>
        </p:nvSpPr>
        <p:spPr>
          <a:xfrm>
            <a:off x="4910328" y="2670048"/>
            <a:ext cx="292608" cy="0"/>
          </a:xfrm>
          <a:prstGeom prst="line">
            <a:avLst/>
          </a:prstGeom>
          <a:noFill/>
          <a:ln w="12700">
            <a:solidFill>
              <a:srgbClr val="D6DFE8"/>
            </a:solidFill>
            <a:prstDash val="solid"/>
            <a:tailEnd type="triangle"/>
          </a:ln>
        </p:spPr>
        <p:txBody>
          <a:bodyPr/>
          <a:lstStyle/>
          <a:p>
            <a:endParaRPr lang="en-ES"/>
          </a:p>
        </p:txBody>
      </p:sp>
      <p:sp>
        <p:nvSpPr>
          <p:cNvPr id="38" name="Shape 35"/>
          <p:cNvSpPr/>
          <p:nvPr/>
        </p:nvSpPr>
        <p:spPr>
          <a:xfrm>
            <a:off x="7434072" y="2670048"/>
            <a:ext cx="265176" cy="0"/>
          </a:xfrm>
          <a:prstGeom prst="line">
            <a:avLst/>
          </a:prstGeom>
          <a:noFill/>
          <a:ln w="12700">
            <a:solidFill>
              <a:srgbClr val="D6DFE8"/>
            </a:solidFill>
            <a:prstDash val="solid"/>
            <a:tailEnd type="triangle"/>
          </a:ln>
        </p:spPr>
        <p:txBody>
          <a:bodyPr/>
          <a:lstStyle/>
          <a:p>
            <a:endParaRPr lang="en-ES"/>
          </a:p>
        </p:txBody>
      </p:sp>
      <p:sp>
        <p:nvSpPr>
          <p:cNvPr id="39" name="Shape 36"/>
          <p:cNvSpPr/>
          <p:nvPr/>
        </p:nvSpPr>
        <p:spPr>
          <a:xfrm>
            <a:off x="9482328" y="2670048"/>
            <a:ext cx="228600" cy="0"/>
          </a:xfrm>
          <a:prstGeom prst="line">
            <a:avLst/>
          </a:prstGeom>
          <a:noFill/>
          <a:ln w="12700">
            <a:solidFill>
              <a:srgbClr val="D6DFE8"/>
            </a:solidFill>
            <a:prstDash val="solid"/>
            <a:tailEnd type="triangle"/>
          </a:ln>
        </p:spPr>
        <p:txBody>
          <a:bodyPr/>
          <a:lstStyle/>
          <a:p>
            <a:endParaRPr lang="en-ES"/>
          </a:p>
        </p:txBody>
      </p:sp>
      <p:sp>
        <p:nvSpPr>
          <p:cNvPr id="40" name="Shape 37"/>
          <p:cNvSpPr/>
          <p:nvPr/>
        </p:nvSpPr>
        <p:spPr>
          <a:xfrm>
            <a:off x="914400" y="3840480"/>
            <a:ext cx="10378440" cy="1353312"/>
          </a:xfrm>
          <a:prstGeom prst="roundRect">
            <a:avLst>
              <a:gd name="adj" fmla="val 5405"/>
            </a:avLst>
          </a:prstGeom>
          <a:solidFill>
            <a:srgbClr val="F7F9FC"/>
          </a:solidFill>
          <a:ln w="12700">
            <a:solidFill>
              <a:srgbClr val="D6DFE8"/>
            </a:solidFill>
            <a:prstDash val="solid"/>
          </a:ln>
        </p:spPr>
        <p:txBody>
          <a:bodyPr/>
          <a:lstStyle/>
          <a:p>
            <a:endParaRPr lang="en-ES"/>
          </a:p>
        </p:txBody>
      </p:sp>
      <p:sp>
        <p:nvSpPr>
          <p:cNvPr id="41" name="Text 38"/>
          <p:cNvSpPr/>
          <p:nvPr/>
        </p:nvSpPr>
        <p:spPr>
          <a:xfrm>
            <a:off x="1143000" y="4041648"/>
            <a:ext cx="1828800" cy="164592"/>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Controles relevantes</a:t>
            </a:r>
            <a:endParaRPr lang="en-US" sz="1300" dirty="0"/>
          </a:p>
        </p:txBody>
      </p:sp>
      <p:sp>
        <p:nvSpPr>
          <p:cNvPr id="42" name="Text 39"/>
          <p:cNvSpPr/>
          <p:nvPr/>
        </p:nvSpPr>
        <p:spPr>
          <a:xfrm>
            <a:off x="1143000" y="4334256"/>
            <a:ext cx="182880" cy="164592"/>
          </a:xfrm>
          <a:prstGeom prst="rect">
            <a:avLst/>
          </a:prstGeom>
          <a:noFill/>
          <a:ln/>
        </p:spPr>
        <p:txBody>
          <a:bodyPr wrap="square" lIns="0" tIns="0" rIns="0" bIns="0" rtlCol="0" anchor="ctr"/>
          <a:lstStyle/>
          <a:p>
            <a:pPr marL="0" indent="0">
              <a:buNone/>
            </a:pPr>
            <a:r>
              <a:rPr lang="en-US" sz="1040" b="1" dirty="0">
                <a:solidFill>
                  <a:srgbClr val="FF6B57"/>
                </a:solidFill>
                <a:latin typeface="Arial" pitchFamily="34" charset="0"/>
                <a:ea typeface="Arial" pitchFamily="34" charset="-122"/>
                <a:cs typeface="Arial" pitchFamily="34" charset="-120"/>
              </a:rPr>
              <a:t>•</a:t>
            </a:r>
            <a:endParaRPr lang="en-US" sz="1040" dirty="0"/>
          </a:p>
        </p:txBody>
      </p:sp>
      <p:sp>
        <p:nvSpPr>
          <p:cNvPr id="43" name="Text 40"/>
          <p:cNvSpPr/>
          <p:nvPr/>
        </p:nvSpPr>
        <p:spPr>
          <a:xfrm>
            <a:off x="1362456" y="4325112"/>
            <a:ext cx="9473184" cy="164592"/>
          </a:xfrm>
          <a:prstGeom prst="rect">
            <a:avLst/>
          </a:prstGeom>
          <a:noFill/>
          <a:ln/>
        </p:spPr>
        <p:txBody>
          <a:bodyPr wrap="square" lIns="0" tIns="0" rIns="0" bIns="0" rtlCol="0" anchor="ctr"/>
          <a:lstStyle/>
          <a:p>
            <a:pPr marL="0" indent="0">
              <a:buNone/>
            </a:pPr>
            <a:r>
              <a:rPr lang="en-US" sz="1040" dirty="0">
                <a:solidFill>
                  <a:srgbClr val="243746"/>
                </a:solidFill>
                <a:latin typeface="Arial" pitchFamily="34" charset="0"/>
                <a:ea typeface="Arial" pitchFamily="34" charset="-122"/>
                <a:cs typeface="Arial" pitchFamily="34" charset="-120"/>
              </a:rPr>
              <a:t>Access token corto y refresh token revocable.</a:t>
            </a:r>
            <a:endParaRPr lang="en-US" sz="1040" dirty="0"/>
          </a:p>
        </p:txBody>
      </p:sp>
      <p:sp>
        <p:nvSpPr>
          <p:cNvPr id="44" name="Text 41"/>
          <p:cNvSpPr/>
          <p:nvPr/>
        </p:nvSpPr>
        <p:spPr>
          <a:xfrm>
            <a:off x="1143000" y="4572000"/>
            <a:ext cx="182880" cy="164592"/>
          </a:xfrm>
          <a:prstGeom prst="rect">
            <a:avLst/>
          </a:prstGeom>
          <a:noFill/>
          <a:ln/>
        </p:spPr>
        <p:txBody>
          <a:bodyPr wrap="square" lIns="0" tIns="0" rIns="0" bIns="0" rtlCol="0" anchor="ctr"/>
          <a:lstStyle/>
          <a:p>
            <a:pPr marL="0" indent="0">
              <a:buNone/>
            </a:pPr>
            <a:r>
              <a:rPr lang="en-US" sz="1040" b="1" dirty="0">
                <a:solidFill>
                  <a:srgbClr val="FF6B57"/>
                </a:solidFill>
                <a:latin typeface="Arial" pitchFamily="34" charset="0"/>
                <a:ea typeface="Arial" pitchFamily="34" charset="-122"/>
                <a:cs typeface="Arial" pitchFamily="34" charset="-120"/>
              </a:rPr>
              <a:t>•</a:t>
            </a:r>
            <a:endParaRPr lang="en-US" sz="1040" dirty="0"/>
          </a:p>
        </p:txBody>
      </p:sp>
      <p:sp>
        <p:nvSpPr>
          <p:cNvPr id="45" name="Text 42"/>
          <p:cNvSpPr/>
          <p:nvPr/>
        </p:nvSpPr>
        <p:spPr>
          <a:xfrm>
            <a:off x="1362456" y="4562856"/>
            <a:ext cx="9473184" cy="164592"/>
          </a:xfrm>
          <a:prstGeom prst="rect">
            <a:avLst/>
          </a:prstGeom>
          <a:noFill/>
          <a:ln/>
        </p:spPr>
        <p:txBody>
          <a:bodyPr wrap="square" lIns="0" tIns="0" rIns="0" bIns="0" rtlCol="0" anchor="ctr"/>
          <a:lstStyle/>
          <a:p>
            <a:pPr marL="0" indent="0">
              <a:buNone/>
            </a:pPr>
            <a:r>
              <a:rPr lang="en-US" sz="1040" dirty="0">
                <a:solidFill>
                  <a:srgbClr val="243746"/>
                </a:solidFill>
                <a:latin typeface="Arial" pitchFamily="34" charset="0"/>
                <a:ea typeface="Arial" pitchFamily="34" charset="-122"/>
                <a:cs typeface="Arial" pitchFamily="34" charset="-120"/>
              </a:rPr>
              <a:t>Validación de permisos por proyecto antes de cada acción sensible.</a:t>
            </a:r>
            <a:endParaRPr lang="en-US" sz="1040" dirty="0"/>
          </a:p>
        </p:txBody>
      </p:sp>
      <p:sp>
        <p:nvSpPr>
          <p:cNvPr id="46" name="Text 43"/>
          <p:cNvSpPr/>
          <p:nvPr/>
        </p:nvSpPr>
        <p:spPr>
          <a:xfrm>
            <a:off x="1143000" y="4809744"/>
            <a:ext cx="182880" cy="164592"/>
          </a:xfrm>
          <a:prstGeom prst="rect">
            <a:avLst/>
          </a:prstGeom>
          <a:noFill/>
          <a:ln/>
        </p:spPr>
        <p:txBody>
          <a:bodyPr wrap="square" lIns="0" tIns="0" rIns="0" bIns="0" rtlCol="0" anchor="ctr"/>
          <a:lstStyle/>
          <a:p>
            <a:pPr marL="0" indent="0">
              <a:buNone/>
            </a:pPr>
            <a:r>
              <a:rPr lang="en-US" sz="1040" b="1" dirty="0">
                <a:solidFill>
                  <a:srgbClr val="FF6B57"/>
                </a:solidFill>
                <a:latin typeface="Arial" pitchFamily="34" charset="0"/>
                <a:ea typeface="Arial" pitchFamily="34" charset="-122"/>
                <a:cs typeface="Arial" pitchFamily="34" charset="-120"/>
              </a:rPr>
              <a:t>•</a:t>
            </a:r>
            <a:endParaRPr lang="en-US" sz="1040" dirty="0"/>
          </a:p>
        </p:txBody>
      </p:sp>
      <p:sp>
        <p:nvSpPr>
          <p:cNvPr id="47" name="Text 44"/>
          <p:cNvSpPr/>
          <p:nvPr/>
        </p:nvSpPr>
        <p:spPr>
          <a:xfrm>
            <a:off x="1362456" y="4800600"/>
            <a:ext cx="9473184" cy="164592"/>
          </a:xfrm>
          <a:prstGeom prst="rect">
            <a:avLst/>
          </a:prstGeom>
          <a:noFill/>
          <a:ln/>
        </p:spPr>
        <p:txBody>
          <a:bodyPr wrap="square" lIns="0" tIns="0" rIns="0" bIns="0" rtlCol="0" anchor="ctr"/>
          <a:lstStyle/>
          <a:p>
            <a:pPr marL="0" indent="0">
              <a:buNone/>
            </a:pPr>
            <a:r>
              <a:rPr lang="en-US" sz="1040" dirty="0">
                <a:solidFill>
                  <a:srgbClr val="243746"/>
                </a:solidFill>
                <a:latin typeface="Arial" pitchFamily="34" charset="0"/>
                <a:ea typeface="Arial" pitchFamily="34" charset="-122"/>
                <a:cs typeface="Arial" pitchFamily="34" charset="-120"/>
              </a:rPr>
              <a:t>Secretos de JWT, Google y base de datos fuera del navegador y gestionados en entorno.</a:t>
            </a:r>
            <a:endParaRPr lang="en-US" sz="1040" dirty="0"/>
          </a:p>
        </p:txBody>
      </p:sp>
      <p:sp>
        <p:nvSpPr>
          <p:cNvPr id="48" name="Text 45"/>
          <p:cNvSpPr/>
          <p:nvPr/>
        </p:nvSpPr>
        <p:spPr>
          <a:xfrm>
            <a:off x="1143000" y="5047488"/>
            <a:ext cx="182880" cy="164592"/>
          </a:xfrm>
          <a:prstGeom prst="rect">
            <a:avLst/>
          </a:prstGeom>
          <a:noFill/>
          <a:ln/>
        </p:spPr>
        <p:txBody>
          <a:bodyPr wrap="square" lIns="0" tIns="0" rIns="0" bIns="0" rtlCol="0" anchor="ctr"/>
          <a:lstStyle/>
          <a:p>
            <a:pPr marL="0" indent="0">
              <a:buNone/>
            </a:pPr>
            <a:r>
              <a:rPr lang="en-US" sz="1040" b="1" dirty="0">
                <a:solidFill>
                  <a:srgbClr val="FF6B57"/>
                </a:solidFill>
                <a:latin typeface="Arial" pitchFamily="34" charset="0"/>
                <a:ea typeface="Arial" pitchFamily="34" charset="-122"/>
                <a:cs typeface="Arial" pitchFamily="34" charset="-120"/>
              </a:rPr>
              <a:t>•</a:t>
            </a:r>
            <a:endParaRPr lang="en-US" sz="1040" dirty="0"/>
          </a:p>
        </p:txBody>
      </p:sp>
      <p:sp>
        <p:nvSpPr>
          <p:cNvPr id="49" name="Text 46"/>
          <p:cNvSpPr/>
          <p:nvPr/>
        </p:nvSpPr>
        <p:spPr>
          <a:xfrm>
            <a:off x="1362456" y="5038344"/>
            <a:ext cx="9473184" cy="164592"/>
          </a:xfrm>
          <a:prstGeom prst="rect">
            <a:avLst/>
          </a:prstGeom>
          <a:noFill/>
          <a:ln/>
        </p:spPr>
        <p:txBody>
          <a:bodyPr wrap="square" lIns="0" tIns="0" rIns="0" bIns="0" rtlCol="0" anchor="ctr"/>
          <a:lstStyle/>
          <a:p>
            <a:pPr marL="0" indent="0">
              <a:buNone/>
            </a:pPr>
            <a:r>
              <a:rPr lang="en-US" sz="1040" dirty="0">
                <a:solidFill>
                  <a:srgbClr val="243746"/>
                </a:solidFill>
                <a:latin typeface="Arial" pitchFamily="34" charset="0"/>
                <a:ea typeface="Arial" pitchFamily="34" charset="-122"/>
                <a:cs typeface="Arial" pitchFamily="34" charset="-120"/>
              </a:rPr>
              <a:t>OpenAI queda fuera de la frontera de confianza del cliente web.</a:t>
            </a:r>
            <a:endParaRPr lang="en-US" sz="10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Calidad, pruebas y disciplina de entrega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solución se apoya en pruebas de API y frontend, verificación estática y una cadencia Red-Green-Refactor.</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17</a:t>
            </a:r>
            <a:endParaRPr lang="en-US" sz="950" dirty="0"/>
          </a:p>
        </p:txBody>
      </p:sp>
      <p:sp>
        <p:nvSpPr>
          <p:cNvPr id="11" name="Shape 8"/>
          <p:cNvSpPr/>
          <p:nvPr/>
        </p:nvSpPr>
        <p:spPr>
          <a:xfrm>
            <a:off x="658368" y="1828800"/>
            <a:ext cx="2560320" cy="1078992"/>
          </a:xfrm>
          <a:prstGeom prst="roundRect">
            <a:avLst>
              <a:gd name="adj" fmla="val 6780"/>
            </a:avLst>
          </a:prstGeom>
          <a:solidFill>
            <a:srgbClr val="EEF5FB"/>
          </a:solidFill>
          <a:ln w="12700">
            <a:solidFill>
              <a:srgbClr val="D6DFE8"/>
            </a:solidFill>
            <a:prstDash val="solid"/>
          </a:ln>
        </p:spPr>
        <p:txBody>
          <a:bodyPr/>
          <a:lstStyle/>
          <a:p>
            <a:endParaRPr lang="en-ES"/>
          </a:p>
        </p:txBody>
      </p:sp>
      <p:sp>
        <p:nvSpPr>
          <p:cNvPr id="12" name="Shape 9"/>
          <p:cNvSpPr/>
          <p:nvPr/>
        </p:nvSpPr>
        <p:spPr>
          <a:xfrm>
            <a:off x="658368" y="1828800"/>
            <a:ext cx="91440" cy="1078992"/>
          </a:xfrm>
          <a:prstGeom prst="rect">
            <a:avLst/>
          </a:prstGeom>
          <a:solidFill>
            <a:srgbClr val="183B56"/>
          </a:solidFill>
          <a:ln w="12700">
            <a:solidFill>
              <a:srgbClr val="183B56"/>
            </a:solidFill>
            <a:prstDash val="solid"/>
          </a:ln>
        </p:spPr>
        <p:txBody>
          <a:bodyPr/>
          <a:lstStyle/>
          <a:p>
            <a:endParaRPr lang="en-ES"/>
          </a:p>
        </p:txBody>
      </p:sp>
      <p:sp>
        <p:nvSpPr>
          <p:cNvPr id="13" name="Text 10"/>
          <p:cNvSpPr/>
          <p:nvPr/>
        </p:nvSpPr>
        <p:spPr>
          <a:xfrm>
            <a:off x="877824" y="1993392"/>
            <a:ext cx="224942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API tests</a:t>
            </a:r>
            <a:endParaRPr lang="en-US" sz="1300" dirty="0"/>
          </a:p>
        </p:txBody>
      </p:sp>
      <p:sp>
        <p:nvSpPr>
          <p:cNvPr id="14" name="Text 11"/>
          <p:cNvSpPr/>
          <p:nvPr/>
        </p:nvSpPr>
        <p:spPr>
          <a:xfrm>
            <a:off x="877824" y="2267712"/>
            <a:ext cx="2249424" cy="54864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Pruebas de integración sobre controladores y servicios críticos.</a:t>
            </a:r>
            <a:endParaRPr lang="en-US" sz="1150" dirty="0"/>
          </a:p>
        </p:txBody>
      </p:sp>
      <p:sp>
        <p:nvSpPr>
          <p:cNvPr id="15" name="Shape 12"/>
          <p:cNvSpPr/>
          <p:nvPr/>
        </p:nvSpPr>
        <p:spPr>
          <a:xfrm>
            <a:off x="3401568" y="1828800"/>
            <a:ext cx="2560320" cy="1078992"/>
          </a:xfrm>
          <a:prstGeom prst="roundRect">
            <a:avLst>
              <a:gd name="adj" fmla="val 6780"/>
            </a:avLst>
          </a:prstGeom>
          <a:solidFill>
            <a:srgbClr val="FFF1EE"/>
          </a:solidFill>
          <a:ln w="12700">
            <a:solidFill>
              <a:srgbClr val="D6DFE8"/>
            </a:solidFill>
            <a:prstDash val="solid"/>
          </a:ln>
        </p:spPr>
        <p:txBody>
          <a:bodyPr/>
          <a:lstStyle/>
          <a:p>
            <a:endParaRPr lang="en-ES"/>
          </a:p>
        </p:txBody>
      </p:sp>
      <p:sp>
        <p:nvSpPr>
          <p:cNvPr id="16" name="Shape 13"/>
          <p:cNvSpPr/>
          <p:nvPr/>
        </p:nvSpPr>
        <p:spPr>
          <a:xfrm>
            <a:off x="3401568" y="1828800"/>
            <a:ext cx="91440" cy="1078992"/>
          </a:xfrm>
          <a:prstGeom prst="rect">
            <a:avLst/>
          </a:prstGeom>
          <a:solidFill>
            <a:srgbClr val="FF6B57"/>
          </a:solidFill>
          <a:ln w="12700">
            <a:solidFill>
              <a:srgbClr val="FF6B57"/>
            </a:solidFill>
            <a:prstDash val="solid"/>
          </a:ln>
        </p:spPr>
        <p:txBody>
          <a:bodyPr/>
          <a:lstStyle/>
          <a:p>
            <a:endParaRPr lang="en-ES"/>
          </a:p>
        </p:txBody>
      </p:sp>
      <p:sp>
        <p:nvSpPr>
          <p:cNvPr id="17" name="Text 14"/>
          <p:cNvSpPr/>
          <p:nvPr/>
        </p:nvSpPr>
        <p:spPr>
          <a:xfrm>
            <a:off x="3621024" y="1993392"/>
            <a:ext cx="224942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Frontend tests</a:t>
            </a:r>
            <a:endParaRPr lang="en-US" sz="1300" dirty="0"/>
          </a:p>
        </p:txBody>
      </p:sp>
      <p:sp>
        <p:nvSpPr>
          <p:cNvPr id="18" name="Text 15"/>
          <p:cNvSpPr/>
          <p:nvPr/>
        </p:nvSpPr>
        <p:spPr>
          <a:xfrm>
            <a:off x="3621024" y="2267712"/>
            <a:ext cx="2249424" cy="54864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Recorridos funcionales sobre React y modales de traducción.</a:t>
            </a:r>
            <a:endParaRPr lang="en-US" sz="1150" dirty="0"/>
          </a:p>
        </p:txBody>
      </p:sp>
      <p:sp>
        <p:nvSpPr>
          <p:cNvPr id="19" name="Shape 16"/>
          <p:cNvSpPr/>
          <p:nvPr/>
        </p:nvSpPr>
        <p:spPr>
          <a:xfrm>
            <a:off x="6144768" y="1828800"/>
            <a:ext cx="2560320" cy="1078992"/>
          </a:xfrm>
          <a:prstGeom prst="roundRect">
            <a:avLst>
              <a:gd name="adj" fmla="val 6780"/>
            </a:avLst>
          </a:prstGeom>
          <a:solidFill>
            <a:srgbClr val="EDF8F2"/>
          </a:solidFill>
          <a:ln w="12700">
            <a:solidFill>
              <a:srgbClr val="D6DFE8"/>
            </a:solidFill>
            <a:prstDash val="solid"/>
          </a:ln>
        </p:spPr>
        <p:txBody>
          <a:bodyPr/>
          <a:lstStyle/>
          <a:p>
            <a:endParaRPr lang="en-ES"/>
          </a:p>
        </p:txBody>
      </p:sp>
      <p:sp>
        <p:nvSpPr>
          <p:cNvPr id="20" name="Shape 17"/>
          <p:cNvSpPr/>
          <p:nvPr/>
        </p:nvSpPr>
        <p:spPr>
          <a:xfrm>
            <a:off x="6144768" y="1828800"/>
            <a:ext cx="91440" cy="1078992"/>
          </a:xfrm>
          <a:prstGeom prst="rect">
            <a:avLst/>
          </a:prstGeom>
          <a:solidFill>
            <a:srgbClr val="2FA36B"/>
          </a:solidFill>
          <a:ln w="12700">
            <a:solidFill>
              <a:srgbClr val="2FA36B"/>
            </a:solidFill>
            <a:prstDash val="solid"/>
          </a:ln>
        </p:spPr>
        <p:txBody>
          <a:bodyPr/>
          <a:lstStyle/>
          <a:p>
            <a:endParaRPr lang="en-ES"/>
          </a:p>
        </p:txBody>
      </p:sp>
      <p:sp>
        <p:nvSpPr>
          <p:cNvPr id="21" name="Text 18"/>
          <p:cNvSpPr/>
          <p:nvPr/>
        </p:nvSpPr>
        <p:spPr>
          <a:xfrm>
            <a:off x="6364224" y="1993392"/>
            <a:ext cx="224942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Lint + build</a:t>
            </a:r>
            <a:endParaRPr lang="en-US" sz="1300" dirty="0"/>
          </a:p>
        </p:txBody>
      </p:sp>
      <p:sp>
        <p:nvSpPr>
          <p:cNvPr id="22" name="Text 19"/>
          <p:cNvSpPr/>
          <p:nvPr/>
        </p:nvSpPr>
        <p:spPr>
          <a:xfrm>
            <a:off x="6364224" y="2267712"/>
            <a:ext cx="2249424" cy="54864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Comprobación continua de calidad estática y compilación reproducible.</a:t>
            </a:r>
            <a:endParaRPr lang="en-US" sz="1150" dirty="0"/>
          </a:p>
        </p:txBody>
      </p:sp>
      <p:sp>
        <p:nvSpPr>
          <p:cNvPr id="23" name="Shape 20"/>
          <p:cNvSpPr/>
          <p:nvPr/>
        </p:nvSpPr>
        <p:spPr>
          <a:xfrm>
            <a:off x="8887968" y="1828800"/>
            <a:ext cx="2560320" cy="1078992"/>
          </a:xfrm>
          <a:prstGeom prst="roundRect">
            <a:avLst>
              <a:gd name="adj" fmla="val 6780"/>
            </a:avLst>
          </a:prstGeom>
          <a:solidFill>
            <a:srgbClr val="FFF7EC"/>
          </a:solidFill>
          <a:ln w="12700">
            <a:solidFill>
              <a:srgbClr val="D6DFE8"/>
            </a:solidFill>
            <a:prstDash val="solid"/>
          </a:ln>
        </p:spPr>
        <p:txBody>
          <a:bodyPr/>
          <a:lstStyle/>
          <a:p>
            <a:endParaRPr lang="en-ES"/>
          </a:p>
        </p:txBody>
      </p:sp>
      <p:sp>
        <p:nvSpPr>
          <p:cNvPr id="24" name="Shape 21"/>
          <p:cNvSpPr/>
          <p:nvPr/>
        </p:nvSpPr>
        <p:spPr>
          <a:xfrm>
            <a:off x="8887968" y="1828800"/>
            <a:ext cx="91440" cy="1078992"/>
          </a:xfrm>
          <a:prstGeom prst="rect">
            <a:avLst/>
          </a:prstGeom>
          <a:solidFill>
            <a:srgbClr val="C58A2B"/>
          </a:solidFill>
          <a:ln w="12700">
            <a:solidFill>
              <a:srgbClr val="C58A2B"/>
            </a:solidFill>
            <a:prstDash val="solid"/>
          </a:ln>
        </p:spPr>
        <p:txBody>
          <a:bodyPr/>
          <a:lstStyle/>
          <a:p>
            <a:endParaRPr lang="en-ES"/>
          </a:p>
        </p:txBody>
      </p:sp>
      <p:sp>
        <p:nvSpPr>
          <p:cNvPr id="25" name="Text 22"/>
          <p:cNvSpPr/>
          <p:nvPr/>
        </p:nvSpPr>
        <p:spPr>
          <a:xfrm>
            <a:off x="9107424" y="1993392"/>
            <a:ext cx="224942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Validación deck</a:t>
            </a:r>
            <a:endParaRPr lang="en-US" sz="1300" dirty="0"/>
          </a:p>
        </p:txBody>
      </p:sp>
      <p:sp>
        <p:nvSpPr>
          <p:cNvPr id="26" name="Text 23"/>
          <p:cNvSpPr/>
          <p:nvPr/>
        </p:nvSpPr>
        <p:spPr>
          <a:xfrm>
            <a:off x="9107424" y="2267712"/>
            <a:ext cx="2249424" cy="54864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propio entregable PowerPoint también se genera y valida por script.</a:t>
            </a:r>
            <a:endParaRPr lang="en-US" sz="1150" dirty="0"/>
          </a:p>
        </p:txBody>
      </p:sp>
      <p:sp>
        <p:nvSpPr>
          <p:cNvPr id="27" name="Shape 24"/>
          <p:cNvSpPr/>
          <p:nvPr/>
        </p:nvSpPr>
        <p:spPr>
          <a:xfrm>
            <a:off x="1325880" y="3657600"/>
            <a:ext cx="2240280" cy="1298448"/>
          </a:xfrm>
          <a:prstGeom prst="roundRect">
            <a:avLst>
              <a:gd name="adj" fmla="val 5634"/>
            </a:avLst>
          </a:prstGeom>
          <a:solidFill>
            <a:srgbClr val="FFF1EE"/>
          </a:solidFill>
          <a:ln w="12700">
            <a:solidFill>
              <a:srgbClr val="D6DFE8"/>
            </a:solidFill>
            <a:prstDash val="solid"/>
          </a:ln>
        </p:spPr>
        <p:txBody>
          <a:bodyPr/>
          <a:lstStyle/>
          <a:p>
            <a:endParaRPr lang="en-ES"/>
          </a:p>
        </p:txBody>
      </p:sp>
      <p:sp>
        <p:nvSpPr>
          <p:cNvPr id="28" name="Shape 25"/>
          <p:cNvSpPr/>
          <p:nvPr/>
        </p:nvSpPr>
        <p:spPr>
          <a:xfrm>
            <a:off x="1490472" y="3803904"/>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29" name="Text 26"/>
          <p:cNvSpPr/>
          <p:nvPr/>
        </p:nvSpPr>
        <p:spPr>
          <a:xfrm>
            <a:off x="1490472" y="3849624"/>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RED</a:t>
            </a:r>
            <a:endParaRPr lang="en-US" sz="950" dirty="0"/>
          </a:p>
        </p:txBody>
      </p:sp>
      <p:sp>
        <p:nvSpPr>
          <p:cNvPr id="30" name="Text 27"/>
          <p:cNvSpPr/>
          <p:nvPr/>
        </p:nvSpPr>
        <p:spPr>
          <a:xfrm>
            <a:off x="1490472" y="4133088"/>
            <a:ext cx="191109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Fallo esperado</a:t>
            </a:r>
            <a:endParaRPr lang="en-US" sz="1250" dirty="0"/>
          </a:p>
        </p:txBody>
      </p:sp>
      <p:sp>
        <p:nvSpPr>
          <p:cNvPr id="31" name="Text 28"/>
          <p:cNvSpPr/>
          <p:nvPr/>
        </p:nvSpPr>
        <p:spPr>
          <a:xfrm>
            <a:off x="1490472" y="4407408"/>
            <a:ext cx="1911096" cy="3840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Primero se fija el comportamiento objetivo y se observa el fallo.</a:t>
            </a:r>
            <a:endParaRPr lang="en-US" sz="1050" dirty="0"/>
          </a:p>
        </p:txBody>
      </p:sp>
      <p:sp>
        <p:nvSpPr>
          <p:cNvPr id="32" name="Shape 29"/>
          <p:cNvSpPr/>
          <p:nvPr/>
        </p:nvSpPr>
        <p:spPr>
          <a:xfrm>
            <a:off x="4617720" y="3657600"/>
            <a:ext cx="2240280" cy="1298448"/>
          </a:xfrm>
          <a:prstGeom prst="roundRect">
            <a:avLst>
              <a:gd name="adj" fmla="val 5634"/>
            </a:avLst>
          </a:prstGeom>
          <a:solidFill>
            <a:srgbClr val="EDF8F2"/>
          </a:solidFill>
          <a:ln w="12700">
            <a:solidFill>
              <a:srgbClr val="D6DFE8"/>
            </a:solidFill>
            <a:prstDash val="solid"/>
          </a:ln>
        </p:spPr>
        <p:txBody>
          <a:bodyPr/>
          <a:lstStyle/>
          <a:p>
            <a:endParaRPr lang="en-ES"/>
          </a:p>
        </p:txBody>
      </p:sp>
      <p:sp>
        <p:nvSpPr>
          <p:cNvPr id="33" name="Shape 30"/>
          <p:cNvSpPr/>
          <p:nvPr/>
        </p:nvSpPr>
        <p:spPr>
          <a:xfrm>
            <a:off x="4782312" y="3803904"/>
            <a:ext cx="640080" cy="256032"/>
          </a:xfrm>
          <a:prstGeom prst="roundRect">
            <a:avLst>
              <a:gd name="adj" fmla="val 25000"/>
            </a:avLst>
          </a:prstGeom>
          <a:solidFill>
            <a:srgbClr val="FFFFFF"/>
          </a:solidFill>
          <a:ln w="12700">
            <a:solidFill>
              <a:srgbClr val="2FA36B"/>
            </a:solidFill>
            <a:prstDash val="solid"/>
          </a:ln>
        </p:spPr>
        <p:txBody>
          <a:bodyPr/>
          <a:lstStyle/>
          <a:p>
            <a:endParaRPr lang="en-ES"/>
          </a:p>
        </p:txBody>
      </p:sp>
      <p:sp>
        <p:nvSpPr>
          <p:cNvPr id="34" name="Text 31"/>
          <p:cNvSpPr/>
          <p:nvPr/>
        </p:nvSpPr>
        <p:spPr>
          <a:xfrm>
            <a:off x="4782312" y="3849624"/>
            <a:ext cx="64008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GREEN</a:t>
            </a:r>
            <a:endParaRPr lang="en-US" sz="950" dirty="0"/>
          </a:p>
        </p:txBody>
      </p:sp>
      <p:sp>
        <p:nvSpPr>
          <p:cNvPr id="35" name="Text 32"/>
          <p:cNvSpPr/>
          <p:nvPr/>
        </p:nvSpPr>
        <p:spPr>
          <a:xfrm>
            <a:off x="4782312" y="4133088"/>
            <a:ext cx="191109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Implementación mínima</a:t>
            </a:r>
            <a:endParaRPr lang="en-US" sz="1250" dirty="0"/>
          </a:p>
        </p:txBody>
      </p:sp>
      <p:sp>
        <p:nvSpPr>
          <p:cNvPr id="36" name="Text 33"/>
          <p:cNvSpPr/>
          <p:nvPr/>
        </p:nvSpPr>
        <p:spPr>
          <a:xfrm>
            <a:off x="4782312" y="4407408"/>
            <a:ext cx="1911096" cy="3840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Se escribe solo lo necesario para pasar la comprobación.</a:t>
            </a:r>
            <a:endParaRPr lang="en-US" sz="1050" dirty="0"/>
          </a:p>
        </p:txBody>
      </p:sp>
      <p:sp>
        <p:nvSpPr>
          <p:cNvPr id="37" name="Shape 34"/>
          <p:cNvSpPr/>
          <p:nvPr/>
        </p:nvSpPr>
        <p:spPr>
          <a:xfrm>
            <a:off x="7909560" y="3657600"/>
            <a:ext cx="2240280" cy="1298448"/>
          </a:xfrm>
          <a:prstGeom prst="roundRect">
            <a:avLst>
              <a:gd name="adj" fmla="val 5634"/>
            </a:avLst>
          </a:prstGeom>
          <a:solidFill>
            <a:srgbClr val="EEF5FB"/>
          </a:solidFill>
          <a:ln w="12700">
            <a:solidFill>
              <a:srgbClr val="D6DFE8"/>
            </a:solidFill>
            <a:prstDash val="solid"/>
          </a:ln>
        </p:spPr>
        <p:txBody>
          <a:bodyPr/>
          <a:lstStyle/>
          <a:p>
            <a:endParaRPr lang="en-ES"/>
          </a:p>
        </p:txBody>
      </p:sp>
      <p:sp>
        <p:nvSpPr>
          <p:cNvPr id="38" name="Shape 35"/>
          <p:cNvSpPr/>
          <p:nvPr/>
        </p:nvSpPr>
        <p:spPr>
          <a:xfrm>
            <a:off x="8074152" y="3803904"/>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39" name="Text 36"/>
          <p:cNvSpPr/>
          <p:nvPr/>
        </p:nvSpPr>
        <p:spPr>
          <a:xfrm>
            <a:off x="8074152" y="3849624"/>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REFACTOR</a:t>
            </a:r>
            <a:endParaRPr lang="en-US" sz="950" dirty="0"/>
          </a:p>
        </p:txBody>
      </p:sp>
      <p:sp>
        <p:nvSpPr>
          <p:cNvPr id="40" name="Text 37"/>
          <p:cNvSpPr/>
          <p:nvPr/>
        </p:nvSpPr>
        <p:spPr>
          <a:xfrm>
            <a:off x="8074152" y="4133088"/>
            <a:ext cx="191109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Limpieza</a:t>
            </a:r>
            <a:endParaRPr lang="en-US" sz="1250" dirty="0"/>
          </a:p>
        </p:txBody>
      </p:sp>
      <p:sp>
        <p:nvSpPr>
          <p:cNvPr id="41" name="Text 38"/>
          <p:cNvSpPr/>
          <p:nvPr/>
        </p:nvSpPr>
        <p:spPr>
          <a:xfrm>
            <a:off x="8074152" y="4407408"/>
            <a:ext cx="1911096" cy="38404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Se mejora estructura sin abrir una nueva superficie de riesgo.</a:t>
            </a:r>
            <a:endParaRPr lang="en-US" sz="1050" dirty="0"/>
          </a:p>
        </p:txBody>
      </p:sp>
      <p:sp>
        <p:nvSpPr>
          <p:cNvPr id="42" name="Shape 39"/>
          <p:cNvSpPr/>
          <p:nvPr/>
        </p:nvSpPr>
        <p:spPr>
          <a:xfrm>
            <a:off x="3593592" y="4315968"/>
            <a:ext cx="978408" cy="0"/>
          </a:xfrm>
          <a:prstGeom prst="line">
            <a:avLst/>
          </a:prstGeom>
          <a:noFill/>
          <a:ln w="12700">
            <a:solidFill>
              <a:srgbClr val="D6DFE8"/>
            </a:solidFill>
            <a:prstDash val="solid"/>
            <a:tailEnd type="triangle"/>
          </a:ln>
        </p:spPr>
        <p:txBody>
          <a:bodyPr/>
          <a:lstStyle/>
          <a:p>
            <a:endParaRPr lang="en-ES"/>
          </a:p>
        </p:txBody>
      </p:sp>
      <p:sp>
        <p:nvSpPr>
          <p:cNvPr id="43" name="Shape 40"/>
          <p:cNvSpPr/>
          <p:nvPr/>
        </p:nvSpPr>
        <p:spPr>
          <a:xfrm>
            <a:off x="6885432" y="4315968"/>
            <a:ext cx="978408" cy="0"/>
          </a:xfrm>
          <a:prstGeom prst="line">
            <a:avLst/>
          </a:prstGeom>
          <a:noFill/>
          <a:ln w="12700">
            <a:solidFill>
              <a:srgbClr val="D6DFE8"/>
            </a:solidFill>
            <a:prstDash val="solid"/>
            <a:tailEnd type="triangle"/>
          </a:ln>
        </p:spPr>
        <p:txBody>
          <a:bodyPr/>
          <a:lstStyle/>
          <a:p>
            <a:endParaRPr lang="en-E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Despliegue y entorno productivo</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Entorno local con Docker Compose</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repositorio levanta aplicación web, API y MySQL en contenedores coordinados para desarrollo y demo reproducible.</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Despliegue y entorno productivo</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18</a:t>
            </a:r>
            <a:endParaRPr lang="en-US" sz="950" dirty="0"/>
          </a:p>
        </p:txBody>
      </p:sp>
      <p:sp>
        <p:nvSpPr>
          <p:cNvPr id="11" name="Shape 8"/>
          <p:cNvSpPr/>
          <p:nvPr/>
        </p:nvSpPr>
        <p:spPr>
          <a:xfrm>
            <a:off x="749808" y="1993392"/>
            <a:ext cx="2743200" cy="1417320"/>
          </a:xfrm>
          <a:prstGeom prst="roundRect">
            <a:avLst>
              <a:gd name="adj" fmla="val 5161"/>
            </a:avLst>
          </a:prstGeom>
          <a:solidFill>
            <a:srgbClr val="EEF5FB"/>
          </a:solidFill>
          <a:ln w="12700">
            <a:solidFill>
              <a:srgbClr val="D6DFE8"/>
            </a:solidFill>
            <a:prstDash val="solid"/>
          </a:ln>
        </p:spPr>
        <p:txBody>
          <a:bodyPr/>
          <a:lstStyle/>
          <a:p>
            <a:endParaRPr lang="en-ES"/>
          </a:p>
        </p:txBody>
      </p:sp>
      <p:sp>
        <p:nvSpPr>
          <p:cNvPr id="12" name="Shape 9"/>
          <p:cNvSpPr/>
          <p:nvPr/>
        </p:nvSpPr>
        <p:spPr>
          <a:xfrm>
            <a:off x="914400" y="2139696"/>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13" name="Text 10"/>
          <p:cNvSpPr/>
          <p:nvPr/>
        </p:nvSpPr>
        <p:spPr>
          <a:xfrm>
            <a:off x="914400" y="2185416"/>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app</a:t>
            </a:r>
            <a:endParaRPr lang="en-US" sz="950" dirty="0"/>
          </a:p>
        </p:txBody>
      </p:sp>
      <p:sp>
        <p:nvSpPr>
          <p:cNvPr id="14" name="Text 11"/>
          <p:cNvSpPr/>
          <p:nvPr/>
        </p:nvSpPr>
        <p:spPr>
          <a:xfrm>
            <a:off x="914400" y="2468880"/>
            <a:ext cx="24140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resources-app</a:t>
            </a:r>
            <a:endParaRPr lang="en-US" sz="1250" dirty="0"/>
          </a:p>
        </p:txBody>
      </p:sp>
      <p:sp>
        <p:nvSpPr>
          <p:cNvPr id="15" name="Text 12"/>
          <p:cNvSpPr/>
          <p:nvPr/>
        </p:nvSpPr>
        <p:spPr>
          <a:xfrm>
            <a:off x="914400" y="2743200"/>
            <a:ext cx="2414016" cy="50292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Contenedor Nginx</a:t>
            </a:r>
            <a:endParaRPr lang="en-US" sz="1050" dirty="0"/>
          </a:p>
          <a:p>
            <a:pPr marL="0" indent="0">
              <a:buNone/>
            </a:pPr>
            <a:r>
              <a:rPr lang="en-US" sz="1050" dirty="0">
                <a:solidFill>
                  <a:srgbClr val="5B6B7B"/>
                </a:solidFill>
                <a:latin typeface="Arial" pitchFamily="34" charset="0"/>
                <a:ea typeface="Arial" pitchFamily="34" charset="-122"/>
                <a:cs typeface="Arial" pitchFamily="34" charset="-120"/>
              </a:rPr>
              <a:t>Puerto local 5173</a:t>
            </a:r>
            <a:endParaRPr lang="en-US" sz="1050" dirty="0"/>
          </a:p>
          <a:p>
            <a:pPr marL="0" indent="0">
              <a:buNone/>
            </a:pPr>
            <a:r>
              <a:rPr lang="en-US" sz="1050" dirty="0">
                <a:solidFill>
                  <a:srgbClr val="5B6B7B"/>
                </a:solidFill>
                <a:latin typeface="Arial" pitchFamily="34" charset="0"/>
                <a:ea typeface="Arial" pitchFamily="34" charset="-122"/>
                <a:cs typeface="Arial" pitchFamily="34" charset="-120"/>
              </a:rPr>
              <a:t>Consume API por VITE_API_BASE_URL</a:t>
            </a:r>
            <a:endParaRPr lang="en-US" sz="1050" dirty="0"/>
          </a:p>
        </p:txBody>
      </p:sp>
      <p:sp>
        <p:nvSpPr>
          <p:cNvPr id="16" name="Shape 13"/>
          <p:cNvSpPr/>
          <p:nvPr/>
        </p:nvSpPr>
        <p:spPr>
          <a:xfrm>
            <a:off x="4709160" y="1993392"/>
            <a:ext cx="2743200" cy="1417320"/>
          </a:xfrm>
          <a:prstGeom prst="roundRect">
            <a:avLst>
              <a:gd name="adj" fmla="val 5161"/>
            </a:avLst>
          </a:prstGeom>
          <a:solidFill>
            <a:srgbClr val="FFF1EE"/>
          </a:solidFill>
          <a:ln w="12700">
            <a:solidFill>
              <a:srgbClr val="D6DFE8"/>
            </a:solidFill>
            <a:prstDash val="solid"/>
          </a:ln>
        </p:spPr>
        <p:txBody>
          <a:bodyPr/>
          <a:lstStyle/>
          <a:p>
            <a:endParaRPr lang="en-ES"/>
          </a:p>
        </p:txBody>
      </p:sp>
      <p:sp>
        <p:nvSpPr>
          <p:cNvPr id="17" name="Shape 14"/>
          <p:cNvSpPr/>
          <p:nvPr/>
        </p:nvSpPr>
        <p:spPr>
          <a:xfrm>
            <a:off x="4873752" y="2139696"/>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18" name="Text 15"/>
          <p:cNvSpPr/>
          <p:nvPr/>
        </p:nvSpPr>
        <p:spPr>
          <a:xfrm>
            <a:off x="4873752" y="2185416"/>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api</a:t>
            </a:r>
            <a:endParaRPr lang="en-US" sz="950" dirty="0"/>
          </a:p>
        </p:txBody>
      </p:sp>
      <p:sp>
        <p:nvSpPr>
          <p:cNvPr id="19" name="Text 16"/>
          <p:cNvSpPr/>
          <p:nvPr/>
        </p:nvSpPr>
        <p:spPr>
          <a:xfrm>
            <a:off x="4873752" y="2468880"/>
            <a:ext cx="24140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resources-api</a:t>
            </a:r>
            <a:endParaRPr lang="en-US" sz="1250" dirty="0"/>
          </a:p>
        </p:txBody>
      </p:sp>
      <p:sp>
        <p:nvSpPr>
          <p:cNvPr id="20" name="Text 17"/>
          <p:cNvSpPr/>
          <p:nvPr/>
        </p:nvSpPr>
        <p:spPr>
          <a:xfrm>
            <a:off x="4873752" y="2743200"/>
            <a:ext cx="2414016" cy="50292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ASP.NET Core</a:t>
            </a:r>
            <a:endParaRPr lang="en-US" sz="1050" dirty="0"/>
          </a:p>
          <a:p>
            <a:pPr marL="0" indent="0">
              <a:buNone/>
            </a:pPr>
            <a:r>
              <a:rPr lang="en-US" sz="1050" dirty="0">
                <a:solidFill>
                  <a:srgbClr val="5B6B7B"/>
                </a:solidFill>
                <a:latin typeface="Arial" pitchFamily="34" charset="0"/>
                <a:ea typeface="Arial" pitchFamily="34" charset="-122"/>
                <a:cs typeface="Arial" pitchFamily="34" charset="-120"/>
              </a:rPr>
              <a:t>Puerto local 5174 -&gt; 8080</a:t>
            </a:r>
            <a:endParaRPr lang="en-US" sz="1050" dirty="0"/>
          </a:p>
          <a:p>
            <a:pPr marL="0" indent="0">
              <a:buNone/>
            </a:pPr>
            <a:r>
              <a:rPr lang="en-US" sz="1050" dirty="0">
                <a:solidFill>
                  <a:srgbClr val="5B6B7B"/>
                </a:solidFill>
                <a:latin typeface="Arial" pitchFamily="34" charset="0"/>
                <a:ea typeface="Arial" pitchFamily="34" charset="-122"/>
                <a:cs typeface="Arial" pitchFamily="34" charset="-120"/>
              </a:rPr>
              <a:t>Conecta a MySQL</a:t>
            </a:r>
            <a:endParaRPr lang="en-US" sz="1050" dirty="0"/>
          </a:p>
        </p:txBody>
      </p:sp>
      <p:sp>
        <p:nvSpPr>
          <p:cNvPr id="21" name="Shape 18"/>
          <p:cNvSpPr/>
          <p:nvPr/>
        </p:nvSpPr>
        <p:spPr>
          <a:xfrm>
            <a:off x="8668512" y="1993392"/>
            <a:ext cx="2743200" cy="1417320"/>
          </a:xfrm>
          <a:prstGeom prst="roundRect">
            <a:avLst>
              <a:gd name="adj" fmla="val 5161"/>
            </a:avLst>
          </a:prstGeom>
          <a:solidFill>
            <a:srgbClr val="EDF8F2"/>
          </a:solidFill>
          <a:ln w="12700">
            <a:solidFill>
              <a:srgbClr val="D6DFE8"/>
            </a:solidFill>
            <a:prstDash val="solid"/>
          </a:ln>
        </p:spPr>
        <p:txBody>
          <a:bodyPr/>
          <a:lstStyle/>
          <a:p>
            <a:endParaRPr lang="en-ES"/>
          </a:p>
        </p:txBody>
      </p:sp>
      <p:sp>
        <p:nvSpPr>
          <p:cNvPr id="22" name="Shape 19"/>
          <p:cNvSpPr/>
          <p:nvPr/>
        </p:nvSpPr>
        <p:spPr>
          <a:xfrm>
            <a:off x="8833104" y="2139696"/>
            <a:ext cx="640080" cy="256032"/>
          </a:xfrm>
          <a:prstGeom prst="roundRect">
            <a:avLst>
              <a:gd name="adj" fmla="val 25000"/>
            </a:avLst>
          </a:prstGeom>
          <a:solidFill>
            <a:srgbClr val="FFFFFF"/>
          </a:solidFill>
          <a:ln w="12700">
            <a:solidFill>
              <a:srgbClr val="2FA36B"/>
            </a:solidFill>
            <a:prstDash val="solid"/>
          </a:ln>
        </p:spPr>
        <p:txBody>
          <a:bodyPr/>
          <a:lstStyle/>
          <a:p>
            <a:endParaRPr lang="en-ES"/>
          </a:p>
        </p:txBody>
      </p:sp>
      <p:sp>
        <p:nvSpPr>
          <p:cNvPr id="23" name="Text 20"/>
          <p:cNvSpPr/>
          <p:nvPr/>
        </p:nvSpPr>
        <p:spPr>
          <a:xfrm>
            <a:off x="8833104" y="2185416"/>
            <a:ext cx="64008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db</a:t>
            </a:r>
            <a:endParaRPr lang="en-US" sz="950" dirty="0"/>
          </a:p>
        </p:txBody>
      </p:sp>
      <p:sp>
        <p:nvSpPr>
          <p:cNvPr id="24" name="Text 21"/>
          <p:cNvSpPr/>
          <p:nvPr/>
        </p:nvSpPr>
        <p:spPr>
          <a:xfrm>
            <a:off x="8833104" y="2468880"/>
            <a:ext cx="24140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mysql</a:t>
            </a:r>
            <a:endParaRPr lang="en-US" sz="1250" dirty="0"/>
          </a:p>
        </p:txBody>
      </p:sp>
      <p:sp>
        <p:nvSpPr>
          <p:cNvPr id="25" name="Text 22"/>
          <p:cNvSpPr/>
          <p:nvPr/>
        </p:nvSpPr>
        <p:spPr>
          <a:xfrm>
            <a:off x="8833104" y="2743200"/>
            <a:ext cx="2414016" cy="502920"/>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MySQL 8.4</a:t>
            </a:r>
            <a:endParaRPr lang="en-US" sz="1050" dirty="0"/>
          </a:p>
          <a:p>
            <a:pPr marL="0" indent="0">
              <a:buNone/>
            </a:pPr>
            <a:r>
              <a:rPr lang="en-US" sz="1050" dirty="0">
                <a:solidFill>
                  <a:srgbClr val="5B6B7B"/>
                </a:solidFill>
                <a:latin typeface="Arial" pitchFamily="34" charset="0"/>
                <a:ea typeface="Arial" pitchFamily="34" charset="-122"/>
                <a:cs typeface="Arial" pitchFamily="34" charset="-120"/>
              </a:rPr>
              <a:t>Puerto 3306</a:t>
            </a:r>
            <a:endParaRPr lang="en-US" sz="1050" dirty="0"/>
          </a:p>
          <a:p>
            <a:pPr marL="0" indent="0">
              <a:buNone/>
            </a:pPr>
            <a:r>
              <a:rPr lang="en-US" sz="1050" dirty="0">
                <a:solidFill>
                  <a:srgbClr val="5B6B7B"/>
                </a:solidFill>
                <a:latin typeface="Arial" pitchFamily="34" charset="0"/>
                <a:ea typeface="Arial" pitchFamily="34" charset="-122"/>
                <a:cs typeface="Arial" pitchFamily="34" charset="-120"/>
              </a:rPr>
              <a:t>Volumen mysql_data</a:t>
            </a:r>
            <a:endParaRPr lang="en-US" sz="1050" dirty="0"/>
          </a:p>
        </p:txBody>
      </p:sp>
      <p:sp>
        <p:nvSpPr>
          <p:cNvPr id="26" name="Shape 23"/>
          <p:cNvSpPr/>
          <p:nvPr/>
        </p:nvSpPr>
        <p:spPr>
          <a:xfrm>
            <a:off x="3520440" y="2697480"/>
            <a:ext cx="1161288" cy="0"/>
          </a:xfrm>
          <a:prstGeom prst="line">
            <a:avLst/>
          </a:prstGeom>
          <a:noFill/>
          <a:ln w="12700">
            <a:solidFill>
              <a:srgbClr val="D6DFE8"/>
            </a:solidFill>
            <a:prstDash val="solid"/>
            <a:tailEnd type="triangle"/>
          </a:ln>
        </p:spPr>
        <p:txBody>
          <a:bodyPr/>
          <a:lstStyle/>
          <a:p>
            <a:endParaRPr lang="en-ES"/>
          </a:p>
        </p:txBody>
      </p:sp>
      <p:sp>
        <p:nvSpPr>
          <p:cNvPr id="27" name="Shape 24"/>
          <p:cNvSpPr/>
          <p:nvPr/>
        </p:nvSpPr>
        <p:spPr>
          <a:xfrm>
            <a:off x="7479792" y="2697480"/>
            <a:ext cx="1161288" cy="0"/>
          </a:xfrm>
          <a:prstGeom prst="line">
            <a:avLst/>
          </a:prstGeom>
          <a:noFill/>
          <a:ln w="12700">
            <a:solidFill>
              <a:srgbClr val="D6DFE8"/>
            </a:solidFill>
            <a:prstDash val="solid"/>
            <a:tailEnd type="triangle"/>
          </a:ln>
        </p:spPr>
        <p:txBody>
          <a:bodyPr/>
          <a:lstStyle/>
          <a:p>
            <a:endParaRPr lang="en-ES"/>
          </a:p>
        </p:txBody>
      </p:sp>
      <p:sp>
        <p:nvSpPr>
          <p:cNvPr id="28" name="Shape 25"/>
          <p:cNvSpPr/>
          <p:nvPr/>
        </p:nvSpPr>
        <p:spPr>
          <a:xfrm>
            <a:off x="932688" y="4069080"/>
            <a:ext cx="10378440" cy="1097280"/>
          </a:xfrm>
          <a:prstGeom prst="roundRect">
            <a:avLst>
              <a:gd name="adj" fmla="val 6667"/>
            </a:avLst>
          </a:prstGeom>
          <a:solidFill>
            <a:srgbClr val="F7F9FC"/>
          </a:solidFill>
          <a:ln w="12700">
            <a:solidFill>
              <a:srgbClr val="D6DFE8"/>
            </a:solidFill>
            <a:prstDash val="solid"/>
          </a:ln>
        </p:spPr>
        <p:txBody>
          <a:bodyPr/>
          <a:lstStyle/>
          <a:p>
            <a:endParaRPr lang="en-ES"/>
          </a:p>
        </p:txBody>
      </p:sp>
      <p:sp>
        <p:nvSpPr>
          <p:cNvPr id="29" name="Text 26"/>
          <p:cNvSpPr/>
          <p:nvPr/>
        </p:nvSpPr>
        <p:spPr>
          <a:xfrm>
            <a:off x="1152144" y="4343400"/>
            <a:ext cx="182880" cy="164592"/>
          </a:xfrm>
          <a:prstGeom prst="rect">
            <a:avLst/>
          </a:prstGeom>
          <a:noFill/>
          <a:ln/>
        </p:spPr>
        <p:txBody>
          <a:bodyPr wrap="square" lIns="0" tIns="0" rIns="0" bIns="0" rtlCol="0" anchor="ctr"/>
          <a:lstStyle/>
          <a:p>
            <a:pPr marL="0" indent="0">
              <a:buNone/>
            </a:pPr>
            <a:r>
              <a:rPr lang="en-US" sz="1060" b="1" dirty="0">
                <a:solidFill>
                  <a:srgbClr val="FF6B57"/>
                </a:solidFill>
                <a:latin typeface="Arial" pitchFamily="34" charset="0"/>
                <a:ea typeface="Arial" pitchFamily="34" charset="-122"/>
                <a:cs typeface="Arial" pitchFamily="34" charset="-120"/>
              </a:rPr>
              <a:t>•</a:t>
            </a:r>
            <a:endParaRPr lang="en-US" sz="1060" dirty="0"/>
          </a:p>
        </p:txBody>
      </p:sp>
      <p:sp>
        <p:nvSpPr>
          <p:cNvPr id="30" name="Text 27"/>
          <p:cNvSpPr/>
          <p:nvPr/>
        </p:nvSpPr>
        <p:spPr>
          <a:xfrm>
            <a:off x="1371600" y="4334256"/>
            <a:ext cx="9656064" cy="164592"/>
          </a:xfrm>
          <a:prstGeom prst="rect">
            <a:avLst/>
          </a:prstGeom>
          <a:noFill/>
          <a:ln/>
        </p:spPr>
        <p:txBody>
          <a:bodyPr wrap="square" lIns="0" tIns="0" rIns="0" bIns="0" rtlCol="0" anchor="ctr"/>
          <a:lstStyle/>
          <a:p>
            <a:pPr marL="0" indent="0">
              <a:buNone/>
            </a:pPr>
            <a:r>
              <a:rPr lang="en-US" sz="1060" dirty="0">
                <a:solidFill>
                  <a:srgbClr val="243746"/>
                </a:solidFill>
                <a:latin typeface="Arial" pitchFamily="34" charset="0"/>
                <a:ea typeface="Arial" pitchFamily="34" charset="-122"/>
                <a:cs typeface="Arial" pitchFamily="34" charset="-120"/>
              </a:rPr>
              <a:t>Frontend: http://localhost:5173</a:t>
            </a:r>
            <a:endParaRPr lang="en-US" sz="1060" dirty="0"/>
          </a:p>
        </p:txBody>
      </p:sp>
      <p:sp>
        <p:nvSpPr>
          <p:cNvPr id="31" name="Text 28"/>
          <p:cNvSpPr/>
          <p:nvPr/>
        </p:nvSpPr>
        <p:spPr>
          <a:xfrm>
            <a:off x="1152144" y="4562856"/>
            <a:ext cx="182880" cy="164592"/>
          </a:xfrm>
          <a:prstGeom prst="rect">
            <a:avLst/>
          </a:prstGeom>
          <a:noFill/>
          <a:ln/>
        </p:spPr>
        <p:txBody>
          <a:bodyPr wrap="square" lIns="0" tIns="0" rIns="0" bIns="0" rtlCol="0" anchor="ctr"/>
          <a:lstStyle/>
          <a:p>
            <a:pPr marL="0" indent="0">
              <a:buNone/>
            </a:pPr>
            <a:r>
              <a:rPr lang="en-US" sz="1060" b="1" dirty="0">
                <a:solidFill>
                  <a:srgbClr val="FF6B57"/>
                </a:solidFill>
                <a:latin typeface="Arial" pitchFamily="34" charset="0"/>
                <a:ea typeface="Arial" pitchFamily="34" charset="-122"/>
                <a:cs typeface="Arial" pitchFamily="34" charset="-120"/>
              </a:rPr>
              <a:t>•</a:t>
            </a:r>
            <a:endParaRPr lang="en-US" sz="1060" dirty="0"/>
          </a:p>
        </p:txBody>
      </p:sp>
      <p:sp>
        <p:nvSpPr>
          <p:cNvPr id="32" name="Text 29"/>
          <p:cNvSpPr/>
          <p:nvPr/>
        </p:nvSpPr>
        <p:spPr>
          <a:xfrm>
            <a:off x="1371600" y="4553712"/>
            <a:ext cx="9656064" cy="164592"/>
          </a:xfrm>
          <a:prstGeom prst="rect">
            <a:avLst/>
          </a:prstGeom>
          <a:noFill/>
          <a:ln/>
        </p:spPr>
        <p:txBody>
          <a:bodyPr wrap="square" lIns="0" tIns="0" rIns="0" bIns="0" rtlCol="0" anchor="ctr"/>
          <a:lstStyle/>
          <a:p>
            <a:pPr marL="0" indent="0">
              <a:buNone/>
            </a:pPr>
            <a:r>
              <a:rPr lang="en-US" sz="1060" dirty="0">
                <a:solidFill>
                  <a:srgbClr val="243746"/>
                </a:solidFill>
                <a:latin typeface="Arial" pitchFamily="34" charset="0"/>
                <a:ea typeface="Arial" pitchFamily="34" charset="-122"/>
                <a:cs typeface="Arial" pitchFamily="34" charset="-120"/>
              </a:rPr>
              <a:t>API: http://localhost:5174</a:t>
            </a:r>
            <a:endParaRPr lang="en-US" sz="1060" dirty="0"/>
          </a:p>
        </p:txBody>
      </p:sp>
      <p:sp>
        <p:nvSpPr>
          <p:cNvPr id="33" name="Text 30"/>
          <p:cNvSpPr/>
          <p:nvPr/>
        </p:nvSpPr>
        <p:spPr>
          <a:xfrm>
            <a:off x="1152144" y="4782312"/>
            <a:ext cx="182880" cy="164592"/>
          </a:xfrm>
          <a:prstGeom prst="rect">
            <a:avLst/>
          </a:prstGeom>
          <a:noFill/>
          <a:ln/>
        </p:spPr>
        <p:txBody>
          <a:bodyPr wrap="square" lIns="0" tIns="0" rIns="0" bIns="0" rtlCol="0" anchor="ctr"/>
          <a:lstStyle/>
          <a:p>
            <a:pPr marL="0" indent="0">
              <a:buNone/>
            </a:pPr>
            <a:r>
              <a:rPr lang="en-US" sz="1060" b="1" dirty="0">
                <a:solidFill>
                  <a:srgbClr val="FF6B57"/>
                </a:solidFill>
                <a:latin typeface="Arial" pitchFamily="34" charset="0"/>
                <a:ea typeface="Arial" pitchFamily="34" charset="-122"/>
                <a:cs typeface="Arial" pitchFamily="34" charset="-120"/>
              </a:rPr>
              <a:t>•</a:t>
            </a:r>
            <a:endParaRPr lang="en-US" sz="1060" dirty="0"/>
          </a:p>
        </p:txBody>
      </p:sp>
      <p:sp>
        <p:nvSpPr>
          <p:cNvPr id="34" name="Text 31"/>
          <p:cNvSpPr/>
          <p:nvPr/>
        </p:nvSpPr>
        <p:spPr>
          <a:xfrm>
            <a:off x="1371600" y="4773168"/>
            <a:ext cx="9656064" cy="164592"/>
          </a:xfrm>
          <a:prstGeom prst="rect">
            <a:avLst/>
          </a:prstGeom>
          <a:noFill/>
          <a:ln/>
        </p:spPr>
        <p:txBody>
          <a:bodyPr wrap="square" lIns="0" tIns="0" rIns="0" bIns="0" rtlCol="0" anchor="ctr"/>
          <a:lstStyle/>
          <a:p>
            <a:pPr marL="0" indent="0">
              <a:buNone/>
            </a:pPr>
            <a:r>
              <a:rPr lang="en-US" sz="1060" dirty="0">
                <a:solidFill>
                  <a:srgbClr val="243746"/>
                </a:solidFill>
                <a:latin typeface="Arial" pitchFamily="34" charset="0"/>
                <a:ea typeface="Arial" pitchFamily="34" charset="-122"/>
                <a:cs typeface="Arial" pitchFamily="34" charset="-120"/>
              </a:rPr>
              <a:t>Base de datos: localhost:3306</a:t>
            </a:r>
            <a:endParaRPr lang="en-US" sz="1060" dirty="0"/>
          </a:p>
        </p:txBody>
      </p:sp>
      <p:sp>
        <p:nvSpPr>
          <p:cNvPr id="35" name="Text 32"/>
          <p:cNvSpPr/>
          <p:nvPr/>
        </p:nvSpPr>
        <p:spPr>
          <a:xfrm>
            <a:off x="1152144" y="5001768"/>
            <a:ext cx="182880" cy="164592"/>
          </a:xfrm>
          <a:prstGeom prst="rect">
            <a:avLst/>
          </a:prstGeom>
          <a:noFill/>
          <a:ln/>
        </p:spPr>
        <p:txBody>
          <a:bodyPr wrap="square" lIns="0" tIns="0" rIns="0" bIns="0" rtlCol="0" anchor="ctr"/>
          <a:lstStyle/>
          <a:p>
            <a:pPr marL="0" indent="0">
              <a:buNone/>
            </a:pPr>
            <a:r>
              <a:rPr lang="en-US" sz="1060" b="1" dirty="0">
                <a:solidFill>
                  <a:srgbClr val="FF6B57"/>
                </a:solidFill>
                <a:latin typeface="Arial" pitchFamily="34" charset="0"/>
                <a:ea typeface="Arial" pitchFamily="34" charset="-122"/>
                <a:cs typeface="Arial" pitchFamily="34" charset="-120"/>
              </a:rPr>
              <a:t>•</a:t>
            </a:r>
            <a:endParaRPr lang="en-US" sz="1060" dirty="0"/>
          </a:p>
        </p:txBody>
      </p:sp>
      <p:sp>
        <p:nvSpPr>
          <p:cNvPr id="36" name="Text 33"/>
          <p:cNvSpPr/>
          <p:nvPr/>
        </p:nvSpPr>
        <p:spPr>
          <a:xfrm>
            <a:off x="1371600" y="4992624"/>
            <a:ext cx="9656064" cy="164592"/>
          </a:xfrm>
          <a:prstGeom prst="rect">
            <a:avLst/>
          </a:prstGeom>
          <a:noFill/>
          <a:ln/>
        </p:spPr>
        <p:txBody>
          <a:bodyPr wrap="square" lIns="0" tIns="0" rIns="0" bIns="0" rtlCol="0" anchor="ctr"/>
          <a:lstStyle/>
          <a:p>
            <a:pPr marL="0" indent="0">
              <a:buNone/>
            </a:pPr>
            <a:r>
              <a:rPr lang="en-US" sz="1060" dirty="0">
                <a:solidFill>
                  <a:srgbClr val="243746"/>
                </a:solidFill>
                <a:latin typeface="Arial" pitchFamily="34" charset="0"/>
                <a:ea typeface="Arial" pitchFamily="34" charset="-122"/>
                <a:cs typeface="Arial" pitchFamily="34" charset="-120"/>
              </a:rPr>
              <a:t>Dependencias y healthcheck orquestados por docker-compose.</a:t>
            </a:r>
            <a:endParaRPr lang="en-US" sz="10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Despliegue y entorno productivo</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CI/CD y entorno productivo en Azure</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GitHub Actions publica imágenes en ACR y actualiza Container Apps con secretos y variables diferenciando build-time y runtime.</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Despliegue y entorno productivo</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19</a:t>
            </a:r>
            <a:endParaRPr lang="en-US" sz="950" dirty="0"/>
          </a:p>
        </p:txBody>
      </p:sp>
      <p:sp>
        <p:nvSpPr>
          <p:cNvPr id="11" name="Shape 8"/>
          <p:cNvSpPr/>
          <p:nvPr/>
        </p:nvSpPr>
        <p:spPr>
          <a:xfrm>
            <a:off x="658368" y="1993392"/>
            <a:ext cx="1783080" cy="1115568"/>
          </a:xfrm>
          <a:prstGeom prst="roundRect">
            <a:avLst>
              <a:gd name="adj" fmla="val 6557"/>
            </a:avLst>
          </a:prstGeom>
          <a:solidFill>
            <a:srgbClr val="FFFFFF"/>
          </a:solidFill>
          <a:ln w="12700">
            <a:solidFill>
              <a:srgbClr val="D6DFE8"/>
            </a:solidFill>
            <a:prstDash val="solid"/>
          </a:ln>
        </p:spPr>
        <p:txBody>
          <a:bodyPr/>
          <a:lstStyle/>
          <a:p>
            <a:endParaRPr lang="en-ES"/>
          </a:p>
        </p:txBody>
      </p:sp>
      <p:sp>
        <p:nvSpPr>
          <p:cNvPr id="12" name="Shape 9"/>
          <p:cNvSpPr/>
          <p:nvPr/>
        </p:nvSpPr>
        <p:spPr>
          <a:xfrm>
            <a:off x="822960" y="2139696"/>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13" name="Text 10"/>
          <p:cNvSpPr/>
          <p:nvPr/>
        </p:nvSpPr>
        <p:spPr>
          <a:xfrm>
            <a:off x="822960" y="2185416"/>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1</a:t>
            </a:r>
            <a:endParaRPr lang="en-US" sz="950" dirty="0"/>
          </a:p>
        </p:txBody>
      </p:sp>
      <p:sp>
        <p:nvSpPr>
          <p:cNvPr id="14" name="Text 11"/>
          <p:cNvSpPr/>
          <p:nvPr/>
        </p:nvSpPr>
        <p:spPr>
          <a:xfrm>
            <a:off x="822960" y="2468880"/>
            <a:ext cx="145389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GitHub Actions</a:t>
            </a:r>
            <a:endParaRPr lang="en-US" sz="1250" dirty="0"/>
          </a:p>
        </p:txBody>
      </p:sp>
      <p:sp>
        <p:nvSpPr>
          <p:cNvPr id="15" name="Text 12"/>
          <p:cNvSpPr/>
          <p:nvPr/>
        </p:nvSpPr>
        <p:spPr>
          <a:xfrm>
            <a:off x="822960" y="2743200"/>
            <a:ext cx="1453896"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Build + push</a:t>
            </a:r>
            <a:endParaRPr lang="en-US" sz="1050" dirty="0"/>
          </a:p>
        </p:txBody>
      </p:sp>
      <p:sp>
        <p:nvSpPr>
          <p:cNvPr id="16" name="Shape 13"/>
          <p:cNvSpPr/>
          <p:nvPr/>
        </p:nvSpPr>
        <p:spPr>
          <a:xfrm>
            <a:off x="2697480" y="1993392"/>
            <a:ext cx="1143000" cy="1115568"/>
          </a:xfrm>
          <a:prstGeom prst="roundRect">
            <a:avLst>
              <a:gd name="adj" fmla="val 6557"/>
            </a:avLst>
          </a:prstGeom>
          <a:solidFill>
            <a:srgbClr val="FFFFFF"/>
          </a:solidFill>
          <a:ln w="12700">
            <a:solidFill>
              <a:srgbClr val="D6DFE8"/>
            </a:solidFill>
            <a:prstDash val="solid"/>
          </a:ln>
        </p:spPr>
        <p:txBody>
          <a:bodyPr/>
          <a:lstStyle/>
          <a:p>
            <a:endParaRPr lang="en-ES"/>
          </a:p>
        </p:txBody>
      </p:sp>
      <p:sp>
        <p:nvSpPr>
          <p:cNvPr id="17" name="Shape 14"/>
          <p:cNvSpPr/>
          <p:nvPr/>
        </p:nvSpPr>
        <p:spPr>
          <a:xfrm>
            <a:off x="2862072" y="2139696"/>
            <a:ext cx="640080" cy="256032"/>
          </a:xfrm>
          <a:prstGeom prst="roundRect">
            <a:avLst>
              <a:gd name="adj" fmla="val 25000"/>
            </a:avLst>
          </a:prstGeom>
          <a:solidFill>
            <a:srgbClr val="FFFFFF"/>
          </a:solidFill>
          <a:ln w="12700">
            <a:solidFill>
              <a:srgbClr val="FF6B57"/>
            </a:solidFill>
            <a:prstDash val="solid"/>
          </a:ln>
        </p:spPr>
        <p:txBody>
          <a:bodyPr/>
          <a:lstStyle/>
          <a:p>
            <a:endParaRPr lang="en-ES"/>
          </a:p>
        </p:txBody>
      </p:sp>
      <p:sp>
        <p:nvSpPr>
          <p:cNvPr id="18" name="Text 15"/>
          <p:cNvSpPr/>
          <p:nvPr/>
        </p:nvSpPr>
        <p:spPr>
          <a:xfrm>
            <a:off x="2862072" y="2185416"/>
            <a:ext cx="64008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2</a:t>
            </a:r>
            <a:endParaRPr lang="en-US" sz="950" dirty="0"/>
          </a:p>
        </p:txBody>
      </p:sp>
      <p:sp>
        <p:nvSpPr>
          <p:cNvPr id="19" name="Text 16"/>
          <p:cNvSpPr/>
          <p:nvPr/>
        </p:nvSpPr>
        <p:spPr>
          <a:xfrm>
            <a:off x="2862072" y="2468880"/>
            <a:ext cx="8138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OIDC</a:t>
            </a:r>
            <a:endParaRPr lang="en-US" sz="1250" dirty="0"/>
          </a:p>
        </p:txBody>
      </p:sp>
      <p:sp>
        <p:nvSpPr>
          <p:cNvPr id="20" name="Text 17"/>
          <p:cNvSpPr/>
          <p:nvPr/>
        </p:nvSpPr>
        <p:spPr>
          <a:xfrm>
            <a:off x="2862072" y="2743200"/>
            <a:ext cx="813816"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Login federado</a:t>
            </a:r>
            <a:endParaRPr lang="en-US" sz="1050" dirty="0"/>
          </a:p>
        </p:txBody>
      </p:sp>
      <p:sp>
        <p:nvSpPr>
          <p:cNvPr id="21" name="Shape 18"/>
          <p:cNvSpPr/>
          <p:nvPr/>
        </p:nvSpPr>
        <p:spPr>
          <a:xfrm>
            <a:off x="4187952" y="1993392"/>
            <a:ext cx="1143000" cy="1115568"/>
          </a:xfrm>
          <a:prstGeom prst="roundRect">
            <a:avLst>
              <a:gd name="adj" fmla="val 6557"/>
            </a:avLst>
          </a:prstGeom>
          <a:solidFill>
            <a:srgbClr val="FFFFFF"/>
          </a:solidFill>
          <a:ln w="12700">
            <a:solidFill>
              <a:srgbClr val="D6DFE8"/>
            </a:solidFill>
            <a:prstDash val="solid"/>
          </a:ln>
        </p:spPr>
        <p:txBody>
          <a:bodyPr/>
          <a:lstStyle/>
          <a:p>
            <a:endParaRPr lang="en-ES"/>
          </a:p>
        </p:txBody>
      </p:sp>
      <p:sp>
        <p:nvSpPr>
          <p:cNvPr id="22" name="Shape 19"/>
          <p:cNvSpPr/>
          <p:nvPr/>
        </p:nvSpPr>
        <p:spPr>
          <a:xfrm>
            <a:off x="4352544" y="2139696"/>
            <a:ext cx="640080" cy="256032"/>
          </a:xfrm>
          <a:prstGeom prst="roundRect">
            <a:avLst>
              <a:gd name="adj" fmla="val 25000"/>
            </a:avLst>
          </a:prstGeom>
          <a:solidFill>
            <a:srgbClr val="FFFFFF"/>
          </a:solidFill>
          <a:ln w="12700">
            <a:solidFill>
              <a:srgbClr val="2FA36B"/>
            </a:solidFill>
            <a:prstDash val="solid"/>
          </a:ln>
        </p:spPr>
        <p:txBody>
          <a:bodyPr/>
          <a:lstStyle/>
          <a:p>
            <a:endParaRPr lang="en-ES"/>
          </a:p>
        </p:txBody>
      </p:sp>
      <p:sp>
        <p:nvSpPr>
          <p:cNvPr id="23" name="Text 20"/>
          <p:cNvSpPr/>
          <p:nvPr/>
        </p:nvSpPr>
        <p:spPr>
          <a:xfrm>
            <a:off x="4352544" y="2185416"/>
            <a:ext cx="64008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3</a:t>
            </a:r>
            <a:endParaRPr lang="en-US" sz="950" dirty="0"/>
          </a:p>
        </p:txBody>
      </p:sp>
      <p:sp>
        <p:nvSpPr>
          <p:cNvPr id="24" name="Text 21"/>
          <p:cNvSpPr/>
          <p:nvPr/>
        </p:nvSpPr>
        <p:spPr>
          <a:xfrm>
            <a:off x="4352544" y="2468880"/>
            <a:ext cx="81381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ACR</a:t>
            </a:r>
            <a:endParaRPr lang="en-US" sz="1250" dirty="0"/>
          </a:p>
        </p:txBody>
      </p:sp>
      <p:sp>
        <p:nvSpPr>
          <p:cNvPr id="25" name="Text 22"/>
          <p:cNvSpPr/>
          <p:nvPr/>
        </p:nvSpPr>
        <p:spPr>
          <a:xfrm>
            <a:off x="4352544" y="2743200"/>
            <a:ext cx="813816"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Registro de imágenes</a:t>
            </a:r>
            <a:endParaRPr lang="en-US" sz="1050" dirty="0"/>
          </a:p>
        </p:txBody>
      </p:sp>
      <p:sp>
        <p:nvSpPr>
          <p:cNvPr id="26" name="Shape 23"/>
          <p:cNvSpPr/>
          <p:nvPr/>
        </p:nvSpPr>
        <p:spPr>
          <a:xfrm>
            <a:off x="5715000" y="1993392"/>
            <a:ext cx="2331720" cy="1115568"/>
          </a:xfrm>
          <a:prstGeom prst="roundRect">
            <a:avLst>
              <a:gd name="adj" fmla="val 6557"/>
            </a:avLst>
          </a:prstGeom>
          <a:solidFill>
            <a:srgbClr val="FFFFFF"/>
          </a:solidFill>
          <a:ln w="12700">
            <a:solidFill>
              <a:srgbClr val="D6DFE8"/>
            </a:solidFill>
            <a:prstDash val="solid"/>
          </a:ln>
        </p:spPr>
        <p:txBody>
          <a:bodyPr/>
          <a:lstStyle/>
          <a:p>
            <a:endParaRPr lang="en-ES"/>
          </a:p>
        </p:txBody>
      </p:sp>
      <p:sp>
        <p:nvSpPr>
          <p:cNvPr id="27" name="Shape 24"/>
          <p:cNvSpPr/>
          <p:nvPr/>
        </p:nvSpPr>
        <p:spPr>
          <a:xfrm>
            <a:off x="5879592" y="2139696"/>
            <a:ext cx="640080" cy="256032"/>
          </a:xfrm>
          <a:prstGeom prst="roundRect">
            <a:avLst>
              <a:gd name="adj" fmla="val 25000"/>
            </a:avLst>
          </a:prstGeom>
          <a:solidFill>
            <a:srgbClr val="FFFFFF"/>
          </a:solidFill>
          <a:ln w="12700">
            <a:solidFill>
              <a:srgbClr val="C58A2B"/>
            </a:solidFill>
            <a:prstDash val="solid"/>
          </a:ln>
        </p:spPr>
        <p:txBody>
          <a:bodyPr/>
          <a:lstStyle/>
          <a:p>
            <a:endParaRPr lang="en-ES"/>
          </a:p>
        </p:txBody>
      </p:sp>
      <p:sp>
        <p:nvSpPr>
          <p:cNvPr id="28" name="Text 25"/>
          <p:cNvSpPr/>
          <p:nvPr/>
        </p:nvSpPr>
        <p:spPr>
          <a:xfrm>
            <a:off x="5879592" y="2185416"/>
            <a:ext cx="640080" cy="109728"/>
          </a:xfrm>
          <a:prstGeom prst="rect">
            <a:avLst/>
          </a:prstGeom>
          <a:noFill/>
          <a:ln/>
        </p:spPr>
        <p:txBody>
          <a:bodyPr wrap="square" lIns="0" tIns="0" rIns="0" bIns="0" rtlCol="0" anchor="ctr"/>
          <a:lstStyle/>
          <a:p>
            <a:pPr marL="0" indent="0" algn="ctr">
              <a:buNone/>
            </a:pPr>
            <a:r>
              <a:rPr lang="en-US" sz="950" b="1" dirty="0">
                <a:solidFill>
                  <a:srgbClr val="C58A2B"/>
                </a:solidFill>
                <a:latin typeface="Arial" pitchFamily="34" charset="0"/>
                <a:ea typeface="Arial" pitchFamily="34" charset="-122"/>
                <a:cs typeface="Arial" pitchFamily="34" charset="-120"/>
              </a:rPr>
              <a:t>4</a:t>
            </a:r>
            <a:endParaRPr lang="en-US" sz="950" dirty="0"/>
          </a:p>
        </p:txBody>
      </p:sp>
      <p:sp>
        <p:nvSpPr>
          <p:cNvPr id="29" name="Text 26"/>
          <p:cNvSpPr/>
          <p:nvPr/>
        </p:nvSpPr>
        <p:spPr>
          <a:xfrm>
            <a:off x="5879592" y="2468880"/>
            <a:ext cx="2002536"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Container Apps</a:t>
            </a:r>
            <a:endParaRPr lang="en-US" sz="1250" dirty="0"/>
          </a:p>
        </p:txBody>
      </p:sp>
      <p:sp>
        <p:nvSpPr>
          <p:cNvPr id="30" name="Text 27"/>
          <p:cNvSpPr/>
          <p:nvPr/>
        </p:nvSpPr>
        <p:spPr>
          <a:xfrm>
            <a:off x="5879592" y="2743200"/>
            <a:ext cx="2002536"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Frontend y API</a:t>
            </a:r>
            <a:endParaRPr lang="en-US" sz="1050" dirty="0"/>
          </a:p>
        </p:txBody>
      </p:sp>
      <p:sp>
        <p:nvSpPr>
          <p:cNvPr id="31" name="Shape 28"/>
          <p:cNvSpPr/>
          <p:nvPr/>
        </p:nvSpPr>
        <p:spPr>
          <a:xfrm>
            <a:off x="8339328" y="1993392"/>
            <a:ext cx="2907792" cy="1115568"/>
          </a:xfrm>
          <a:prstGeom prst="roundRect">
            <a:avLst>
              <a:gd name="adj" fmla="val 6557"/>
            </a:avLst>
          </a:prstGeom>
          <a:solidFill>
            <a:srgbClr val="FFFFFF"/>
          </a:solidFill>
          <a:ln w="12700">
            <a:solidFill>
              <a:srgbClr val="D6DFE8"/>
            </a:solidFill>
            <a:prstDash val="solid"/>
          </a:ln>
        </p:spPr>
        <p:txBody>
          <a:bodyPr/>
          <a:lstStyle/>
          <a:p>
            <a:endParaRPr lang="en-ES"/>
          </a:p>
        </p:txBody>
      </p:sp>
      <p:sp>
        <p:nvSpPr>
          <p:cNvPr id="32" name="Shape 29"/>
          <p:cNvSpPr/>
          <p:nvPr/>
        </p:nvSpPr>
        <p:spPr>
          <a:xfrm>
            <a:off x="8503920" y="2139696"/>
            <a:ext cx="640080" cy="256032"/>
          </a:xfrm>
          <a:prstGeom prst="roundRect">
            <a:avLst>
              <a:gd name="adj" fmla="val 25000"/>
            </a:avLst>
          </a:prstGeom>
          <a:solidFill>
            <a:srgbClr val="FFFFFF"/>
          </a:solidFill>
          <a:ln w="12700">
            <a:solidFill>
              <a:srgbClr val="183B56"/>
            </a:solidFill>
            <a:prstDash val="solid"/>
          </a:ln>
        </p:spPr>
        <p:txBody>
          <a:bodyPr/>
          <a:lstStyle/>
          <a:p>
            <a:endParaRPr lang="en-ES"/>
          </a:p>
        </p:txBody>
      </p:sp>
      <p:sp>
        <p:nvSpPr>
          <p:cNvPr id="33" name="Text 30"/>
          <p:cNvSpPr/>
          <p:nvPr/>
        </p:nvSpPr>
        <p:spPr>
          <a:xfrm>
            <a:off x="8503920" y="2185416"/>
            <a:ext cx="6400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5</a:t>
            </a:r>
            <a:endParaRPr lang="en-US" sz="950" dirty="0"/>
          </a:p>
        </p:txBody>
      </p:sp>
      <p:sp>
        <p:nvSpPr>
          <p:cNvPr id="34" name="Text 31"/>
          <p:cNvSpPr/>
          <p:nvPr/>
        </p:nvSpPr>
        <p:spPr>
          <a:xfrm>
            <a:off x="8503920" y="2468880"/>
            <a:ext cx="2578608" cy="182880"/>
          </a:xfrm>
          <a:prstGeom prst="rect">
            <a:avLst/>
          </a:prstGeom>
          <a:noFill/>
          <a:ln/>
        </p:spPr>
        <p:txBody>
          <a:bodyPr wrap="square" lIns="0" tIns="0" rIns="0" bIns="0" rtlCol="0" anchor="ctr"/>
          <a:lstStyle/>
          <a:p>
            <a:pPr marL="0" indent="0">
              <a:buNone/>
            </a:pPr>
            <a:r>
              <a:rPr lang="en-US" sz="1250" b="1" dirty="0">
                <a:solidFill>
                  <a:srgbClr val="183B56"/>
                </a:solidFill>
                <a:latin typeface="Arial" pitchFamily="34" charset="0"/>
                <a:ea typeface="Arial" pitchFamily="34" charset="-122"/>
                <a:cs typeface="Arial" pitchFamily="34" charset="-120"/>
              </a:rPr>
              <a:t>MySQL Flexible Server</a:t>
            </a:r>
            <a:endParaRPr lang="en-US" sz="1250" dirty="0"/>
          </a:p>
        </p:txBody>
      </p:sp>
      <p:sp>
        <p:nvSpPr>
          <p:cNvPr id="35" name="Text 32"/>
          <p:cNvSpPr/>
          <p:nvPr/>
        </p:nvSpPr>
        <p:spPr>
          <a:xfrm>
            <a:off x="8503920" y="2743200"/>
            <a:ext cx="2578608" cy="201168"/>
          </a:xfrm>
          <a:prstGeom prst="rect">
            <a:avLst/>
          </a:prstGeom>
          <a:noFill/>
          <a:ln/>
        </p:spPr>
        <p:txBody>
          <a:bodyPr wrap="square" lIns="0" tIns="0" rIns="0" bIns="0" rtlCol="0" anchor="ctr"/>
          <a:lstStyle/>
          <a:p>
            <a:pPr marL="0" indent="0">
              <a:buNone/>
            </a:pPr>
            <a:r>
              <a:rPr lang="en-US" sz="1050" dirty="0">
                <a:solidFill>
                  <a:srgbClr val="5B6B7B"/>
                </a:solidFill>
                <a:latin typeface="Arial" pitchFamily="34" charset="0"/>
                <a:ea typeface="Arial" pitchFamily="34" charset="-122"/>
                <a:cs typeface="Arial" pitchFamily="34" charset="-120"/>
              </a:rPr>
              <a:t>Persistencia gestionada</a:t>
            </a:r>
            <a:endParaRPr lang="en-US" sz="1050" dirty="0"/>
          </a:p>
        </p:txBody>
      </p:sp>
      <p:sp>
        <p:nvSpPr>
          <p:cNvPr id="36" name="Shape 33"/>
          <p:cNvSpPr/>
          <p:nvPr/>
        </p:nvSpPr>
        <p:spPr>
          <a:xfrm>
            <a:off x="2468880" y="2560320"/>
            <a:ext cx="201168" cy="0"/>
          </a:xfrm>
          <a:prstGeom prst="line">
            <a:avLst/>
          </a:prstGeom>
          <a:noFill/>
          <a:ln w="12700">
            <a:solidFill>
              <a:srgbClr val="D6DFE8"/>
            </a:solidFill>
            <a:prstDash val="solid"/>
            <a:tailEnd type="triangle"/>
          </a:ln>
        </p:spPr>
        <p:txBody>
          <a:bodyPr/>
          <a:lstStyle/>
          <a:p>
            <a:endParaRPr lang="en-ES"/>
          </a:p>
        </p:txBody>
      </p:sp>
      <p:sp>
        <p:nvSpPr>
          <p:cNvPr id="37" name="Shape 34"/>
          <p:cNvSpPr/>
          <p:nvPr/>
        </p:nvSpPr>
        <p:spPr>
          <a:xfrm>
            <a:off x="3959352" y="2560320"/>
            <a:ext cx="201168" cy="0"/>
          </a:xfrm>
          <a:prstGeom prst="line">
            <a:avLst/>
          </a:prstGeom>
          <a:noFill/>
          <a:ln w="12700">
            <a:solidFill>
              <a:srgbClr val="D6DFE8"/>
            </a:solidFill>
            <a:prstDash val="solid"/>
            <a:tailEnd type="triangle"/>
          </a:ln>
        </p:spPr>
        <p:txBody>
          <a:bodyPr/>
          <a:lstStyle/>
          <a:p>
            <a:endParaRPr lang="en-ES"/>
          </a:p>
        </p:txBody>
      </p:sp>
      <p:sp>
        <p:nvSpPr>
          <p:cNvPr id="38" name="Shape 35"/>
          <p:cNvSpPr/>
          <p:nvPr/>
        </p:nvSpPr>
        <p:spPr>
          <a:xfrm>
            <a:off x="5486400" y="2560320"/>
            <a:ext cx="201168" cy="0"/>
          </a:xfrm>
          <a:prstGeom prst="line">
            <a:avLst/>
          </a:prstGeom>
          <a:noFill/>
          <a:ln w="12700">
            <a:solidFill>
              <a:srgbClr val="D6DFE8"/>
            </a:solidFill>
            <a:prstDash val="solid"/>
            <a:tailEnd type="triangle"/>
          </a:ln>
        </p:spPr>
        <p:txBody>
          <a:bodyPr/>
          <a:lstStyle/>
          <a:p>
            <a:endParaRPr lang="en-ES"/>
          </a:p>
        </p:txBody>
      </p:sp>
      <p:sp>
        <p:nvSpPr>
          <p:cNvPr id="39" name="Shape 36"/>
          <p:cNvSpPr/>
          <p:nvPr/>
        </p:nvSpPr>
        <p:spPr>
          <a:xfrm>
            <a:off x="8092440" y="2560320"/>
            <a:ext cx="219456" cy="0"/>
          </a:xfrm>
          <a:prstGeom prst="line">
            <a:avLst/>
          </a:prstGeom>
          <a:noFill/>
          <a:ln w="12700">
            <a:solidFill>
              <a:srgbClr val="D6DFE8"/>
            </a:solidFill>
            <a:prstDash val="solid"/>
            <a:tailEnd type="triangle"/>
          </a:ln>
        </p:spPr>
        <p:txBody>
          <a:bodyPr/>
          <a:lstStyle/>
          <a:p>
            <a:endParaRPr lang="en-ES"/>
          </a:p>
        </p:txBody>
      </p:sp>
      <p:sp>
        <p:nvSpPr>
          <p:cNvPr id="40" name="Shape 37"/>
          <p:cNvSpPr/>
          <p:nvPr/>
        </p:nvSpPr>
        <p:spPr>
          <a:xfrm>
            <a:off x="841248" y="3858768"/>
            <a:ext cx="5120640" cy="1005840"/>
          </a:xfrm>
          <a:prstGeom prst="roundRect">
            <a:avLst>
              <a:gd name="adj" fmla="val 7273"/>
            </a:avLst>
          </a:prstGeom>
          <a:solidFill>
            <a:srgbClr val="EEF5FB"/>
          </a:solidFill>
          <a:ln w="12700">
            <a:solidFill>
              <a:srgbClr val="D6DFE8"/>
            </a:solidFill>
            <a:prstDash val="solid"/>
          </a:ln>
        </p:spPr>
        <p:txBody>
          <a:bodyPr/>
          <a:lstStyle/>
          <a:p>
            <a:endParaRPr lang="en-ES"/>
          </a:p>
        </p:txBody>
      </p:sp>
      <p:sp>
        <p:nvSpPr>
          <p:cNvPr id="41" name="Shape 38"/>
          <p:cNvSpPr/>
          <p:nvPr/>
        </p:nvSpPr>
        <p:spPr>
          <a:xfrm>
            <a:off x="841248" y="3858768"/>
            <a:ext cx="91440" cy="1005840"/>
          </a:xfrm>
          <a:prstGeom prst="rect">
            <a:avLst/>
          </a:prstGeom>
          <a:solidFill>
            <a:srgbClr val="183B56"/>
          </a:solidFill>
          <a:ln w="12700">
            <a:solidFill>
              <a:srgbClr val="183B56"/>
            </a:solidFill>
            <a:prstDash val="solid"/>
          </a:ln>
        </p:spPr>
        <p:txBody>
          <a:bodyPr/>
          <a:lstStyle/>
          <a:p>
            <a:endParaRPr lang="en-ES"/>
          </a:p>
        </p:txBody>
      </p:sp>
      <p:sp>
        <p:nvSpPr>
          <p:cNvPr id="42" name="Text 39"/>
          <p:cNvSpPr/>
          <p:nvPr/>
        </p:nvSpPr>
        <p:spPr>
          <a:xfrm>
            <a:off x="1060704" y="4023360"/>
            <a:ext cx="480974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Build-time</a:t>
            </a:r>
            <a:endParaRPr lang="en-US" sz="1300" dirty="0"/>
          </a:p>
        </p:txBody>
      </p:sp>
      <p:sp>
        <p:nvSpPr>
          <p:cNvPr id="43" name="Text 40"/>
          <p:cNvSpPr/>
          <p:nvPr/>
        </p:nvSpPr>
        <p:spPr>
          <a:xfrm>
            <a:off x="1060704" y="4297680"/>
            <a:ext cx="4809744" cy="47548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frontend recibe VITE_API_BASE_URL y VITE_GOOGLE_CLIENT_ID durante docker build; no se inyectan después en Nginx.</a:t>
            </a:r>
            <a:endParaRPr lang="en-US" sz="1150" dirty="0"/>
          </a:p>
        </p:txBody>
      </p:sp>
      <p:sp>
        <p:nvSpPr>
          <p:cNvPr id="44" name="Shape 41"/>
          <p:cNvSpPr/>
          <p:nvPr/>
        </p:nvSpPr>
        <p:spPr>
          <a:xfrm>
            <a:off x="6236208" y="3858768"/>
            <a:ext cx="4937760" cy="1005840"/>
          </a:xfrm>
          <a:prstGeom prst="roundRect">
            <a:avLst>
              <a:gd name="adj" fmla="val 7273"/>
            </a:avLst>
          </a:prstGeom>
          <a:solidFill>
            <a:srgbClr val="EDF8F2"/>
          </a:solidFill>
          <a:ln w="12700">
            <a:solidFill>
              <a:srgbClr val="D6DFE8"/>
            </a:solidFill>
            <a:prstDash val="solid"/>
          </a:ln>
        </p:spPr>
        <p:txBody>
          <a:bodyPr/>
          <a:lstStyle/>
          <a:p>
            <a:endParaRPr lang="en-ES"/>
          </a:p>
        </p:txBody>
      </p:sp>
      <p:sp>
        <p:nvSpPr>
          <p:cNvPr id="45" name="Shape 42"/>
          <p:cNvSpPr/>
          <p:nvPr/>
        </p:nvSpPr>
        <p:spPr>
          <a:xfrm>
            <a:off x="6236208" y="3858768"/>
            <a:ext cx="91440" cy="1005840"/>
          </a:xfrm>
          <a:prstGeom prst="rect">
            <a:avLst/>
          </a:prstGeom>
          <a:solidFill>
            <a:srgbClr val="2FA36B"/>
          </a:solidFill>
          <a:ln w="12700">
            <a:solidFill>
              <a:srgbClr val="2FA36B"/>
            </a:solidFill>
            <a:prstDash val="solid"/>
          </a:ln>
        </p:spPr>
        <p:txBody>
          <a:bodyPr/>
          <a:lstStyle/>
          <a:p>
            <a:endParaRPr lang="en-ES"/>
          </a:p>
        </p:txBody>
      </p:sp>
      <p:sp>
        <p:nvSpPr>
          <p:cNvPr id="46" name="Text 43"/>
          <p:cNvSpPr/>
          <p:nvPr/>
        </p:nvSpPr>
        <p:spPr>
          <a:xfrm>
            <a:off x="6455664" y="4023360"/>
            <a:ext cx="4626864"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Runtime</a:t>
            </a:r>
            <a:endParaRPr lang="en-US" sz="1300" dirty="0"/>
          </a:p>
        </p:txBody>
      </p:sp>
      <p:sp>
        <p:nvSpPr>
          <p:cNvPr id="47" name="Text 44"/>
          <p:cNvSpPr/>
          <p:nvPr/>
        </p:nvSpPr>
        <p:spPr>
          <a:xfrm>
            <a:off x="6455664" y="4297680"/>
            <a:ext cx="4626864" cy="47548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La API obtiene ConnectionStrings, JWT y Google Client Secret como secretos y env vars en Azure Container Apps.</a:t>
            </a:r>
            <a:endParaRPr lang="en-US" sz="1150" dirty="0"/>
          </a:p>
        </p:txBody>
      </p:sp>
      <p:sp>
        <p:nvSpPr>
          <p:cNvPr id="48" name="TextBox 47">
            <a:extLst>
              <a:ext uri="{FF2B5EF4-FFF2-40B4-BE49-F238E27FC236}">
                <a16:creationId xmlns:a16="http://schemas.microsoft.com/office/drawing/2014/main" id="{066D5A2A-C7FC-D54B-6E94-357A198A8B8C}"/>
              </a:ext>
            </a:extLst>
          </p:cNvPr>
          <p:cNvSpPr txBox="1"/>
          <p:nvPr/>
        </p:nvSpPr>
        <p:spPr>
          <a:xfrm>
            <a:off x="781398" y="5289572"/>
            <a:ext cx="6099462" cy="646331"/>
          </a:xfrm>
          <a:prstGeom prst="rect">
            <a:avLst/>
          </a:prstGeom>
          <a:noFill/>
        </p:spPr>
        <p:txBody>
          <a:bodyPr wrap="square">
            <a:spAutoFit/>
          </a:bodyPr>
          <a:lstStyle/>
          <a:p>
            <a:r>
              <a:rPr lang="en-ES" dirty="0"/>
              <a:t>https://bischool-tfm-front.whitehill-d85da012.westus.azurecontainerapps.io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E0B1B-4AA6-5CEB-45BE-B6E75891C6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EFE495E-9904-AADB-2BA8-8E39C69B0952}"/>
              </a:ext>
            </a:extLst>
          </p:cNvPr>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a:extLst>
              <a:ext uri="{FF2B5EF4-FFF2-40B4-BE49-F238E27FC236}">
                <a16:creationId xmlns:a16="http://schemas.microsoft.com/office/drawing/2014/main" id="{07D47CFE-CA83-E864-D204-1BF528B05AB1}"/>
              </a:ext>
            </a:extLst>
          </p:cNvPr>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Despliegue y entorno productivo</a:t>
            </a:r>
            <a:endParaRPr lang="en-US" sz="1100" dirty="0"/>
          </a:p>
        </p:txBody>
      </p:sp>
      <p:sp>
        <p:nvSpPr>
          <p:cNvPr id="4" name="Text 2">
            <a:extLst>
              <a:ext uri="{FF2B5EF4-FFF2-40B4-BE49-F238E27FC236}">
                <a16:creationId xmlns:a16="http://schemas.microsoft.com/office/drawing/2014/main" id="{ED805BD2-2B94-B962-64AA-22EA31D59714}"/>
              </a:ext>
            </a:extLst>
          </p:cNvPr>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CI/CD y entorno productivo en Azure</a:t>
            </a:r>
            <a:endParaRPr lang="en-US" sz="2400" dirty="0"/>
          </a:p>
        </p:txBody>
      </p:sp>
      <p:sp>
        <p:nvSpPr>
          <p:cNvPr id="5" name="Text 3">
            <a:extLst>
              <a:ext uri="{FF2B5EF4-FFF2-40B4-BE49-F238E27FC236}">
                <a16:creationId xmlns:a16="http://schemas.microsoft.com/office/drawing/2014/main" id="{F7542F91-9F34-F408-FB54-500AF21BE460}"/>
              </a:ext>
            </a:extLst>
          </p:cNvPr>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URLS de </a:t>
            </a:r>
            <a:r>
              <a:rPr lang="en-US" sz="1150" dirty="0" err="1">
                <a:solidFill>
                  <a:srgbClr val="5B6B7B"/>
                </a:solidFill>
                <a:latin typeface="Arial" pitchFamily="34" charset="0"/>
                <a:ea typeface="Arial" pitchFamily="34" charset="-122"/>
                <a:cs typeface="Arial" pitchFamily="34" charset="-120"/>
              </a:rPr>
              <a:t>Acceso</a:t>
            </a:r>
            <a:r>
              <a:rPr lang="en-US" sz="1150" dirty="0">
                <a:solidFill>
                  <a:srgbClr val="5B6B7B"/>
                </a:solidFill>
                <a:latin typeface="Arial" pitchFamily="34" charset="0"/>
                <a:ea typeface="Arial" pitchFamily="34" charset="-122"/>
                <a:cs typeface="Arial" pitchFamily="34" charset="-120"/>
              </a:rPr>
              <a:t> y resource group</a:t>
            </a:r>
            <a:endParaRPr lang="en-US" sz="1150" dirty="0"/>
          </a:p>
        </p:txBody>
      </p:sp>
      <p:sp>
        <p:nvSpPr>
          <p:cNvPr id="6" name="Shape 4">
            <a:extLst>
              <a:ext uri="{FF2B5EF4-FFF2-40B4-BE49-F238E27FC236}">
                <a16:creationId xmlns:a16="http://schemas.microsoft.com/office/drawing/2014/main" id="{E8486B60-60CD-C2DB-DD54-5817A91A2080}"/>
              </a:ext>
            </a:extLst>
          </p:cNvPr>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a:extLst>
              <a:ext uri="{FF2B5EF4-FFF2-40B4-BE49-F238E27FC236}">
                <a16:creationId xmlns:a16="http://schemas.microsoft.com/office/drawing/2014/main" id="{D5199ED3-18EF-7686-7FC0-4CDBD523C827}"/>
              </a:ext>
            </a:extLst>
          </p:cNvPr>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Despliegue y entorno productivo</a:t>
            </a:r>
            <a:endParaRPr lang="en-US" sz="950" dirty="0"/>
          </a:p>
        </p:txBody>
      </p:sp>
      <p:sp>
        <p:nvSpPr>
          <p:cNvPr id="8" name="Text 6">
            <a:extLst>
              <a:ext uri="{FF2B5EF4-FFF2-40B4-BE49-F238E27FC236}">
                <a16:creationId xmlns:a16="http://schemas.microsoft.com/office/drawing/2014/main" id="{BED17A8A-7B90-716F-3E22-074EE990A342}"/>
              </a:ext>
            </a:extLst>
          </p:cNvPr>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a:extLst>
              <a:ext uri="{FF2B5EF4-FFF2-40B4-BE49-F238E27FC236}">
                <a16:creationId xmlns:a16="http://schemas.microsoft.com/office/drawing/2014/main" id="{8EEB7E06-D78C-F9A7-6B82-6D2F8355BEEE}"/>
              </a:ext>
            </a:extLst>
          </p:cNvPr>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19</a:t>
            </a:r>
            <a:endParaRPr lang="en-US" sz="950" dirty="0"/>
          </a:p>
        </p:txBody>
      </p:sp>
      <p:pic>
        <p:nvPicPr>
          <p:cNvPr id="10" name="Picture 9">
            <a:extLst>
              <a:ext uri="{FF2B5EF4-FFF2-40B4-BE49-F238E27FC236}">
                <a16:creationId xmlns:a16="http://schemas.microsoft.com/office/drawing/2014/main" id="{D9B52B1A-EA5B-7F4D-A848-1DC4AF5FF86C}"/>
              </a:ext>
            </a:extLst>
          </p:cNvPr>
          <p:cNvPicPr>
            <a:picLocks noChangeAspect="1"/>
          </p:cNvPicPr>
          <p:nvPr/>
        </p:nvPicPr>
        <p:blipFill>
          <a:blip r:embed="rId3"/>
          <a:stretch>
            <a:fillRect/>
          </a:stretch>
        </p:blipFill>
        <p:spPr>
          <a:xfrm>
            <a:off x="2208276" y="2256552"/>
            <a:ext cx="7772400" cy="3738355"/>
          </a:xfrm>
          <a:prstGeom prst="rect">
            <a:avLst/>
          </a:prstGeom>
        </p:spPr>
      </p:pic>
      <p:sp>
        <p:nvSpPr>
          <p:cNvPr id="51" name="TextBox 50">
            <a:extLst>
              <a:ext uri="{FF2B5EF4-FFF2-40B4-BE49-F238E27FC236}">
                <a16:creationId xmlns:a16="http://schemas.microsoft.com/office/drawing/2014/main" id="{113A9D8C-5762-8E05-1612-D8C1A92ACED8}"/>
              </a:ext>
            </a:extLst>
          </p:cNvPr>
          <p:cNvSpPr txBox="1"/>
          <p:nvPr/>
        </p:nvSpPr>
        <p:spPr>
          <a:xfrm>
            <a:off x="389660" y="1527047"/>
            <a:ext cx="9591016" cy="369332"/>
          </a:xfrm>
          <a:prstGeom prst="rect">
            <a:avLst/>
          </a:prstGeom>
          <a:noFill/>
        </p:spPr>
        <p:txBody>
          <a:bodyPr wrap="square">
            <a:spAutoFit/>
          </a:bodyPr>
          <a:lstStyle/>
          <a:p>
            <a:r>
              <a:rPr lang="en-ES" dirty="0"/>
              <a:t>https://bischool-tfm-front.whitehill-d85da012.westus.azurecontainerapps.io</a:t>
            </a:r>
          </a:p>
        </p:txBody>
      </p:sp>
    </p:spTree>
    <p:extLst>
      <p:ext uri="{BB962C8B-B14F-4D97-AF65-F5344CB8AC3E}">
        <p14:creationId xmlns:p14="http://schemas.microsoft.com/office/powerpoint/2010/main" val="3130760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Despliegue y entorno productivo</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a:solidFill>
                  <a:srgbClr val="183B56"/>
                </a:solidFill>
                <a:latin typeface="Arial" pitchFamily="34" charset="0"/>
                <a:ea typeface="Arial" pitchFamily="34" charset="-122"/>
                <a:cs typeface="Arial" pitchFamily="34" charset="-120"/>
              </a:rPr>
              <a:t>Conclusiones y evolución prevista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El TFM entrega un flujo usable hoy y deja preparadas varias líneas de crecimiento funcional con encaje técnico claro.</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Despliegue y entorno productivo</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20</a:t>
            </a:r>
            <a:endParaRPr lang="en-US" sz="950" dirty="0"/>
          </a:p>
        </p:txBody>
      </p:sp>
      <p:sp>
        <p:nvSpPr>
          <p:cNvPr id="11" name="Shape 8"/>
          <p:cNvSpPr/>
          <p:nvPr/>
        </p:nvSpPr>
        <p:spPr>
          <a:xfrm>
            <a:off x="658368" y="1828800"/>
            <a:ext cx="3401568" cy="2359152"/>
          </a:xfrm>
          <a:prstGeom prst="roundRect">
            <a:avLst>
              <a:gd name="adj" fmla="val 3101"/>
            </a:avLst>
          </a:prstGeom>
          <a:solidFill>
            <a:srgbClr val="EDF8F2"/>
          </a:solidFill>
          <a:ln w="12700">
            <a:solidFill>
              <a:srgbClr val="D6DFE8"/>
            </a:solidFill>
            <a:prstDash val="solid"/>
          </a:ln>
        </p:spPr>
        <p:txBody>
          <a:bodyPr/>
          <a:lstStyle/>
          <a:p>
            <a:endParaRPr lang="en-ES"/>
          </a:p>
        </p:txBody>
      </p:sp>
      <p:sp>
        <p:nvSpPr>
          <p:cNvPr id="12" name="Shape 9"/>
          <p:cNvSpPr/>
          <p:nvPr/>
        </p:nvSpPr>
        <p:spPr>
          <a:xfrm>
            <a:off x="658368" y="1828800"/>
            <a:ext cx="91440" cy="2359152"/>
          </a:xfrm>
          <a:prstGeom prst="rect">
            <a:avLst/>
          </a:prstGeom>
          <a:solidFill>
            <a:srgbClr val="2FA36B"/>
          </a:solidFill>
          <a:ln w="12700">
            <a:solidFill>
              <a:srgbClr val="2FA36B"/>
            </a:solidFill>
            <a:prstDash val="solid"/>
          </a:ln>
        </p:spPr>
        <p:txBody>
          <a:bodyPr/>
          <a:lstStyle/>
          <a:p>
            <a:endParaRPr lang="en-ES"/>
          </a:p>
        </p:txBody>
      </p:sp>
      <p:sp>
        <p:nvSpPr>
          <p:cNvPr id="13" name="Text 10"/>
          <p:cNvSpPr/>
          <p:nvPr/>
        </p:nvSpPr>
        <p:spPr>
          <a:xfrm>
            <a:off x="877824" y="199339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Lo que ya aporta</a:t>
            </a:r>
            <a:endParaRPr lang="en-US" sz="1300" dirty="0"/>
          </a:p>
        </p:txBody>
      </p:sp>
      <p:sp>
        <p:nvSpPr>
          <p:cNvPr id="14" name="Text 11"/>
          <p:cNvSpPr/>
          <p:nvPr/>
        </p:nvSpPr>
        <p:spPr>
          <a:xfrm>
            <a:off x="877824" y="2267712"/>
            <a:ext cx="3090672" cy="182880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Fuente única de verdad</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Trabajo colaborativo por proyecto</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Traducción automática integrada</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Base sólida para publicar recursos</a:t>
            </a:r>
            <a:endParaRPr lang="en-US" sz="1150" dirty="0"/>
          </a:p>
        </p:txBody>
      </p:sp>
      <p:sp>
        <p:nvSpPr>
          <p:cNvPr id="15" name="Shape 12"/>
          <p:cNvSpPr/>
          <p:nvPr/>
        </p:nvSpPr>
        <p:spPr>
          <a:xfrm>
            <a:off x="4407408" y="1828800"/>
            <a:ext cx="3401568" cy="2359152"/>
          </a:xfrm>
          <a:prstGeom prst="roundRect">
            <a:avLst>
              <a:gd name="adj" fmla="val 3101"/>
            </a:avLst>
          </a:prstGeom>
          <a:solidFill>
            <a:srgbClr val="FFF1EE"/>
          </a:solidFill>
          <a:ln w="12700">
            <a:solidFill>
              <a:srgbClr val="D6DFE8"/>
            </a:solidFill>
            <a:prstDash val="solid"/>
          </a:ln>
        </p:spPr>
        <p:txBody>
          <a:bodyPr/>
          <a:lstStyle/>
          <a:p>
            <a:endParaRPr lang="en-ES"/>
          </a:p>
        </p:txBody>
      </p:sp>
      <p:sp>
        <p:nvSpPr>
          <p:cNvPr id="16" name="Shape 13"/>
          <p:cNvSpPr/>
          <p:nvPr/>
        </p:nvSpPr>
        <p:spPr>
          <a:xfrm>
            <a:off x="4407408" y="1828800"/>
            <a:ext cx="91440" cy="2359152"/>
          </a:xfrm>
          <a:prstGeom prst="rect">
            <a:avLst/>
          </a:prstGeom>
          <a:solidFill>
            <a:srgbClr val="FF6B57"/>
          </a:solidFill>
          <a:ln w="12700">
            <a:solidFill>
              <a:srgbClr val="FF6B57"/>
            </a:solidFill>
            <a:prstDash val="solid"/>
          </a:ln>
        </p:spPr>
        <p:txBody>
          <a:bodyPr/>
          <a:lstStyle/>
          <a:p>
            <a:endParaRPr lang="en-ES"/>
          </a:p>
        </p:txBody>
      </p:sp>
      <p:sp>
        <p:nvSpPr>
          <p:cNvPr id="17" name="Text 14"/>
          <p:cNvSpPr/>
          <p:nvPr/>
        </p:nvSpPr>
        <p:spPr>
          <a:xfrm>
            <a:off x="4626864" y="199339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Siguientes incrementos</a:t>
            </a:r>
            <a:endParaRPr lang="en-US" sz="1300" dirty="0"/>
          </a:p>
        </p:txBody>
      </p:sp>
      <p:sp>
        <p:nvSpPr>
          <p:cNvPr id="18" name="Text 15"/>
          <p:cNvSpPr/>
          <p:nvPr/>
        </p:nvSpPr>
        <p:spPr>
          <a:xfrm>
            <a:off x="4626864" y="2267712"/>
            <a:ext cx="3090672" cy="182880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Exportación completa JSON/XML</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OCR para extraer textos</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Catálogo administrable de idiomas</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Revisión editorial y trazabilidad</a:t>
            </a:r>
            <a:endParaRPr lang="en-US" sz="1150" dirty="0"/>
          </a:p>
        </p:txBody>
      </p:sp>
      <p:sp>
        <p:nvSpPr>
          <p:cNvPr id="19" name="Shape 16"/>
          <p:cNvSpPr/>
          <p:nvPr/>
        </p:nvSpPr>
        <p:spPr>
          <a:xfrm>
            <a:off x="8156448" y="1828800"/>
            <a:ext cx="3401568" cy="2359152"/>
          </a:xfrm>
          <a:prstGeom prst="roundRect">
            <a:avLst>
              <a:gd name="adj" fmla="val 3101"/>
            </a:avLst>
          </a:prstGeom>
          <a:solidFill>
            <a:srgbClr val="EEF5FB"/>
          </a:solidFill>
          <a:ln w="12700">
            <a:solidFill>
              <a:srgbClr val="D6DFE8"/>
            </a:solidFill>
            <a:prstDash val="solid"/>
          </a:ln>
        </p:spPr>
        <p:txBody>
          <a:bodyPr/>
          <a:lstStyle/>
          <a:p>
            <a:endParaRPr lang="en-ES"/>
          </a:p>
        </p:txBody>
      </p:sp>
      <p:sp>
        <p:nvSpPr>
          <p:cNvPr id="20" name="Shape 17"/>
          <p:cNvSpPr/>
          <p:nvPr/>
        </p:nvSpPr>
        <p:spPr>
          <a:xfrm>
            <a:off x="8156448" y="1828800"/>
            <a:ext cx="91440" cy="2359152"/>
          </a:xfrm>
          <a:prstGeom prst="rect">
            <a:avLst/>
          </a:prstGeom>
          <a:solidFill>
            <a:srgbClr val="183B56"/>
          </a:solidFill>
          <a:ln w="12700">
            <a:solidFill>
              <a:srgbClr val="183B56"/>
            </a:solidFill>
            <a:prstDash val="solid"/>
          </a:ln>
        </p:spPr>
        <p:txBody>
          <a:bodyPr/>
          <a:lstStyle/>
          <a:p>
            <a:endParaRPr lang="en-ES"/>
          </a:p>
        </p:txBody>
      </p:sp>
      <p:sp>
        <p:nvSpPr>
          <p:cNvPr id="21" name="Text 18"/>
          <p:cNvSpPr/>
          <p:nvPr/>
        </p:nvSpPr>
        <p:spPr>
          <a:xfrm>
            <a:off x="8375904" y="1993392"/>
            <a:ext cx="3090672" cy="182880"/>
          </a:xfrm>
          <a:prstGeom prst="rect">
            <a:avLst/>
          </a:prstGeom>
          <a:noFill/>
          <a:ln/>
        </p:spPr>
        <p:txBody>
          <a:bodyPr wrap="square" lIns="0" tIns="0" rIns="0" bIns="0" rtlCol="0" anchor="ctr"/>
          <a:lstStyle/>
          <a:p>
            <a:pPr marL="0" indent="0">
              <a:buNone/>
            </a:pPr>
            <a:r>
              <a:rPr lang="en-US" sz="1300" b="1" dirty="0">
                <a:solidFill>
                  <a:srgbClr val="183B56"/>
                </a:solidFill>
                <a:latin typeface="Arial" pitchFamily="34" charset="0"/>
                <a:ea typeface="Arial" pitchFamily="34" charset="-122"/>
                <a:cs typeface="Arial" pitchFamily="34" charset="-120"/>
              </a:rPr>
              <a:t>Visión de madurez</a:t>
            </a:r>
            <a:endParaRPr lang="en-US" sz="1300" dirty="0"/>
          </a:p>
        </p:txBody>
      </p:sp>
      <p:sp>
        <p:nvSpPr>
          <p:cNvPr id="22" name="Text 19"/>
          <p:cNvSpPr/>
          <p:nvPr/>
        </p:nvSpPr>
        <p:spPr>
          <a:xfrm>
            <a:off x="8375904" y="2267712"/>
            <a:ext cx="3090672" cy="1828800"/>
          </a:xfrm>
          <a:prstGeom prst="rect">
            <a:avLst/>
          </a:prstGeom>
          <a:noFill/>
          <a:ln/>
        </p:spPr>
        <p:txBody>
          <a:bodyPr wrap="square" lIns="0" tIns="0" rIns="0" bIns="0" rtlCol="0" anchor="ctr"/>
          <a:lstStyle/>
          <a:p>
            <a:pPr marL="0" indent="0">
              <a:buNone/>
            </a:pPr>
            <a:r>
              <a:rPr lang="en-US" sz="1150" dirty="0">
                <a:solidFill>
                  <a:srgbClr val="5B6B7B"/>
                </a:solidFill>
                <a:latin typeface="Arial" pitchFamily="34" charset="0"/>
                <a:ea typeface="Arial" pitchFamily="34" charset="-122"/>
                <a:cs typeface="Arial" pitchFamily="34" charset="-120"/>
              </a:rPr>
              <a:t>Más automatización sin perder control</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Operación reproducible</a:t>
            </a:r>
            <a:endParaRPr lang="en-US" sz="1150" dirty="0"/>
          </a:p>
          <a:p>
            <a:pPr marL="0" indent="0">
              <a:buNone/>
            </a:pPr>
            <a:r>
              <a:rPr lang="en-US" sz="1150" dirty="0">
                <a:solidFill>
                  <a:srgbClr val="5B6B7B"/>
                </a:solidFill>
                <a:latin typeface="Arial" pitchFamily="34" charset="0"/>
                <a:ea typeface="Arial" pitchFamily="34" charset="-122"/>
                <a:cs typeface="Arial" pitchFamily="34" charset="-120"/>
              </a:rPr>
              <a:t>Escalado natural hacia producto interno</a:t>
            </a:r>
            <a:endParaRPr lang="en-US" sz="1150" dirty="0"/>
          </a:p>
        </p:txBody>
      </p:sp>
      <p:sp>
        <p:nvSpPr>
          <p:cNvPr id="23" name="Shape 20"/>
          <p:cNvSpPr/>
          <p:nvPr/>
        </p:nvSpPr>
        <p:spPr>
          <a:xfrm>
            <a:off x="877824" y="4681728"/>
            <a:ext cx="1691640" cy="256032"/>
          </a:xfrm>
          <a:prstGeom prst="roundRect">
            <a:avLst>
              <a:gd name="adj" fmla="val 25000"/>
            </a:avLst>
          </a:prstGeom>
          <a:solidFill>
            <a:srgbClr val="FFF1EE"/>
          </a:solidFill>
          <a:ln w="12700">
            <a:solidFill>
              <a:srgbClr val="FF6B57"/>
            </a:solidFill>
            <a:prstDash val="solid"/>
          </a:ln>
        </p:spPr>
        <p:txBody>
          <a:bodyPr/>
          <a:lstStyle/>
          <a:p>
            <a:endParaRPr lang="en-ES"/>
          </a:p>
        </p:txBody>
      </p:sp>
      <p:sp>
        <p:nvSpPr>
          <p:cNvPr id="24" name="Text 21"/>
          <p:cNvSpPr/>
          <p:nvPr/>
        </p:nvSpPr>
        <p:spPr>
          <a:xfrm>
            <a:off x="877824" y="4727448"/>
            <a:ext cx="1691640" cy="109728"/>
          </a:xfrm>
          <a:prstGeom prst="rect">
            <a:avLst/>
          </a:prstGeom>
          <a:noFill/>
          <a:ln/>
        </p:spPr>
        <p:txBody>
          <a:bodyPr wrap="square" lIns="0" tIns="0" rIns="0" bIns="0" rtlCol="0" anchor="ctr"/>
          <a:lstStyle/>
          <a:p>
            <a:pPr marL="0" indent="0" algn="ctr">
              <a:buNone/>
            </a:pPr>
            <a:r>
              <a:rPr lang="en-US" sz="950" b="1" dirty="0">
                <a:solidFill>
                  <a:srgbClr val="FF6B57"/>
                </a:solidFill>
                <a:latin typeface="Arial" pitchFamily="34" charset="0"/>
                <a:ea typeface="Arial" pitchFamily="34" charset="-122"/>
                <a:cs typeface="Arial" pitchFamily="34" charset="-120"/>
              </a:rPr>
              <a:t>OCR · Alcance funcional</a:t>
            </a:r>
            <a:endParaRPr lang="en-US" sz="950" dirty="0"/>
          </a:p>
        </p:txBody>
      </p:sp>
      <p:sp>
        <p:nvSpPr>
          <p:cNvPr id="25" name="Shape 22"/>
          <p:cNvSpPr/>
          <p:nvPr/>
        </p:nvSpPr>
        <p:spPr>
          <a:xfrm>
            <a:off x="2926080" y="4681728"/>
            <a:ext cx="2468880" cy="256032"/>
          </a:xfrm>
          <a:prstGeom prst="roundRect">
            <a:avLst>
              <a:gd name="adj" fmla="val 25000"/>
            </a:avLst>
          </a:prstGeom>
          <a:solidFill>
            <a:srgbClr val="FFF7EC"/>
          </a:solidFill>
          <a:ln w="12700">
            <a:solidFill>
              <a:srgbClr val="C58A2B"/>
            </a:solidFill>
            <a:prstDash val="solid"/>
          </a:ln>
        </p:spPr>
        <p:txBody>
          <a:bodyPr/>
          <a:lstStyle/>
          <a:p>
            <a:endParaRPr lang="en-ES"/>
          </a:p>
        </p:txBody>
      </p:sp>
      <p:sp>
        <p:nvSpPr>
          <p:cNvPr id="26" name="Text 23"/>
          <p:cNvSpPr/>
          <p:nvPr/>
        </p:nvSpPr>
        <p:spPr>
          <a:xfrm>
            <a:off x="2926080" y="4727448"/>
            <a:ext cx="2468880" cy="109728"/>
          </a:xfrm>
          <a:prstGeom prst="rect">
            <a:avLst/>
          </a:prstGeom>
          <a:noFill/>
          <a:ln/>
        </p:spPr>
        <p:txBody>
          <a:bodyPr wrap="square" lIns="0" tIns="0" rIns="0" bIns="0" rtlCol="0" anchor="ctr"/>
          <a:lstStyle/>
          <a:p>
            <a:pPr marL="0" indent="0" algn="ctr">
              <a:buNone/>
            </a:pPr>
            <a:r>
              <a:rPr lang="en-US" sz="950" b="1" dirty="0">
                <a:solidFill>
                  <a:srgbClr val="C58A2B"/>
                </a:solidFill>
                <a:latin typeface="Arial" pitchFamily="34" charset="0"/>
                <a:ea typeface="Arial" pitchFamily="34" charset="-122"/>
                <a:cs typeface="Arial" pitchFamily="34" charset="-120"/>
              </a:rPr>
              <a:t>Exportación completa · Alcance funcional</a:t>
            </a:r>
            <a:endParaRPr lang="en-US" sz="950" dirty="0"/>
          </a:p>
        </p:txBody>
      </p:sp>
      <p:sp>
        <p:nvSpPr>
          <p:cNvPr id="27" name="Shape 24"/>
          <p:cNvSpPr/>
          <p:nvPr/>
        </p:nvSpPr>
        <p:spPr>
          <a:xfrm>
            <a:off x="5760720" y="4681728"/>
            <a:ext cx="1097280" cy="256032"/>
          </a:xfrm>
          <a:prstGeom prst="roundRect">
            <a:avLst>
              <a:gd name="adj" fmla="val 25000"/>
            </a:avLst>
          </a:prstGeom>
          <a:solidFill>
            <a:srgbClr val="F7F9FC"/>
          </a:solidFill>
          <a:ln w="12700">
            <a:solidFill>
              <a:srgbClr val="183B56"/>
            </a:solidFill>
            <a:prstDash val="solid"/>
          </a:ln>
        </p:spPr>
        <p:txBody>
          <a:bodyPr/>
          <a:lstStyle/>
          <a:p>
            <a:endParaRPr lang="en-ES"/>
          </a:p>
        </p:txBody>
      </p:sp>
      <p:sp>
        <p:nvSpPr>
          <p:cNvPr id="28" name="Text 25"/>
          <p:cNvSpPr/>
          <p:nvPr/>
        </p:nvSpPr>
        <p:spPr>
          <a:xfrm>
            <a:off x="5760720" y="4727448"/>
            <a:ext cx="109728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Auditoría</a:t>
            </a:r>
            <a:endParaRPr lang="en-US" sz="950" dirty="0"/>
          </a:p>
        </p:txBody>
      </p:sp>
      <p:sp>
        <p:nvSpPr>
          <p:cNvPr id="29" name="Shape 26"/>
          <p:cNvSpPr/>
          <p:nvPr/>
        </p:nvSpPr>
        <p:spPr>
          <a:xfrm>
            <a:off x="7150608" y="4681728"/>
            <a:ext cx="1737360" cy="256032"/>
          </a:xfrm>
          <a:prstGeom prst="roundRect">
            <a:avLst>
              <a:gd name="adj" fmla="val 25000"/>
            </a:avLst>
          </a:prstGeom>
          <a:solidFill>
            <a:srgbClr val="EDF8F2"/>
          </a:solidFill>
          <a:ln w="12700">
            <a:solidFill>
              <a:srgbClr val="2FA36B"/>
            </a:solidFill>
            <a:prstDash val="solid"/>
          </a:ln>
        </p:spPr>
        <p:txBody>
          <a:bodyPr/>
          <a:lstStyle/>
          <a:p>
            <a:endParaRPr lang="en-ES"/>
          </a:p>
        </p:txBody>
      </p:sp>
      <p:sp>
        <p:nvSpPr>
          <p:cNvPr id="30" name="Text 27"/>
          <p:cNvSpPr/>
          <p:nvPr/>
        </p:nvSpPr>
        <p:spPr>
          <a:xfrm>
            <a:off x="7150608" y="4727448"/>
            <a:ext cx="1737360" cy="109728"/>
          </a:xfrm>
          <a:prstGeom prst="rect">
            <a:avLst/>
          </a:prstGeom>
          <a:noFill/>
          <a:ln/>
        </p:spPr>
        <p:txBody>
          <a:bodyPr wrap="square" lIns="0" tIns="0" rIns="0" bIns="0" rtlCol="0" anchor="ctr"/>
          <a:lstStyle/>
          <a:p>
            <a:pPr marL="0" indent="0" algn="ctr">
              <a:buNone/>
            </a:pPr>
            <a:r>
              <a:rPr lang="en-US" sz="950" b="1" dirty="0">
                <a:solidFill>
                  <a:srgbClr val="2FA36B"/>
                </a:solidFill>
                <a:latin typeface="Arial" pitchFamily="34" charset="0"/>
                <a:ea typeface="Arial" pitchFamily="34" charset="-122"/>
                <a:cs typeface="Arial" pitchFamily="34" charset="-120"/>
              </a:rPr>
              <a:t>Revisión editorial</a:t>
            </a:r>
            <a:endParaRPr lang="en-US" sz="950" dirty="0"/>
          </a:p>
        </p:txBody>
      </p:sp>
      <p:sp>
        <p:nvSpPr>
          <p:cNvPr id="31" name="Shape 28"/>
          <p:cNvSpPr/>
          <p:nvPr/>
        </p:nvSpPr>
        <p:spPr>
          <a:xfrm>
            <a:off x="9198864" y="4681728"/>
            <a:ext cx="1874520" cy="256032"/>
          </a:xfrm>
          <a:prstGeom prst="roundRect">
            <a:avLst>
              <a:gd name="adj" fmla="val 25000"/>
            </a:avLst>
          </a:prstGeom>
          <a:solidFill>
            <a:srgbClr val="EEF5FB"/>
          </a:solidFill>
          <a:ln w="12700">
            <a:solidFill>
              <a:srgbClr val="183B56"/>
            </a:solidFill>
            <a:prstDash val="solid"/>
          </a:ln>
        </p:spPr>
        <p:txBody>
          <a:bodyPr/>
          <a:lstStyle/>
          <a:p>
            <a:endParaRPr lang="en-ES"/>
          </a:p>
        </p:txBody>
      </p:sp>
      <p:sp>
        <p:nvSpPr>
          <p:cNvPr id="32" name="Text 29"/>
          <p:cNvSpPr/>
          <p:nvPr/>
        </p:nvSpPr>
        <p:spPr>
          <a:xfrm>
            <a:off x="9198864" y="4727448"/>
            <a:ext cx="1874520" cy="109728"/>
          </a:xfrm>
          <a:prstGeom prst="rect">
            <a:avLst/>
          </a:prstGeom>
          <a:noFill/>
          <a:ln/>
        </p:spPr>
        <p:txBody>
          <a:bodyPr wrap="square" lIns="0" tIns="0" rIns="0" bIns="0" rtlCol="0" anchor="ctr"/>
          <a:lstStyle/>
          <a:p>
            <a:pPr marL="0" indent="0" algn="ctr">
              <a:buNone/>
            </a:pPr>
            <a:r>
              <a:rPr lang="en-US" sz="950" b="1" dirty="0">
                <a:solidFill>
                  <a:srgbClr val="183B56"/>
                </a:solidFill>
                <a:latin typeface="Arial" pitchFamily="34" charset="0"/>
                <a:ea typeface="Arial" pitchFamily="34" charset="-122"/>
                <a:cs typeface="Arial" pitchFamily="34" charset="-120"/>
              </a:rPr>
              <a:t>Catálogo administrable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43546-036F-0319-F6A8-BF7632705E8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507970-3D9B-64B6-61CB-EE00F75EBFCD}"/>
              </a:ext>
            </a:extLst>
          </p:cNvPr>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txBody>
          <a:bodyPr/>
          <a:lstStyle/>
          <a:p>
            <a:endParaRPr lang="en-ES"/>
          </a:p>
        </p:txBody>
      </p:sp>
      <p:sp>
        <p:nvSpPr>
          <p:cNvPr id="3" name="Text 1">
            <a:extLst>
              <a:ext uri="{FF2B5EF4-FFF2-40B4-BE49-F238E27FC236}">
                <a16:creationId xmlns:a16="http://schemas.microsoft.com/office/drawing/2014/main" id="{FDF46CA1-1EE6-41AC-9C0A-FB2A799F9F85}"/>
              </a:ext>
            </a:extLst>
          </p:cNvPr>
          <p:cNvSpPr/>
          <p:nvPr/>
        </p:nvSpPr>
        <p:spPr>
          <a:xfrm>
            <a:off x="658368" y="370332"/>
            <a:ext cx="2011680" cy="164592"/>
          </a:xfrm>
          <a:prstGeom prst="rect">
            <a:avLst/>
          </a:prstGeom>
          <a:noFill/>
          <a:ln/>
        </p:spPr>
        <p:txBody>
          <a:bodyPr wrap="square" lIns="0" tIns="0" rIns="0" bIns="0" rtlCol="0" anchor="ctr"/>
          <a:lstStyle/>
          <a:p>
            <a:pPr marL="0" indent="0" algn="ctr">
              <a:buNone/>
            </a:pPr>
            <a:r>
              <a:rPr lang="en-US" sz="1100" b="1" dirty="0" err="1">
                <a:solidFill>
                  <a:srgbClr val="FFFFFF"/>
                </a:solidFill>
                <a:latin typeface="Arial" pitchFamily="34" charset="0"/>
                <a:ea typeface="Arial" pitchFamily="34" charset="-122"/>
                <a:cs typeface="Arial" pitchFamily="34" charset="-120"/>
              </a:rPr>
              <a:t>Inteligencia</a:t>
            </a:r>
            <a:r>
              <a:rPr lang="en-US" sz="1100" b="1" dirty="0">
                <a:solidFill>
                  <a:srgbClr val="FFFFFF"/>
                </a:solidFill>
                <a:latin typeface="Arial" pitchFamily="34" charset="0"/>
                <a:ea typeface="Arial" pitchFamily="34" charset="-122"/>
                <a:cs typeface="Arial" pitchFamily="34" charset="-120"/>
              </a:rPr>
              <a:t> </a:t>
            </a:r>
            <a:r>
              <a:rPr lang="en-US" sz="1100" b="1" dirty="0" err="1">
                <a:solidFill>
                  <a:srgbClr val="FFFFFF"/>
                </a:solidFill>
                <a:latin typeface="Arial" pitchFamily="34" charset="0"/>
                <a:ea typeface="Arial" pitchFamily="34" charset="-122"/>
                <a:cs typeface="Arial" pitchFamily="34" charset="-120"/>
              </a:rPr>
              <a:t>Aritifical</a:t>
            </a:r>
            <a:endParaRPr lang="en-US" sz="1100" dirty="0"/>
          </a:p>
        </p:txBody>
      </p:sp>
      <p:sp>
        <p:nvSpPr>
          <p:cNvPr id="4" name="Text 2">
            <a:extLst>
              <a:ext uri="{FF2B5EF4-FFF2-40B4-BE49-F238E27FC236}">
                <a16:creationId xmlns:a16="http://schemas.microsoft.com/office/drawing/2014/main" id="{59621DF3-6040-B32C-0FA9-C732DB4F28BC}"/>
              </a:ext>
            </a:extLst>
          </p:cNvPr>
          <p:cNvSpPr/>
          <p:nvPr/>
        </p:nvSpPr>
        <p:spPr>
          <a:xfrm>
            <a:off x="502920" y="768096"/>
            <a:ext cx="8138160" cy="457200"/>
          </a:xfrm>
          <a:prstGeom prst="rect">
            <a:avLst/>
          </a:prstGeom>
          <a:noFill/>
          <a:ln/>
        </p:spPr>
        <p:txBody>
          <a:bodyPr wrap="square" lIns="0" tIns="0" rIns="0" bIns="0" rtlCol="0" anchor="ctr"/>
          <a:lstStyle/>
          <a:p>
            <a:pPr marL="0" indent="0">
              <a:buNone/>
            </a:pPr>
            <a:r>
              <a:rPr lang="en-US" sz="2400" b="1" dirty="0" err="1">
                <a:solidFill>
                  <a:srgbClr val="183B56"/>
                </a:solidFill>
                <a:latin typeface="Arial" pitchFamily="34" charset="0"/>
                <a:ea typeface="Arial" pitchFamily="34" charset="-122"/>
                <a:cs typeface="Arial" pitchFamily="34" charset="-120"/>
              </a:rPr>
              <a:t>Implementación</a:t>
            </a:r>
            <a:r>
              <a:rPr lang="en-US" sz="2400" b="1" dirty="0">
                <a:solidFill>
                  <a:srgbClr val="183B56"/>
                </a:solidFill>
                <a:latin typeface="Arial" pitchFamily="34" charset="0"/>
                <a:ea typeface="Arial" pitchFamily="34" charset="-122"/>
                <a:cs typeface="Arial" pitchFamily="34" charset="-120"/>
              </a:rPr>
              <a:t> y </a:t>
            </a:r>
            <a:r>
              <a:rPr lang="en-US" sz="2400" b="1" dirty="0" err="1">
                <a:solidFill>
                  <a:srgbClr val="183B56"/>
                </a:solidFill>
                <a:latin typeface="Arial" pitchFamily="34" charset="0"/>
                <a:ea typeface="Arial" pitchFamily="34" charset="-122"/>
                <a:cs typeface="Arial" pitchFamily="34" charset="-120"/>
              </a:rPr>
              <a:t>usos</a:t>
            </a:r>
            <a:endParaRPr lang="en-US" sz="2400" dirty="0"/>
          </a:p>
        </p:txBody>
      </p:sp>
      <p:sp>
        <p:nvSpPr>
          <p:cNvPr id="5" name="Text 3">
            <a:extLst>
              <a:ext uri="{FF2B5EF4-FFF2-40B4-BE49-F238E27FC236}">
                <a16:creationId xmlns:a16="http://schemas.microsoft.com/office/drawing/2014/main" id="{D6915F98-49A0-933E-E8E4-3C7FFEC8C574}"/>
              </a:ext>
            </a:extLst>
          </p:cNvPr>
          <p:cNvSpPr/>
          <p:nvPr/>
        </p:nvSpPr>
        <p:spPr>
          <a:xfrm>
            <a:off x="502920" y="1170431"/>
            <a:ext cx="9875520" cy="4517113"/>
          </a:xfrm>
          <a:prstGeom prst="rect">
            <a:avLst/>
          </a:prstGeom>
          <a:noFill/>
          <a:ln/>
        </p:spPr>
        <p:txBody>
          <a:bodyPr wrap="square" lIns="0" tIns="0" rIns="0" bIns="0" rtlCol="0" anchor="t"/>
          <a:lstStyle/>
          <a:p>
            <a:r>
              <a:rPr lang="en-US" sz="1150" b="1" dirty="0">
                <a:solidFill>
                  <a:srgbClr val="5B6B7B"/>
                </a:solidFill>
                <a:latin typeface="Arial" pitchFamily="34" charset="0"/>
                <a:ea typeface="Arial" pitchFamily="34" charset="-122"/>
                <a:cs typeface="Arial" pitchFamily="34" charset="-120"/>
              </a:rPr>
              <a:t>DESARROLLO</a:t>
            </a:r>
          </a:p>
          <a:p>
            <a:pPr marL="17145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El 100% del Proyecto se ha </a:t>
            </a:r>
            <a:r>
              <a:rPr lang="en-US" sz="1150" dirty="0" err="1">
                <a:solidFill>
                  <a:srgbClr val="5B6B7B"/>
                </a:solidFill>
                <a:latin typeface="Arial" pitchFamily="34" charset="0"/>
                <a:ea typeface="Arial" pitchFamily="34" charset="-122"/>
                <a:cs typeface="Arial" pitchFamily="34" charset="-120"/>
              </a:rPr>
              <a:t>implementado</a:t>
            </a:r>
            <a:r>
              <a:rPr lang="en-US" sz="1150" dirty="0">
                <a:solidFill>
                  <a:srgbClr val="5B6B7B"/>
                </a:solidFill>
                <a:latin typeface="Arial" pitchFamily="34" charset="0"/>
                <a:ea typeface="Arial" pitchFamily="34" charset="-122"/>
                <a:cs typeface="Arial" pitchFamily="34" charset="-120"/>
              </a:rPr>
              <a:t> con IA</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El </a:t>
            </a:r>
            <a:r>
              <a:rPr lang="en-US" sz="1150" dirty="0" err="1">
                <a:solidFill>
                  <a:srgbClr val="5B6B7B"/>
                </a:solidFill>
                <a:latin typeface="Arial" pitchFamily="34" charset="0"/>
                <a:ea typeface="Arial" pitchFamily="34" charset="-122"/>
                <a:cs typeface="Arial" pitchFamily="34" charset="-120"/>
              </a:rPr>
              <a:t>proyecto</a:t>
            </a:r>
            <a:r>
              <a:rPr lang="en-US" sz="1150" dirty="0">
                <a:solidFill>
                  <a:srgbClr val="5B6B7B"/>
                </a:solidFill>
                <a:latin typeface="Arial" pitchFamily="34" charset="0"/>
                <a:ea typeface="Arial" pitchFamily="34" charset="-122"/>
                <a:cs typeface="Arial" pitchFamily="34" charset="-120"/>
              </a:rPr>
              <a:t> se </a:t>
            </a:r>
            <a:r>
              <a:rPr lang="en-US" sz="1150" dirty="0" err="1">
                <a:solidFill>
                  <a:srgbClr val="5B6B7B"/>
                </a:solidFill>
                <a:latin typeface="Arial" pitchFamily="34" charset="0"/>
                <a:ea typeface="Arial" pitchFamily="34" charset="-122"/>
                <a:cs typeface="Arial" pitchFamily="34" charset="-120"/>
              </a:rPr>
              <a:t>inició</a:t>
            </a:r>
            <a:r>
              <a:rPr lang="en-US" sz="1150" dirty="0">
                <a:solidFill>
                  <a:srgbClr val="5B6B7B"/>
                </a:solidFill>
                <a:latin typeface="Arial" pitchFamily="34" charset="0"/>
                <a:ea typeface="Arial" pitchFamily="34" charset="-122"/>
                <a:cs typeface="Arial" pitchFamily="34" charset="-120"/>
              </a:rPr>
              <a:t> con GitHub Copilot para </a:t>
            </a:r>
            <a:r>
              <a:rPr lang="en-US" sz="1150" dirty="0" err="1">
                <a:solidFill>
                  <a:srgbClr val="5B6B7B"/>
                </a:solidFill>
                <a:latin typeface="Arial" pitchFamily="34" charset="0"/>
                <a:ea typeface="Arial" pitchFamily="34" charset="-122"/>
                <a:cs typeface="Arial" pitchFamily="34" charset="-120"/>
              </a:rPr>
              <a:t>definir</a:t>
            </a:r>
            <a:r>
              <a:rPr lang="en-US" sz="1150" dirty="0">
                <a:solidFill>
                  <a:srgbClr val="5B6B7B"/>
                </a:solidFill>
                <a:latin typeface="Arial" pitchFamily="34" charset="0"/>
                <a:ea typeface="Arial" pitchFamily="34" charset="-122"/>
                <a:cs typeface="Arial" pitchFamily="34" charset="-120"/>
              </a:rPr>
              <a:t> la </a:t>
            </a:r>
            <a:r>
              <a:rPr lang="en-US" sz="1150" dirty="0" err="1">
                <a:solidFill>
                  <a:srgbClr val="5B6B7B"/>
                </a:solidFill>
                <a:latin typeface="Arial" pitchFamily="34" charset="0"/>
                <a:ea typeface="Arial" pitchFamily="34" charset="-122"/>
                <a:cs typeface="Arial" pitchFamily="34" charset="-120"/>
              </a:rPr>
              <a:t>estructura</a:t>
            </a:r>
            <a:r>
              <a:rPr lang="en-US" sz="1150" dirty="0">
                <a:solidFill>
                  <a:srgbClr val="5B6B7B"/>
                </a:solidFill>
                <a:latin typeface="Arial" pitchFamily="34" charset="0"/>
                <a:ea typeface="Arial" pitchFamily="34" charset="-122"/>
                <a:cs typeface="Arial" pitchFamily="34" charset="-120"/>
              </a:rPr>
              <a:t> base: frontend React, API ASP.NET Core y </a:t>
            </a:r>
            <a:r>
              <a:rPr lang="en-US" sz="1150" dirty="0" err="1">
                <a:solidFill>
                  <a:srgbClr val="5B6B7B"/>
                </a:solidFill>
                <a:latin typeface="Arial" pitchFamily="34" charset="0"/>
                <a:ea typeface="Arial" pitchFamily="34" charset="-122"/>
                <a:cs typeface="Arial" pitchFamily="34" charset="-120"/>
              </a:rPr>
              <a:t>proyectos</a:t>
            </a:r>
            <a:r>
              <a:rPr lang="en-US" sz="1150" dirty="0">
                <a:solidFill>
                  <a:srgbClr val="5B6B7B"/>
                </a:solidFill>
                <a:latin typeface="Arial" pitchFamily="34" charset="0"/>
                <a:ea typeface="Arial" pitchFamily="34" charset="-122"/>
                <a:cs typeface="Arial" pitchFamily="34" charset="-120"/>
              </a:rPr>
              <a:t> de </a:t>
            </a:r>
            <a:r>
              <a:rPr lang="en-US" sz="1150" dirty="0" err="1">
                <a:solidFill>
                  <a:srgbClr val="5B6B7B"/>
                </a:solidFill>
                <a:latin typeface="Arial" pitchFamily="34" charset="0"/>
                <a:ea typeface="Arial" pitchFamily="34" charset="-122"/>
                <a:cs typeface="Arial" pitchFamily="34" charset="-120"/>
              </a:rPr>
              <a:t>pruebas</a:t>
            </a:r>
            <a:r>
              <a:rPr lang="en-US" sz="1150" dirty="0">
                <a:solidFill>
                  <a:srgbClr val="5B6B7B"/>
                </a:solidFill>
                <a:latin typeface="Arial" pitchFamily="34" charset="0"/>
                <a:ea typeface="Arial" pitchFamily="34" charset="-122"/>
                <a:cs typeface="Arial" pitchFamily="34" charset="-120"/>
              </a:rPr>
              <a:t>.</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La IA </a:t>
            </a:r>
            <a:r>
              <a:rPr lang="en-US" sz="1150" dirty="0" err="1">
                <a:solidFill>
                  <a:srgbClr val="5B6B7B"/>
                </a:solidFill>
                <a:latin typeface="Arial" pitchFamily="34" charset="0"/>
                <a:ea typeface="Arial" pitchFamily="34" charset="-122"/>
                <a:cs typeface="Arial" pitchFamily="34" charset="-120"/>
              </a:rPr>
              <a:t>ayudó</a:t>
            </a:r>
            <a:r>
              <a:rPr lang="en-US" sz="1150" dirty="0">
                <a:solidFill>
                  <a:srgbClr val="5B6B7B"/>
                </a:solidFill>
                <a:latin typeface="Arial" pitchFamily="34" charset="0"/>
                <a:ea typeface="Arial" pitchFamily="34" charset="-122"/>
                <a:cs typeface="Arial" pitchFamily="34" charset="-120"/>
              </a:rPr>
              <a:t> a </a:t>
            </a:r>
            <a:r>
              <a:rPr lang="en-US" sz="1150" dirty="0" err="1">
                <a:solidFill>
                  <a:srgbClr val="5B6B7B"/>
                </a:solidFill>
                <a:latin typeface="Arial" pitchFamily="34" charset="0"/>
                <a:ea typeface="Arial" pitchFamily="34" charset="-122"/>
                <a:cs typeface="Arial" pitchFamily="34" charset="-120"/>
              </a:rPr>
              <a:t>convertir</a:t>
            </a:r>
            <a:r>
              <a:rPr lang="en-US" sz="1150" dirty="0">
                <a:solidFill>
                  <a:srgbClr val="5B6B7B"/>
                </a:solidFill>
                <a:latin typeface="Arial" pitchFamily="34" charset="0"/>
                <a:ea typeface="Arial" pitchFamily="34" charset="-122"/>
                <a:cs typeface="Arial" pitchFamily="34" charset="-120"/>
              </a:rPr>
              <a:t> las </a:t>
            </a:r>
            <a:r>
              <a:rPr lang="en-US" sz="1150" dirty="0" err="1">
                <a:solidFill>
                  <a:srgbClr val="5B6B7B"/>
                </a:solidFill>
                <a:latin typeface="Arial" pitchFamily="34" charset="0"/>
                <a:ea typeface="Arial" pitchFamily="34" charset="-122"/>
                <a:cs typeface="Arial" pitchFamily="34" charset="-120"/>
              </a:rPr>
              <a:t>necesidades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iniciales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en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una</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especificación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funcional</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priorizada</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organizada</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por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funcionalidades</a:t>
            </a:r>
            <a:r>
              <a:rPr lang="en-US" sz="1150" dirty="0">
                <a:solidFill>
                  <a:srgbClr val="5B6B7B"/>
                </a:solidFill>
                <a:latin typeface="Arial" pitchFamily="34" charset="0"/>
                <a:ea typeface="Arial" pitchFamily="34" charset="-122"/>
                <a:cs typeface="Arial" pitchFamily="34" charset="-120"/>
              </a:rPr>
              <a:t> P0, P1, P2 y P3.</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Se </a:t>
            </a:r>
            <a:r>
              <a:rPr lang="en-US" sz="1150" dirty="0" err="1">
                <a:solidFill>
                  <a:srgbClr val="5B6B7B"/>
                </a:solidFill>
                <a:latin typeface="Arial" pitchFamily="34" charset="0"/>
                <a:ea typeface="Arial" pitchFamily="34" charset="-122"/>
                <a:cs typeface="Arial" pitchFamily="34" charset="-120"/>
              </a:rPr>
              <a:t>utilizó</a:t>
            </a:r>
            <a:r>
              <a:rPr lang="en-US" sz="1150" dirty="0">
                <a:solidFill>
                  <a:srgbClr val="5B6B7B"/>
                </a:solidFill>
                <a:latin typeface="Arial" pitchFamily="34" charset="0"/>
                <a:ea typeface="Arial" pitchFamily="34" charset="-122"/>
                <a:cs typeface="Arial" pitchFamily="34" charset="-120"/>
              </a:rPr>
              <a:t> para </a:t>
            </a:r>
            <a:r>
              <a:rPr lang="en-US" sz="1150" dirty="0" err="1">
                <a:solidFill>
                  <a:srgbClr val="5B6B7B"/>
                </a:solidFill>
                <a:latin typeface="Arial" pitchFamily="34" charset="0"/>
                <a:ea typeface="Arial" pitchFamily="34" charset="-122"/>
                <a:cs typeface="Arial" pitchFamily="34" charset="-120"/>
              </a:rPr>
              <a:t>diseñar</a:t>
            </a:r>
            <a:r>
              <a:rPr lang="en-US" sz="1150" dirty="0">
                <a:solidFill>
                  <a:srgbClr val="5B6B7B"/>
                </a:solidFill>
                <a:latin typeface="Arial" pitchFamily="34" charset="0"/>
                <a:ea typeface="Arial" pitchFamily="34" charset="-122"/>
                <a:cs typeface="Arial" pitchFamily="34" charset="-120"/>
              </a:rPr>
              <a:t> el </a:t>
            </a:r>
            <a:r>
              <a:rPr lang="en-US" sz="1150" dirty="0" err="1">
                <a:solidFill>
                  <a:srgbClr val="5B6B7B"/>
                </a:solidFill>
                <a:latin typeface="Arial" pitchFamily="34" charset="0"/>
                <a:ea typeface="Arial" pitchFamily="34" charset="-122"/>
                <a:cs typeface="Arial" pitchFamily="34" charset="-120"/>
              </a:rPr>
              <a:t>modelo</a:t>
            </a:r>
            <a:r>
              <a:rPr lang="en-US" sz="1150" dirty="0">
                <a:solidFill>
                  <a:srgbClr val="5B6B7B"/>
                </a:solidFill>
                <a:latin typeface="Arial" pitchFamily="34" charset="0"/>
                <a:ea typeface="Arial" pitchFamily="34" charset="-122"/>
                <a:cs typeface="Arial" pitchFamily="34" charset="-120"/>
              </a:rPr>
              <a:t> de </a:t>
            </a:r>
            <a:r>
              <a:rPr lang="en-US" sz="1150" dirty="0" err="1">
                <a:solidFill>
                  <a:srgbClr val="5B6B7B"/>
                </a:solidFill>
                <a:latin typeface="Arial" pitchFamily="34" charset="0"/>
                <a:ea typeface="Arial" pitchFamily="34" charset="-122"/>
                <a:cs typeface="Arial" pitchFamily="34" charset="-120"/>
              </a:rPr>
              <a:t>dominio</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incluyendo</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proyectos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miembros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páginas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versiones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recursos</a:t>
            </a:r>
            <a:r>
              <a:rPr lang="en-US" sz="1150" dirty="0">
                <a:solidFill>
                  <a:srgbClr val="5B6B7B"/>
                </a:solidFill>
                <a:latin typeface="Arial" pitchFamily="34" charset="0"/>
                <a:ea typeface="Arial" pitchFamily="34" charset="-122"/>
                <a:cs typeface="Arial" pitchFamily="34" charset="-120"/>
              </a:rPr>
              <a:t> y </a:t>
            </a:r>
            <a:r>
              <a:rPr lang="en-US" sz="1150" dirty="0" err="1">
                <a:solidFill>
                  <a:srgbClr val="5B6B7B"/>
                </a:solidFill>
                <a:latin typeface="Arial" pitchFamily="34" charset="0"/>
                <a:ea typeface="Arial" pitchFamily="34" charset="-122"/>
                <a:cs typeface="Arial" pitchFamily="34" charset="-120"/>
              </a:rPr>
              <a:t>traducciones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por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idioma</a:t>
            </a:r>
            <a:r>
              <a:rPr lang="en-US" sz="1150" dirty="0">
                <a:solidFill>
                  <a:srgbClr val="5B6B7B"/>
                </a:solidFill>
                <a:latin typeface="Arial" pitchFamily="34" charset="0"/>
                <a:ea typeface="Arial" pitchFamily="34" charset="-122"/>
                <a:cs typeface="Arial" pitchFamily="34" charset="-120"/>
              </a:rPr>
              <a:t>.</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Copilot </a:t>
            </a:r>
            <a:r>
              <a:rPr lang="en-US" sz="1150" dirty="0" err="1">
                <a:solidFill>
                  <a:srgbClr val="5B6B7B"/>
                </a:solidFill>
                <a:latin typeface="Arial" pitchFamily="34" charset="0"/>
                <a:ea typeface="Arial" pitchFamily="34" charset="-122"/>
                <a:cs typeface="Arial" pitchFamily="34" charset="-120"/>
              </a:rPr>
              <a:t>propuso</a:t>
            </a:r>
            <a:r>
              <a:rPr lang="en-US" sz="1150" dirty="0">
                <a:solidFill>
                  <a:srgbClr val="5B6B7B"/>
                </a:solidFill>
                <a:latin typeface="Arial" pitchFamily="34" charset="0"/>
                <a:ea typeface="Arial" pitchFamily="34" charset="-122"/>
                <a:cs typeface="Arial" pitchFamily="34" charset="-120"/>
              </a:rPr>
              <a:t> planes de </a:t>
            </a:r>
            <a:r>
              <a:rPr lang="en-US" sz="1150" dirty="0" err="1">
                <a:solidFill>
                  <a:srgbClr val="5B6B7B"/>
                </a:solidFill>
                <a:latin typeface="Arial" pitchFamily="34" charset="0"/>
                <a:ea typeface="Arial" pitchFamily="34" charset="-122"/>
                <a:cs typeface="Arial" pitchFamily="34" charset="-120"/>
              </a:rPr>
              <a:t>implementación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incrementales</a:t>
            </a:r>
            <a:r>
              <a:rPr lang="en-US" sz="1150" dirty="0">
                <a:solidFill>
                  <a:srgbClr val="5B6B7B"/>
                </a:solidFill>
                <a:latin typeface="Arial" pitchFamily="34" charset="0"/>
                <a:ea typeface="Arial" pitchFamily="34" charset="-122"/>
                <a:cs typeface="Arial" pitchFamily="34" charset="-120"/>
              </a:rPr>
              <a:t> para </a:t>
            </a:r>
            <a:r>
              <a:rPr lang="en-US" sz="1150" dirty="0" err="1">
                <a:solidFill>
                  <a:srgbClr val="5B6B7B"/>
                </a:solidFill>
                <a:latin typeface="Arial" pitchFamily="34" charset="0"/>
                <a:ea typeface="Arial" pitchFamily="34" charset="-122"/>
                <a:cs typeface="Arial" pitchFamily="34" charset="-120"/>
              </a:rPr>
              <a:t>desarrollar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cada</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funcionalidad</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mediante</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ciclos</a:t>
            </a:r>
            <a:r>
              <a:rPr lang="en-US" sz="1150" dirty="0">
                <a:solidFill>
                  <a:srgbClr val="5B6B7B"/>
                </a:solidFill>
                <a:latin typeface="Arial" pitchFamily="34" charset="0"/>
                <a:ea typeface="Arial" pitchFamily="34" charset="-122"/>
                <a:cs typeface="Arial" pitchFamily="34" charset="-120"/>
              </a:rPr>
              <a:t> Red → Green → Refactor.</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La IA </a:t>
            </a:r>
            <a:r>
              <a:rPr lang="en-US" sz="1150" dirty="0" err="1">
                <a:solidFill>
                  <a:srgbClr val="5B6B7B"/>
                </a:solidFill>
                <a:latin typeface="Arial" pitchFamily="34" charset="0"/>
                <a:ea typeface="Arial" pitchFamily="34" charset="-122"/>
                <a:cs typeface="Arial" pitchFamily="34" charset="-120"/>
              </a:rPr>
              <a:t>generó</a:t>
            </a:r>
            <a:r>
              <a:rPr lang="en-US" sz="1150" dirty="0">
                <a:solidFill>
                  <a:srgbClr val="5B6B7B"/>
                </a:solidFill>
                <a:latin typeface="Arial" pitchFamily="34" charset="0"/>
                <a:ea typeface="Arial" pitchFamily="34" charset="-122"/>
                <a:cs typeface="Arial" pitchFamily="34" charset="-120"/>
              </a:rPr>
              <a:t> y </a:t>
            </a:r>
            <a:r>
              <a:rPr lang="en-US" sz="1150" dirty="0" err="1">
                <a:solidFill>
                  <a:srgbClr val="5B6B7B"/>
                </a:solidFill>
                <a:latin typeface="Arial" pitchFamily="34" charset="0"/>
                <a:ea typeface="Arial" pitchFamily="34" charset="-122"/>
                <a:cs typeface="Arial" pitchFamily="34" charset="-120"/>
              </a:rPr>
              <a:t>revisó</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código</a:t>
            </a:r>
            <a:r>
              <a:rPr lang="en-US" sz="1150" dirty="0">
                <a:solidFill>
                  <a:srgbClr val="5B6B7B"/>
                </a:solidFill>
                <a:latin typeface="Arial" pitchFamily="34" charset="0"/>
                <a:ea typeface="Arial" pitchFamily="34" charset="-122"/>
                <a:cs typeface="Arial" pitchFamily="34" charset="-120"/>
              </a:rPr>
              <a:t> del frontend con React, TypeScript y Vite, </a:t>
            </a:r>
            <a:r>
              <a:rPr lang="en-US" sz="1150" dirty="0" err="1">
                <a:solidFill>
                  <a:srgbClr val="5B6B7B"/>
                </a:solidFill>
                <a:latin typeface="Arial" pitchFamily="34" charset="0"/>
                <a:ea typeface="Arial" pitchFamily="34" charset="-122"/>
                <a:cs typeface="Arial" pitchFamily="34" charset="-120"/>
              </a:rPr>
              <a:t>incluyendo</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navegación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formularios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modales</a:t>
            </a:r>
            <a:r>
              <a:rPr lang="en-US" sz="1150" dirty="0">
                <a:solidFill>
                  <a:srgbClr val="5B6B7B"/>
                </a:solidFill>
                <a:latin typeface="Arial" pitchFamily="34" charset="0"/>
                <a:ea typeface="Arial" pitchFamily="34" charset="-122"/>
                <a:cs typeface="Arial" pitchFamily="34" charset="-120"/>
              </a:rPr>
              <a:t> y </a:t>
            </a:r>
            <a:r>
              <a:rPr lang="en-US" sz="1150" dirty="0" err="1">
                <a:solidFill>
                  <a:srgbClr val="5B6B7B"/>
                </a:solidFill>
                <a:latin typeface="Arial" pitchFamily="34" charset="0"/>
                <a:ea typeface="Arial" pitchFamily="34" charset="-122"/>
                <a:cs typeface="Arial" pitchFamily="34" charset="-120"/>
              </a:rPr>
              <a:t>diseño</a:t>
            </a:r>
            <a:r>
              <a:rPr lang="en-US" sz="1150" dirty="0">
                <a:solidFill>
                  <a:srgbClr val="5B6B7B"/>
                </a:solidFill>
                <a:latin typeface="Arial" pitchFamily="34" charset="0"/>
                <a:ea typeface="Arial" pitchFamily="34" charset="-122"/>
                <a:cs typeface="Arial" pitchFamily="34" charset="-120"/>
              </a:rPr>
              <a:t> adaptable.</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También </a:t>
            </a:r>
            <a:r>
              <a:rPr lang="en-US" sz="1150" dirty="0" err="1">
                <a:solidFill>
                  <a:srgbClr val="5B6B7B"/>
                </a:solidFill>
                <a:latin typeface="Arial" pitchFamily="34" charset="0"/>
                <a:ea typeface="Arial" pitchFamily="34" charset="-122"/>
                <a:cs typeface="Arial" pitchFamily="34" charset="-120"/>
              </a:rPr>
              <a:t>colaboró</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en</a:t>
            </a:r>
            <a:r>
              <a:rPr lang="en-US" sz="1150" dirty="0">
                <a:solidFill>
                  <a:srgbClr val="5B6B7B"/>
                </a:solidFill>
                <a:latin typeface="Arial" pitchFamily="34" charset="0"/>
                <a:ea typeface="Arial" pitchFamily="34" charset="-122"/>
                <a:cs typeface="Arial" pitchFamily="34" charset="-120"/>
              </a:rPr>
              <a:t> la </a:t>
            </a:r>
            <a:r>
              <a:rPr lang="en-US" sz="1150" dirty="0" err="1">
                <a:solidFill>
                  <a:srgbClr val="5B6B7B"/>
                </a:solidFill>
                <a:latin typeface="Arial" pitchFamily="34" charset="0"/>
                <a:ea typeface="Arial" pitchFamily="34" charset="-122"/>
                <a:cs typeface="Arial" pitchFamily="34" charset="-120"/>
              </a:rPr>
              <a:t>implementación</a:t>
            </a:r>
            <a:r>
              <a:rPr lang="en-US" sz="1150" dirty="0">
                <a:solidFill>
                  <a:srgbClr val="5B6B7B"/>
                </a:solidFill>
                <a:latin typeface="Arial" pitchFamily="34" charset="0"/>
                <a:ea typeface="Arial" pitchFamily="34" charset="-122"/>
                <a:cs typeface="Arial" pitchFamily="34" charset="-120"/>
              </a:rPr>
              <a:t> del backend con ASP.NET Core, Entity Framework Core, MySQL, </a:t>
            </a:r>
            <a:r>
              <a:rPr lang="en-US" sz="1150" dirty="0" err="1">
                <a:solidFill>
                  <a:srgbClr val="5B6B7B"/>
                </a:solidFill>
                <a:latin typeface="Arial" pitchFamily="34" charset="0"/>
                <a:ea typeface="Arial" pitchFamily="34" charset="-122"/>
                <a:cs typeface="Arial" pitchFamily="34" charset="-120"/>
              </a:rPr>
              <a:t>contratos</a:t>
            </a:r>
            <a:r>
              <a:rPr lang="en-US" sz="1150" dirty="0">
                <a:solidFill>
                  <a:srgbClr val="5B6B7B"/>
                </a:solidFill>
                <a:latin typeface="Arial" pitchFamily="34" charset="0"/>
                <a:ea typeface="Arial" pitchFamily="34" charset="-122"/>
                <a:cs typeface="Arial" pitchFamily="34" charset="-120"/>
              </a:rPr>
              <a:t> REST y </a:t>
            </a:r>
            <a:r>
              <a:rPr lang="en-US" sz="1150" dirty="0" err="1">
                <a:solidFill>
                  <a:srgbClr val="5B6B7B"/>
                </a:solidFill>
                <a:latin typeface="Arial" pitchFamily="34" charset="0"/>
                <a:ea typeface="Arial" pitchFamily="34" charset="-122"/>
                <a:cs typeface="Arial" pitchFamily="34" charset="-120"/>
              </a:rPr>
              <a:t>validaciones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jerárquicas</a:t>
            </a:r>
            <a:r>
              <a:rPr lang="en-US" sz="1150" dirty="0">
                <a:solidFill>
                  <a:srgbClr val="5B6B7B"/>
                </a:solidFill>
                <a:latin typeface="Arial" pitchFamily="34" charset="0"/>
                <a:ea typeface="Arial" pitchFamily="34" charset="-122"/>
                <a:cs typeface="Arial" pitchFamily="34" charset="-120"/>
              </a:rPr>
              <a:t>.</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Se </a:t>
            </a:r>
            <a:r>
              <a:rPr lang="en-US" sz="1150" dirty="0" err="1">
                <a:solidFill>
                  <a:srgbClr val="5B6B7B"/>
                </a:solidFill>
                <a:latin typeface="Arial" pitchFamily="34" charset="0"/>
                <a:ea typeface="Arial" pitchFamily="34" charset="-122"/>
                <a:cs typeface="Arial" pitchFamily="34" charset="-120"/>
              </a:rPr>
              <a:t>empleó</a:t>
            </a:r>
            <a:r>
              <a:rPr lang="en-US" sz="1150" dirty="0">
                <a:solidFill>
                  <a:srgbClr val="5B6B7B"/>
                </a:solidFill>
                <a:latin typeface="Arial" pitchFamily="34" charset="0"/>
                <a:ea typeface="Arial" pitchFamily="34" charset="-122"/>
                <a:cs typeface="Arial" pitchFamily="34" charset="-120"/>
              </a:rPr>
              <a:t> para </a:t>
            </a:r>
            <a:r>
              <a:rPr lang="en-US" sz="1150" dirty="0" err="1">
                <a:solidFill>
                  <a:srgbClr val="5B6B7B"/>
                </a:solidFill>
                <a:latin typeface="Arial" pitchFamily="34" charset="0"/>
                <a:ea typeface="Arial" pitchFamily="34" charset="-122"/>
                <a:cs typeface="Arial" pitchFamily="34" charset="-120"/>
              </a:rPr>
              <a:t>crear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pruebas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unitarias</a:t>
            </a:r>
            <a:r>
              <a:rPr lang="en-US" sz="1150" dirty="0">
                <a:solidFill>
                  <a:srgbClr val="5B6B7B"/>
                </a:solidFill>
                <a:latin typeface="Arial" pitchFamily="34" charset="0"/>
                <a:ea typeface="Arial" pitchFamily="34" charset="-122"/>
                <a:cs typeface="Arial" pitchFamily="34" charset="-120"/>
              </a:rPr>
              <a:t> y de </a:t>
            </a:r>
            <a:r>
              <a:rPr lang="en-US" sz="1150" dirty="0" err="1">
                <a:solidFill>
                  <a:srgbClr val="5B6B7B"/>
                </a:solidFill>
                <a:latin typeface="Arial" pitchFamily="34" charset="0"/>
                <a:ea typeface="Arial" pitchFamily="34" charset="-122"/>
                <a:cs typeface="Arial" pitchFamily="34" charset="-120"/>
              </a:rPr>
              <a:t>integración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que</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verifican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autenticación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permisos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atomicidad</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navegación</a:t>
            </a:r>
            <a:r>
              <a:rPr lang="en-US" sz="1150" dirty="0">
                <a:solidFill>
                  <a:srgbClr val="5B6B7B"/>
                </a:solidFill>
                <a:latin typeface="Arial" pitchFamily="34" charset="0"/>
                <a:ea typeface="Arial" pitchFamily="34" charset="-122"/>
                <a:cs typeface="Arial" pitchFamily="34" charset="-120"/>
              </a:rPr>
              <a:t> y </a:t>
            </a:r>
            <a:r>
              <a:rPr lang="en-US" sz="1150" dirty="0" err="1">
                <a:solidFill>
                  <a:srgbClr val="5B6B7B"/>
                </a:solidFill>
                <a:latin typeface="Arial" pitchFamily="34" charset="0"/>
                <a:ea typeface="Arial" pitchFamily="34" charset="-122"/>
                <a:cs typeface="Arial" pitchFamily="34" charset="-120"/>
              </a:rPr>
              <a:t>operaciones</a:t>
            </a:r>
            <a:r>
              <a:rPr lang="en-US" sz="1150" dirty="0">
                <a:solidFill>
                  <a:srgbClr val="5B6B7B"/>
                </a:solidFill>
                <a:latin typeface="Arial" pitchFamily="34" charset="0"/>
                <a:ea typeface="Arial" pitchFamily="34" charset="-122"/>
                <a:cs typeface="Arial" pitchFamily="34" charset="-120"/>
              </a:rPr>
              <a:t> CRUD.</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El </a:t>
            </a:r>
            <a:r>
              <a:rPr lang="en-US" sz="1150" dirty="0" err="1">
                <a:solidFill>
                  <a:srgbClr val="5B6B7B"/>
                </a:solidFill>
                <a:latin typeface="Arial" pitchFamily="34" charset="0"/>
                <a:ea typeface="Arial" pitchFamily="34" charset="-122"/>
                <a:cs typeface="Arial" pitchFamily="34" charset="-120"/>
              </a:rPr>
              <a:t>producto</a:t>
            </a:r>
            <a:r>
              <a:rPr lang="en-US" sz="1150" dirty="0">
                <a:solidFill>
                  <a:srgbClr val="5B6B7B"/>
                </a:solidFill>
                <a:latin typeface="Arial" pitchFamily="34" charset="0"/>
                <a:ea typeface="Arial" pitchFamily="34" charset="-122"/>
                <a:cs typeface="Arial" pitchFamily="34" charset="-120"/>
              </a:rPr>
              <a:t> integra OpenAI Responses API para </a:t>
            </a:r>
            <a:r>
              <a:rPr lang="en-US" sz="1150" dirty="0" err="1">
                <a:solidFill>
                  <a:srgbClr val="5B6B7B"/>
                </a:solidFill>
                <a:latin typeface="Arial" pitchFamily="34" charset="0"/>
                <a:ea typeface="Arial" pitchFamily="34" charset="-122"/>
                <a:cs typeface="Arial" pitchFamily="34" charset="-120"/>
              </a:rPr>
              <a:t>generar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automáticamente</a:t>
            </a:r>
            <a:r>
              <a:rPr lang="en-US" sz="1150" dirty="0">
                <a:solidFill>
                  <a:srgbClr val="5B6B7B"/>
                </a:solidFill>
                <a:latin typeface="Arial" pitchFamily="34" charset="0"/>
                <a:ea typeface="Arial" pitchFamily="34" charset="-122"/>
                <a:cs typeface="Arial" pitchFamily="34" charset="-120"/>
              </a:rPr>
              <a:t> las </a:t>
            </a:r>
            <a:r>
              <a:rPr lang="en-US" sz="1150" dirty="0" err="1">
                <a:solidFill>
                  <a:srgbClr val="5B6B7B"/>
                </a:solidFill>
                <a:latin typeface="Arial" pitchFamily="34" charset="0"/>
                <a:ea typeface="Arial" pitchFamily="34" charset="-122"/>
                <a:cs typeface="Arial" pitchFamily="34" charset="-120"/>
              </a:rPr>
              <a:t>traducciones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pendientes</a:t>
            </a:r>
            <a:r>
              <a:rPr lang="en-US" sz="1150" dirty="0">
                <a:solidFill>
                  <a:srgbClr val="5B6B7B"/>
                </a:solidFill>
                <a:latin typeface="Arial" pitchFamily="34" charset="0"/>
                <a:ea typeface="Arial" pitchFamily="34" charset="-122"/>
                <a:cs typeface="Arial" pitchFamily="34" charset="-120"/>
              </a:rPr>
              <a:t>, sin </a:t>
            </a:r>
            <a:r>
              <a:rPr lang="en-US" sz="1150" dirty="0" err="1">
                <a:solidFill>
                  <a:srgbClr val="5B6B7B"/>
                </a:solidFill>
                <a:latin typeface="Arial" pitchFamily="34" charset="0"/>
                <a:ea typeface="Arial" pitchFamily="34" charset="-122"/>
                <a:cs typeface="Arial" pitchFamily="34" charset="-120"/>
              </a:rPr>
              <a:t>sobrescribir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textos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existentes</a:t>
            </a:r>
            <a:r>
              <a:rPr lang="en-US" sz="1150" dirty="0">
                <a:solidFill>
                  <a:srgbClr val="5B6B7B"/>
                </a:solidFill>
                <a:latin typeface="Arial" pitchFamily="34" charset="0"/>
                <a:ea typeface="Arial" pitchFamily="34" charset="-122"/>
                <a:cs typeface="Arial" pitchFamily="34" charset="-120"/>
              </a:rPr>
              <a:t>.</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La IA </a:t>
            </a:r>
            <a:r>
              <a:rPr lang="en-US" sz="1150" dirty="0" err="1">
                <a:solidFill>
                  <a:srgbClr val="5B6B7B"/>
                </a:solidFill>
                <a:latin typeface="Arial" pitchFamily="34" charset="0"/>
                <a:ea typeface="Arial" pitchFamily="34" charset="-122"/>
                <a:cs typeface="Arial" pitchFamily="34" charset="-120"/>
              </a:rPr>
              <a:t>ayudó</a:t>
            </a:r>
            <a:r>
              <a:rPr lang="en-US" sz="1150" dirty="0">
                <a:solidFill>
                  <a:srgbClr val="5B6B7B"/>
                </a:solidFill>
                <a:latin typeface="Arial" pitchFamily="34" charset="0"/>
                <a:ea typeface="Arial" pitchFamily="34" charset="-122"/>
                <a:cs typeface="Arial" pitchFamily="34" charset="-120"/>
              </a:rPr>
              <a:t> a </a:t>
            </a:r>
            <a:r>
              <a:rPr lang="en-US" sz="1150" dirty="0" err="1">
                <a:solidFill>
                  <a:srgbClr val="5B6B7B"/>
                </a:solidFill>
                <a:latin typeface="Arial" pitchFamily="34" charset="0"/>
                <a:ea typeface="Arial" pitchFamily="34" charset="-122"/>
                <a:cs typeface="Arial" pitchFamily="34" charset="-120"/>
              </a:rPr>
              <a:t>preparar</a:t>
            </a:r>
            <a:r>
              <a:rPr lang="en-US" sz="1150" dirty="0">
                <a:solidFill>
                  <a:srgbClr val="5B6B7B"/>
                </a:solidFill>
                <a:latin typeface="Arial" pitchFamily="34" charset="0"/>
                <a:ea typeface="Arial" pitchFamily="34" charset="-122"/>
                <a:cs typeface="Arial" pitchFamily="34" charset="-120"/>
              </a:rPr>
              <a:t> la </a:t>
            </a:r>
            <a:r>
              <a:rPr lang="en-US" sz="1150" dirty="0" err="1">
                <a:solidFill>
                  <a:srgbClr val="5B6B7B"/>
                </a:solidFill>
                <a:latin typeface="Arial" pitchFamily="34" charset="0"/>
                <a:ea typeface="Arial" pitchFamily="34" charset="-122"/>
                <a:cs typeface="Arial" pitchFamily="34" charset="-120"/>
              </a:rPr>
              <a:t>contenerización</a:t>
            </a:r>
            <a:r>
              <a:rPr lang="en-US" sz="1150" dirty="0">
                <a:solidFill>
                  <a:srgbClr val="5B6B7B"/>
                </a:solidFill>
                <a:latin typeface="Arial" pitchFamily="34" charset="0"/>
                <a:ea typeface="Arial" pitchFamily="34" charset="-122"/>
                <a:cs typeface="Arial" pitchFamily="34" charset="-120"/>
              </a:rPr>
              <a:t> con Docker, el </a:t>
            </a:r>
            <a:r>
              <a:rPr lang="en-US" sz="1150" dirty="0" err="1">
                <a:solidFill>
                  <a:srgbClr val="5B6B7B"/>
                </a:solidFill>
                <a:latin typeface="Arial" pitchFamily="34" charset="0"/>
                <a:ea typeface="Arial" pitchFamily="34" charset="-122"/>
                <a:cs typeface="Arial" pitchFamily="34" charset="-120"/>
              </a:rPr>
              <a:t>despliegue</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en</a:t>
            </a:r>
            <a:r>
              <a:rPr lang="en-US" sz="1150" dirty="0">
                <a:solidFill>
                  <a:srgbClr val="5B6B7B"/>
                </a:solidFill>
                <a:latin typeface="Arial" pitchFamily="34" charset="0"/>
                <a:ea typeface="Arial" pitchFamily="34" charset="-122"/>
                <a:cs typeface="Arial" pitchFamily="34" charset="-120"/>
              </a:rPr>
              <a:t> Azure Container Apps y la </a:t>
            </a:r>
            <a:r>
              <a:rPr lang="en-US" sz="1150" dirty="0" err="1">
                <a:solidFill>
                  <a:srgbClr val="5B6B7B"/>
                </a:solidFill>
                <a:latin typeface="Arial" pitchFamily="34" charset="0"/>
                <a:ea typeface="Arial" pitchFamily="34" charset="-122"/>
                <a:cs typeface="Arial" pitchFamily="34" charset="-120"/>
              </a:rPr>
              <a:t>automatización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mediante</a:t>
            </a:r>
            <a:r>
              <a:rPr lang="en-US" sz="1150" dirty="0">
                <a:solidFill>
                  <a:srgbClr val="5B6B7B"/>
                </a:solidFill>
                <a:latin typeface="Arial" pitchFamily="34" charset="0"/>
                <a:ea typeface="Arial" pitchFamily="34" charset="-122"/>
                <a:cs typeface="Arial" pitchFamily="34" charset="-120"/>
              </a:rPr>
              <a:t> GitHub Actions.</a:t>
            </a:r>
          </a:p>
          <a:p>
            <a:pPr marL="171450" lvl="0" indent="-171450">
              <a:buFont typeface="Arial" panose="020B0604020202020204" pitchFamily="34" charset="0"/>
              <a:buChar char="•"/>
            </a:pPr>
            <a:r>
              <a:rPr lang="en-US" sz="1150" dirty="0" err="1">
                <a:solidFill>
                  <a:srgbClr val="5B6B7B"/>
                </a:solidFill>
                <a:latin typeface="Arial" pitchFamily="34" charset="0"/>
                <a:ea typeface="Arial" pitchFamily="34" charset="-122"/>
                <a:cs typeface="Arial" pitchFamily="34" charset="-120"/>
              </a:rPr>
              <a:t>Finalmente</a:t>
            </a:r>
            <a:r>
              <a:rPr lang="en-US" sz="1150" dirty="0">
                <a:solidFill>
                  <a:srgbClr val="5B6B7B"/>
                </a:solidFill>
                <a:latin typeface="Arial" pitchFamily="34" charset="0"/>
                <a:ea typeface="Arial" pitchFamily="34" charset="-122"/>
                <a:cs typeface="Arial" pitchFamily="34" charset="-120"/>
              </a:rPr>
              <a:t>, Copilot se </a:t>
            </a:r>
            <a:r>
              <a:rPr lang="en-US" sz="1150" dirty="0" err="1">
                <a:solidFill>
                  <a:srgbClr val="5B6B7B"/>
                </a:solidFill>
                <a:latin typeface="Arial" pitchFamily="34" charset="0"/>
                <a:ea typeface="Arial" pitchFamily="34" charset="-122"/>
                <a:cs typeface="Arial" pitchFamily="34" charset="-120"/>
              </a:rPr>
              <a:t>utilizó</a:t>
            </a:r>
            <a:r>
              <a:rPr lang="en-US" sz="1150" dirty="0">
                <a:solidFill>
                  <a:srgbClr val="5B6B7B"/>
                </a:solidFill>
                <a:latin typeface="Arial" pitchFamily="34" charset="0"/>
                <a:ea typeface="Arial" pitchFamily="34" charset="-122"/>
                <a:cs typeface="Arial" pitchFamily="34" charset="-120"/>
              </a:rPr>
              <a:t> para </a:t>
            </a:r>
            <a:r>
              <a:rPr lang="en-US" sz="1150" dirty="0" err="1">
                <a:solidFill>
                  <a:srgbClr val="5B6B7B"/>
                </a:solidFill>
                <a:latin typeface="Arial" pitchFamily="34" charset="0"/>
                <a:ea typeface="Arial" pitchFamily="34" charset="-122"/>
                <a:cs typeface="Arial" pitchFamily="34" charset="-120"/>
              </a:rPr>
              <a:t>revisar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documentación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detectar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errores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ejecutar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validaciones</a:t>
            </a:r>
            <a:r>
              <a:rPr lang="en-US" sz="1150" dirty="0">
                <a:solidFill>
                  <a:srgbClr val="5B6B7B"/>
                </a:solidFill>
                <a:latin typeface="Arial" pitchFamily="34" charset="0"/>
                <a:ea typeface="Arial" pitchFamily="34" charset="-122"/>
                <a:cs typeface="Arial" pitchFamily="34" charset="-120"/>
              </a:rPr>
              <a:t> y </a:t>
            </a:r>
            <a:r>
              <a:rPr lang="en-US" sz="1150" dirty="0" err="1">
                <a:solidFill>
                  <a:srgbClr val="5B6B7B"/>
                </a:solidFill>
                <a:latin typeface="Arial" pitchFamily="34" charset="0"/>
                <a:ea typeface="Arial" pitchFamily="34" charset="-122"/>
                <a:cs typeface="Arial" pitchFamily="34" charset="-120"/>
              </a:rPr>
              <a:t>mantener</a:t>
            </a:r>
            <a:r>
              <a:rPr lang="en-US" sz="1150" dirty="0">
                <a:solidFill>
                  <a:srgbClr val="5B6B7B"/>
                </a:solidFill>
                <a:latin typeface="Arial" pitchFamily="34" charset="0"/>
                <a:ea typeface="Arial" pitchFamily="34" charset="-122"/>
                <a:cs typeface="Arial" pitchFamily="34" charset="-120"/>
              </a:rPr>
              <a:t> la </a:t>
            </a:r>
            <a:r>
              <a:rPr lang="en-US" sz="1150" dirty="0" err="1">
                <a:solidFill>
                  <a:srgbClr val="5B6B7B"/>
                </a:solidFill>
                <a:latin typeface="Arial" pitchFamily="34" charset="0"/>
                <a:ea typeface="Arial" pitchFamily="34" charset="-122"/>
                <a:cs typeface="Arial" pitchFamily="34" charset="-120"/>
              </a:rPr>
              <a:t>trazabilidad</a:t>
            </a:r>
            <a:r>
              <a:rPr lang="en-US" sz="1150" dirty="0">
                <a:solidFill>
                  <a:srgbClr val="5B6B7B"/>
                </a:solidFill>
                <a:latin typeface="Arial" pitchFamily="34" charset="0"/>
                <a:ea typeface="Arial" pitchFamily="34" charset="-122"/>
                <a:cs typeface="Arial" pitchFamily="34" charset="-120"/>
              </a:rPr>
              <a:t> de las </a:t>
            </a:r>
            <a:r>
              <a:rPr lang="en-US" sz="1150" dirty="0" err="1">
                <a:solidFill>
                  <a:srgbClr val="5B6B7B"/>
                </a:solidFill>
                <a:latin typeface="Arial" pitchFamily="34" charset="0"/>
                <a:ea typeface="Arial" pitchFamily="34" charset="-122"/>
                <a:cs typeface="Arial" pitchFamily="34" charset="-120"/>
              </a:rPr>
              <a:t>decisiones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durante</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todo</a:t>
            </a:r>
            <a:r>
              <a:rPr lang="en-US" sz="1150" dirty="0">
                <a:solidFill>
                  <a:srgbClr val="5B6B7B"/>
                </a:solidFill>
                <a:latin typeface="Arial" pitchFamily="34" charset="0"/>
                <a:ea typeface="Arial" pitchFamily="34" charset="-122"/>
                <a:cs typeface="Arial" pitchFamily="34" charset="-120"/>
              </a:rPr>
              <a:t> el </a:t>
            </a:r>
            <a:r>
              <a:rPr lang="en-US" sz="1150" dirty="0" err="1">
                <a:solidFill>
                  <a:srgbClr val="5B6B7B"/>
                </a:solidFill>
                <a:latin typeface="Arial" pitchFamily="34" charset="0"/>
                <a:ea typeface="Arial" pitchFamily="34" charset="-122"/>
                <a:cs typeface="Arial" pitchFamily="34" charset="-120"/>
              </a:rPr>
              <a:t>desarrollo</a:t>
            </a:r>
            <a:r>
              <a:rPr lang="en-US" sz="1150" dirty="0">
                <a:solidFill>
                  <a:srgbClr val="5B6B7B"/>
                </a:solidFill>
                <a:latin typeface="Arial" pitchFamily="34" charset="0"/>
                <a:ea typeface="Arial" pitchFamily="34" charset="-122"/>
                <a:cs typeface="Arial" pitchFamily="34" charset="-120"/>
              </a:rPr>
              <a:t>.</a:t>
            </a:r>
          </a:p>
          <a:p>
            <a:pPr marL="171450" lvl="0" indent="-171450">
              <a:buFont typeface="Arial" panose="020B0604020202020204" pitchFamily="34" charset="0"/>
              <a:buChar char="•"/>
            </a:pPr>
            <a:endParaRPr lang="en-US" sz="1150" dirty="0">
              <a:solidFill>
                <a:srgbClr val="5B6B7B"/>
              </a:solidFill>
              <a:latin typeface="Arial" pitchFamily="34" charset="0"/>
              <a:ea typeface="Arial" pitchFamily="34" charset="-122"/>
              <a:cs typeface="Arial" pitchFamily="34" charset="-120"/>
            </a:endParaRPr>
          </a:p>
          <a:p>
            <a:pPr lvl="0"/>
            <a:r>
              <a:rPr lang="en-US" sz="1150" b="1" dirty="0">
                <a:solidFill>
                  <a:srgbClr val="5B6B7B"/>
                </a:solidFill>
                <a:latin typeface="Arial" pitchFamily="34" charset="0"/>
                <a:ea typeface="Arial" pitchFamily="34" charset="-122"/>
                <a:cs typeface="Arial" pitchFamily="34" charset="-120"/>
              </a:rPr>
              <a:t>SKILLS</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Durante la </a:t>
            </a:r>
            <a:r>
              <a:rPr lang="en-US" sz="1150" dirty="0" err="1">
                <a:solidFill>
                  <a:srgbClr val="5B6B7B"/>
                </a:solidFill>
                <a:latin typeface="Arial" pitchFamily="34" charset="0"/>
                <a:ea typeface="Arial" pitchFamily="34" charset="-122"/>
                <a:cs typeface="Arial" pitchFamily="34" charset="-120"/>
              </a:rPr>
              <a:t>implementación</a:t>
            </a:r>
            <a:r>
              <a:rPr lang="en-US" sz="1150" dirty="0">
                <a:solidFill>
                  <a:srgbClr val="5B6B7B"/>
                </a:solidFill>
                <a:latin typeface="Arial" pitchFamily="34" charset="0"/>
                <a:ea typeface="Arial" pitchFamily="34" charset="-122"/>
                <a:cs typeface="Arial" pitchFamily="34" charset="-120"/>
              </a:rPr>
              <a:t> se </a:t>
            </a:r>
            <a:r>
              <a:rPr lang="en-US" sz="1150" dirty="0" err="1">
                <a:solidFill>
                  <a:srgbClr val="5B6B7B"/>
                </a:solidFill>
                <a:latin typeface="Arial" pitchFamily="34" charset="0"/>
                <a:ea typeface="Arial" pitchFamily="34" charset="-122"/>
                <a:cs typeface="Arial" pitchFamily="34" charset="-120"/>
              </a:rPr>
              <a:t>incorporó</a:t>
            </a:r>
            <a:r>
              <a:rPr lang="en-US" sz="1150" dirty="0">
                <a:solidFill>
                  <a:srgbClr val="5B6B7B"/>
                </a:solidFill>
                <a:latin typeface="Arial" pitchFamily="34" charset="0"/>
                <a:ea typeface="Arial" pitchFamily="34" charset="-122"/>
                <a:cs typeface="Arial" pitchFamily="34" charset="-120"/>
              </a:rPr>
              <a:t> Superpowers y </a:t>
            </a:r>
            <a:r>
              <a:rPr lang="en-US" sz="1150" dirty="0" err="1">
                <a:solidFill>
                  <a:srgbClr val="5B6B7B"/>
                </a:solidFill>
                <a:latin typeface="Arial" pitchFamily="34" charset="0"/>
                <a:ea typeface="Arial" pitchFamily="34" charset="-122"/>
                <a:cs typeface="Arial" pitchFamily="34" charset="-120"/>
              </a:rPr>
              <a:t>ayudo</a:t>
            </a:r>
            <a:r>
              <a:rPr lang="en-US" sz="1150" dirty="0">
                <a:solidFill>
                  <a:srgbClr val="5B6B7B"/>
                </a:solidFill>
                <a:latin typeface="Arial" pitchFamily="34" charset="0"/>
                <a:ea typeface="Arial" pitchFamily="34" charset="-122"/>
                <a:cs typeface="Arial" pitchFamily="34" charset="-120"/>
              </a:rPr>
              <a:t> a </a:t>
            </a:r>
            <a:r>
              <a:rPr lang="en-US" sz="1150" dirty="0" err="1">
                <a:solidFill>
                  <a:srgbClr val="5B6B7B"/>
                </a:solidFill>
                <a:latin typeface="Arial" pitchFamily="34" charset="0"/>
                <a:ea typeface="Arial" pitchFamily="34" charset="-122"/>
                <a:cs typeface="Arial" pitchFamily="34" charset="-120"/>
              </a:rPr>
              <a:t>mejorar</a:t>
            </a:r>
            <a:r>
              <a:rPr lang="en-US" sz="1150" dirty="0">
                <a:solidFill>
                  <a:srgbClr val="5B6B7B"/>
                </a:solidFill>
                <a:latin typeface="Arial" pitchFamily="34" charset="0"/>
                <a:ea typeface="Arial" pitchFamily="34" charset="-122"/>
                <a:cs typeface="Arial" pitchFamily="34" charset="-120"/>
              </a:rPr>
              <a:t> la Calidad de las </a:t>
            </a:r>
            <a:r>
              <a:rPr lang="en-US" sz="1150" dirty="0" err="1">
                <a:solidFill>
                  <a:srgbClr val="5B6B7B"/>
                </a:solidFill>
                <a:latin typeface="Arial" pitchFamily="34" charset="0"/>
                <a:ea typeface="Arial" pitchFamily="34" charset="-122"/>
                <a:cs typeface="Arial" pitchFamily="34" charset="-120"/>
              </a:rPr>
              <a:t>especificaciones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que</a:t>
            </a:r>
            <a:r>
              <a:rPr lang="en-US" sz="1150" dirty="0">
                <a:solidFill>
                  <a:srgbClr val="5B6B7B"/>
                </a:solidFill>
                <a:latin typeface="Arial" pitchFamily="34" charset="0"/>
                <a:ea typeface="Arial" pitchFamily="34" charset="-122"/>
                <a:cs typeface="Arial" pitchFamily="34" charset="-120"/>
              </a:rPr>
              <a:t> se </a:t>
            </a:r>
            <a:r>
              <a:rPr lang="en-US" sz="1150" dirty="0" err="1">
                <a:solidFill>
                  <a:srgbClr val="5B6B7B"/>
                </a:solidFill>
                <a:latin typeface="Arial" pitchFamily="34" charset="0"/>
                <a:ea typeface="Arial" pitchFamily="34" charset="-122"/>
                <a:cs typeface="Arial" pitchFamily="34" charset="-120"/>
              </a:rPr>
              <a:t>habian</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hecho</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en</a:t>
            </a:r>
            <a:r>
              <a:rPr lang="en-US" sz="1150" dirty="0">
                <a:solidFill>
                  <a:srgbClr val="5B6B7B"/>
                </a:solidFill>
                <a:latin typeface="Arial" pitchFamily="34" charset="0"/>
                <a:ea typeface="Arial" pitchFamily="34" charset="-122"/>
                <a:cs typeface="Arial" pitchFamily="34" charset="-120"/>
              </a:rPr>
              <a:t> las </a:t>
            </a:r>
            <a:r>
              <a:rPr lang="en-US" sz="1150" dirty="0" err="1">
                <a:solidFill>
                  <a:srgbClr val="5B6B7B"/>
                </a:solidFill>
                <a:latin typeface="Arial" pitchFamily="34" charset="0"/>
                <a:ea typeface="Arial" pitchFamily="34" charset="-122"/>
                <a:cs typeface="Arial" pitchFamily="34" charset="-120"/>
              </a:rPr>
              <a:t>primeras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iteraciones</a:t>
            </a:r>
            <a:r>
              <a:rPr lang="en-US" sz="1150" dirty="0">
                <a:solidFill>
                  <a:srgbClr val="5B6B7B"/>
                </a:solidFill>
                <a:latin typeface="Arial" pitchFamily="34" charset="0"/>
                <a:ea typeface="Arial" pitchFamily="34" charset="-122"/>
                <a:cs typeface="Arial" pitchFamily="34" charset="-120"/>
              </a:rPr>
              <a:t>. </a:t>
            </a:r>
            <a:r>
              <a:rPr lang="en-US" sz="1150" dirty="0">
                <a:solidFill>
                  <a:srgbClr val="5B6B7B"/>
                </a:solidFill>
                <a:latin typeface="Arial" pitchFamily="34" charset="0"/>
                <a:ea typeface="Arial" pitchFamily="34" charset="-122"/>
                <a:cs typeface="Arial" pitchFamily="34" charset="-120"/>
                <a:hlinkClick r:id="rId3"/>
              </a:rPr>
              <a:t>https://github.com/obra/superpowers</a:t>
            </a:r>
            <a:endParaRPr lang="en-US" sz="1150" dirty="0">
              <a:solidFill>
                <a:srgbClr val="5B6B7B"/>
              </a:solidFill>
              <a:latin typeface="Arial" pitchFamily="34" charset="0"/>
              <a:ea typeface="Arial" pitchFamily="34" charset="-122"/>
              <a:cs typeface="Arial" pitchFamily="34" charset="-120"/>
            </a:endParaRPr>
          </a:p>
          <a:p>
            <a:pPr marL="171450" lvl="0" indent="-171450">
              <a:buFont typeface="Arial" panose="020B0604020202020204" pitchFamily="34" charset="0"/>
              <a:buChar char="•"/>
            </a:pPr>
            <a:endParaRPr lang="en-US" sz="1150" dirty="0">
              <a:solidFill>
                <a:srgbClr val="5B6B7B"/>
              </a:solidFill>
              <a:latin typeface="Arial" pitchFamily="34" charset="0"/>
              <a:ea typeface="Arial" pitchFamily="34" charset="-122"/>
              <a:cs typeface="Arial" pitchFamily="34" charset="-120"/>
            </a:endParaRPr>
          </a:p>
          <a:p>
            <a:pPr lvl="0"/>
            <a:r>
              <a:rPr lang="en-US" sz="1150" b="1" dirty="0">
                <a:solidFill>
                  <a:srgbClr val="5B6B7B"/>
                </a:solidFill>
                <a:latin typeface="Arial" pitchFamily="34" charset="0"/>
                <a:ea typeface="Arial" pitchFamily="34" charset="-122"/>
                <a:cs typeface="Arial" pitchFamily="34" charset="-120"/>
              </a:rPr>
              <a:t>IA</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Una de las </a:t>
            </a:r>
            <a:r>
              <a:rPr lang="en-US" sz="1150" dirty="0" err="1">
                <a:solidFill>
                  <a:srgbClr val="5B6B7B"/>
                </a:solidFill>
                <a:latin typeface="Arial" pitchFamily="34" charset="0"/>
                <a:ea typeface="Arial" pitchFamily="34" charset="-122"/>
                <a:cs typeface="Arial" pitchFamily="34" charset="-120"/>
              </a:rPr>
              <a:t>funcionalidades</a:t>
            </a:r>
            <a:r>
              <a:rPr lang="en-US" sz="1150" dirty="0">
                <a:solidFill>
                  <a:srgbClr val="5B6B7B"/>
                </a:solidFill>
                <a:latin typeface="Arial" pitchFamily="34" charset="0"/>
                <a:ea typeface="Arial" pitchFamily="34" charset="-122"/>
                <a:cs typeface="Arial" pitchFamily="34" charset="-120"/>
              </a:rPr>
              <a:t> se </a:t>
            </a:r>
            <a:r>
              <a:rPr lang="en-US" sz="1150" dirty="0" err="1">
                <a:solidFill>
                  <a:srgbClr val="5B6B7B"/>
                </a:solidFill>
                <a:latin typeface="Arial" pitchFamily="34" charset="0"/>
                <a:ea typeface="Arial" pitchFamily="34" charset="-122"/>
                <a:cs typeface="Arial" pitchFamily="34" charset="-120"/>
              </a:rPr>
              <a:t>conecta</a:t>
            </a:r>
            <a:r>
              <a:rPr lang="en-US" sz="1150" dirty="0">
                <a:solidFill>
                  <a:srgbClr val="5B6B7B"/>
                </a:solidFill>
                <a:latin typeface="Arial" pitchFamily="34" charset="0"/>
                <a:ea typeface="Arial" pitchFamily="34" charset="-122"/>
                <a:cs typeface="Arial" pitchFamily="34" charset="-120"/>
              </a:rPr>
              <a:t> a OpenAI para </a:t>
            </a:r>
            <a:r>
              <a:rPr lang="en-US" sz="1150" dirty="0" err="1">
                <a:solidFill>
                  <a:srgbClr val="5B6B7B"/>
                </a:solidFill>
                <a:latin typeface="Arial" pitchFamily="34" charset="0"/>
                <a:ea typeface="Arial" pitchFamily="34" charset="-122"/>
                <a:cs typeface="Arial" pitchFamily="34" charset="-120"/>
              </a:rPr>
              <a:t>realizar</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traducciones</a:t>
            </a:r>
            <a:r>
              <a:rPr lang="en-US" sz="1150" dirty="0">
                <a:solidFill>
                  <a:srgbClr val="5B6B7B"/>
                </a:solidFill>
                <a:latin typeface="Arial" pitchFamily="34" charset="0"/>
                <a:ea typeface="Arial" pitchFamily="34" charset="-122"/>
                <a:cs typeface="Arial" pitchFamily="34" charset="-120"/>
              </a:rPr>
              <a:t> </a:t>
            </a:r>
            <a:r>
              <a:rPr lang="en-US" sz="1150" dirty="0" err="1">
                <a:solidFill>
                  <a:srgbClr val="5B6B7B"/>
                </a:solidFill>
                <a:latin typeface="Arial" pitchFamily="34" charset="0"/>
                <a:ea typeface="Arial" pitchFamily="34" charset="-122"/>
                <a:cs typeface="Arial" pitchFamily="34" charset="-120"/>
              </a:rPr>
              <a:t>automáticas</a:t>
            </a:r>
            <a:endParaRPr lang="en-US" sz="1150" dirty="0">
              <a:solidFill>
                <a:srgbClr val="5B6B7B"/>
              </a:solidFill>
              <a:latin typeface="Arial" pitchFamily="34" charset="0"/>
              <a:ea typeface="Arial" pitchFamily="34" charset="-122"/>
              <a:cs typeface="Arial" pitchFamily="34" charset="-120"/>
            </a:endParaRPr>
          </a:p>
          <a:p>
            <a:pPr marL="171450" lvl="0" indent="-171450">
              <a:buFont typeface="Arial" panose="020B0604020202020204" pitchFamily="34" charset="0"/>
              <a:buChar char="•"/>
            </a:pPr>
            <a:endParaRPr lang="en-US" sz="1150" dirty="0">
              <a:solidFill>
                <a:srgbClr val="5B6B7B"/>
              </a:solidFill>
              <a:latin typeface="Arial" pitchFamily="34" charset="0"/>
              <a:ea typeface="Arial" pitchFamily="34" charset="-122"/>
              <a:cs typeface="Arial" pitchFamily="34" charset="-120"/>
            </a:endParaRPr>
          </a:p>
          <a:p>
            <a:pPr lvl="0"/>
            <a:r>
              <a:rPr lang="en-US" sz="1150" b="1" dirty="0">
                <a:solidFill>
                  <a:srgbClr val="5B6B7B"/>
                </a:solidFill>
                <a:latin typeface="Arial" pitchFamily="34" charset="0"/>
                <a:ea typeface="Arial" pitchFamily="34" charset="-122"/>
                <a:cs typeface="Arial" pitchFamily="34" charset="-120"/>
              </a:rPr>
              <a:t>PRESENTACIÓN</a:t>
            </a:r>
          </a:p>
          <a:p>
            <a:pPr marL="171450" lvl="0" indent="-171450">
              <a:buFont typeface="Arial" panose="020B0604020202020204" pitchFamily="34" charset="0"/>
              <a:buChar char="•"/>
            </a:pPr>
            <a:r>
              <a:rPr lang="en-US" sz="1150" dirty="0">
                <a:solidFill>
                  <a:srgbClr val="5B6B7B"/>
                </a:solidFill>
                <a:latin typeface="Arial" pitchFamily="34" charset="0"/>
                <a:ea typeface="Arial" pitchFamily="34" charset="-122"/>
                <a:cs typeface="Arial" pitchFamily="34" charset="-120"/>
              </a:rPr>
              <a:t>Ha </a:t>
            </a:r>
            <a:r>
              <a:rPr lang="en-US" sz="1150" dirty="0" err="1">
                <a:solidFill>
                  <a:srgbClr val="5B6B7B"/>
                </a:solidFill>
                <a:latin typeface="Arial" pitchFamily="34" charset="0"/>
                <a:ea typeface="Arial" pitchFamily="34" charset="-122"/>
                <a:cs typeface="Arial" pitchFamily="34" charset="-120"/>
              </a:rPr>
              <a:t>sido</a:t>
            </a:r>
            <a:r>
              <a:rPr lang="en-US" sz="1150" dirty="0">
                <a:solidFill>
                  <a:srgbClr val="5B6B7B"/>
                </a:solidFill>
                <a:latin typeface="Arial" pitchFamily="34" charset="0"/>
                <a:ea typeface="Arial" pitchFamily="34" charset="-122"/>
                <a:cs typeface="Arial" pitchFamily="34" charset="-120"/>
              </a:rPr>
              <a:t> también </a:t>
            </a:r>
            <a:r>
              <a:rPr lang="en-US" sz="1150" dirty="0" err="1">
                <a:solidFill>
                  <a:srgbClr val="5B6B7B"/>
                </a:solidFill>
                <a:latin typeface="Arial" pitchFamily="34" charset="0"/>
                <a:ea typeface="Arial" pitchFamily="34" charset="-122"/>
                <a:cs typeface="Arial" pitchFamily="34" charset="-120"/>
              </a:rPr>
              <a:t>generada</a:t>
            </a:r>
            <a:r>
              <a:rPr lang="en-US" sz="1150" dirty="0">
                <a:solidFill>
                  <a:srgbClr val="5B6B7B"/>
                </a:solidFill>
                <a:latin typeface="Arial" pitchFamily="34" charset="0"/>
                <a:ea typeface="Arial" pitchFamily="34" charset="-122"/>
                <a:cs typeface="Arial" pitchFamily="34" charset="-120"/>
              </a:rPr>
              <a:t> dese VS Code con </a:t>
            </a:r>
            <a:r>
              <a:rPr lang="en-US" sz="1150" dirty="0" err="1">
                <a:solidFill>
                  <a:srgbClr val="5B6B7B"/>
                </a:solidFill>
                <a:latin typeface="Arial" pitchFamily="34" charset="0"/>
                <a:ea typeface="Arial" pitchFamily="34" charset="-122"/>
                <a:cs typeface="Arial" pitchFamily="34" charset="-120"/>
              </a:rPr>
              <a:t>Github</a:t>
            </a:r>
            <a:r>
              <a:rPr lang="en-US" sz="1150" dirty="0">
                <a:solidFill>
                  <a:srgbClr val="5B6B7B"/>
                </a:solidFill>
                <a:latin typeface="Arial" pitchFamily="34" charset="0"/>
                <a:ea typeface="Arial" pitchFamily="34" charset="-122"/>
                <a:cs typeface="Arial" pitchFamily="34" charset="-120"/>
              </a:rPr>
              <a:t> Copilot</a:t>
            </a:r>
          </a:p>
          <a:p>
            <a:pPr marL="0" indent="0">
              <a:buNone/>
            </a:pPr>
            <a:endParaRPr lang="en-US" sz="1150" dirty="0"/>
          </a:p>
        </p:txBody>
      </p:sp>
      <p:sp>
        <p:nvSpPr>
          <p:cNvPr id="6" name="Shape 4">
            <a:extLst>
              <a:ext uri="{FF2B5EF4-FFF2-40B4-BE49-F238E27FC236}">
                <a16:creationId xmlns:a16="http://schemas.microsoft.com/office/drawing/2014/main" id="{99F9D34B-9413-B260-AC68-2D4BFABB7AE1}"/>
              </a:ext>
            </a:extLst>
          </p:cNvPr>
          <p:cNvSpPr/>
          <p:nvPr/>
        </p:nvSpPr>
        <p:spPr>
          <a:xfrm>
            <a:off x="502920" y="6291072"/>
            <a:ext cx="11183112" cy="0"/>
          </a:xfrm>
          <a:prstGeom prst="line">
            <a:avLst/>
          </a:prstGeom>
          <a:noFill/>
          <a:ln w="12700">
            <a:solidFill>
              <a:srgbClr val="D6DFE8"/>
            </a:solidFill>
            <a:prstDash val="solid"/>
          </a:ln>
        </p:spPr>
        <p:txBody>
          <a:bodyPr/>
          <a:lstStyle/>
          <a:p>
            <a:endParaRPr lang="en-ES"/>
          </a:p>
        </p:txBody>
      </p:sp>
      <p:sp>
        <p:nvSpPr>
          <p:cNvPr id="7" name="Text 5">
            <a:extLst>
              <a:ext uri="{FF2B5EF4-FFF2-40B4-BE49-F238E27FC236}">
                <a16:creationId xmlns:a16="http://schemas.microsoft.com/office/drawing/2014/main" id="{C59476F2-5E2F-0CB7-22FF-6FB9884E6A13}"/>
              </a:ext>
            </a:extLst>
          </p:cNvPr>
          <p:cNvSpPr/>
          <p:nvPr/>
        </p:nvSpPr>
        <p:spPr>
          <a:xfrm>
            <a:off x="502920" y="6355080"/>
            <a:ext cx="3840480" cy="164592"/>
          </a:xfrm>
          <a:prstGeom prst="rect">
            <a:avLst/>
          </a:prstGeom>
          <a:noFill/>
          <a:ln/>
        </p:spPr>
        <p:txBody>
          <a:bodyPr wrap="square" lIns="0" tIns="0" rIns="0" bIns="0" rtlCol="0" anchor="ctr"/>
          <a:lstStyle/>
          <a:p>
            <a:pPr marL="0" indent="0">
              <a:buNone/>
            </a:pPr>
            <a:r>
              <a:rPr lang="en-US" sz="950" dirty="0">
                <a:solidFill>
                  <a:srgbClr val="5B6B7B"/>
                </a:solidFill>
                <a:latin typeface="Arial" pitchFamily="34" charset="0"/>
                <a:ea typeface="Arial" pitchFamily="34" charset="-122"/>
                <a:cs typeface="Arial" pitchFamily="34" charset="-120"/>
              </a:rPr>
              <a:t>Despliegue y entorno productivo</a:t>
            </a:r>
            <a:endParaRPr lang="en-US" sz="950" dirty="0"/>
          </a:p>
        </p:txBody>
      </p:sp>
      <p:sp>
        <p:nvSpPr>
          <p:cNvPr id="8" name="Text 6">
            <a:extLst>
              <a:ext uri="{FF2B5EF4-FFF2-40B4-BE49-F238E27FC236}">
                <a16:creationId xmlns:a16="http://schemas.microsoft.com/office/drawing/2014/main" id="{A2ED8682-9356-84FF-F392-CBE8FF21C124}"/>
              </a:ext>
            </a:extLst>
          </p:cNvPr>
          <p:cNvSpPr/>
          <p:nvPr/>
        </p:nvSpPr>
        <p:spPr>
          <a:xfrm>
            <a:off x="4389120" y="6355080"/>
            <a:ext cx="3474720" cy="164592"/>
          </a:xfrm>
          <a:prstGeom prst="rect">
            <a:avLst/>
          </a:prstGeom>
          <a:noFill/>
          <a:ln/>
        </p:spPr>
        <p:txBody>
          <a:bodyPr wrap="square" lIns="0" tIns="0" rIns="0" bIns="0" rtlCol="0" anchor="ctr"/>
          <a:lstStyle/>
          <a:p>
            <a:pPr marL="0" indent="0" algn="ctr">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a:extLst>
              <a:ext uri="{FF2B5EF4-FFF2-40B4-BE49-F238E27FC236}">
                <a16:creationId xmlns:a16="http://schemas.microsoft.com/office/drawing/2014/main" id="{71B83B48-3D49-2017-20C6-3E4F5CED2702}"/>
              </a:ext>
            </a:extLst>
          </p:cNvPr>
          <p:cNvSpPr/>
          <p:nvPr/>
        </p:nvSpPr>
        <p:spPr>
          <a:xfrm>
            <a:off x="11018520" y="6355080"/>
            <a:ext cx="640080" cy="164592"/>
          </a:xfrm>
          <a:prstGeom prst="rect">
            <a:avLst/>
          </a:prstGeom>
          <a:noFill/>
          <a:ln/>
        </p:spPr>
        <p:txBody>
          <a:bodyPr wrap="square" lIns="0" tIns="0" rIns="0" bIns="0" rtlCol="0" anchor="ctr"/>
          <a:lstStyle/>
          <a:p>
            <a:pPr marL="0" indent="0" algn="r">
              <a:buNone/>
            </a:pPr>
            <a:r>
              <a:rPr lang="en-US" sz="950" dirty="0">
                <a:solidFill>
                  <a:srgbClr val="5B6B7B"/>
                </a:solidFill>
                <a:latin typeface="Arial" pitchFamily="34" charset="0"/>
                <a:ea typeface="Arial" pitchFamily="34" charset="-122"/>
                <a:cs typeface="Arial" pitchFamily="34" charset="-120"/>
              </a:rPr>
              <a:t>20</a:t>
            </a:r>
            <a:endParaRPr lang="en-US" sz="950" dirty="0"/>
          </a:p>
        </p:txBody>
      </p:sp>
    </p:spTree>
    <p:extLst>
      <p:ext uri="{BB962C8B-B14F-4D97-AF65-F5344CB8AC3E}">
        <p14:creationId xmlns:p14="http://schemas.microsoft.com/office/powerpoint/2010/main" val="1938097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3934</Words>
  <Application>Microsoft Macintosh PowerPoint</Application>
  <PresentationFormat>Widescreen</PresentationFormat>
  <Paragraphs>515</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TFM Business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ResourceApp - Presentación del proyecto</dc:title>
  <dc:subject>Presentación del proyecto ResourceApp TFM</dc:subject>
  <dc:creator>Marcos Palacios</dc:creator>
  <cp:lastModifiedBy>Marcos Palacios</cp:lastModifiedBy>
  <cp:revision>5</cp:revision>
  <dcterms:created xsi:type="dcterms:W3CDTF">2026-07-31T17:55:50Z</dcterms:created>
  <dcterms:modified xsi:type="dcterms:W3CDTF">2026-07-31T18:09:06Z</dcterms:modified>
</cp:coreProperties>
</file>